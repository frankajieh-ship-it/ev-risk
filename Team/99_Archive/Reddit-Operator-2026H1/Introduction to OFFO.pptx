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ddit Community Operator Role Package for R/Electricvehicles: Empowering EV Buyers and Owners" id="{54FC59F7-2B3E-4D83-B82D-A2167343B33D}">
          <p14:sldIdLst>
            <p14:sldId id="2561"/>
            <p14:sldId id="2562"/>
          </p14:sldIdLst>
        </p14:section>
        <p14:section name="Mission and Strategic Objectives" id="{4235041F-68F6-46AE-AB80-CCCC3785F1D6}">
          <p14:sldIdLst>
            <p14:sldId id="2563"/>
            <p14:sldId id="2564"/>
            <p14:sldId id="2565"/>
            <p14:sldId id="2566"/>
          </p14:sldIdLst>
        </p14:section>
        <p14:section name="Target Subreddits and Community Engagement" id="{36C19195-B733-4CB3-8A86-9F852EA8B22A}">
          <p14:sldIdLst>
            <p14:sldId id="2567"/>
            <p14:sldId id="2568"/>
            <p14:sldId id="2569"/>
            <p14:sldId id="2570"/>
          </p14:sldIdLst>
        </p14:section>
        <p14:section name="Success Targets and Performance Metrics" id="{FB0B51BF-F532-4D00-8565-20EF3B87D323}">
          <p14:sldIdLst>
            <p14:sldId id="2571"/>
            <p14:sldId id="2572"/>
            <p14:sldId id="2573"/>
            <p14:sldId id="2574"/>
          </p14:sldIdLst>
        </p14:section>
        <p14:section name="Operating Rules and Best Practices" id="{0C08186D-265B-4281-987F-46474A8D9AE1}">
          <p14:sldIdLst>
            <p14:sldId id="2575"/>
            <p14:sldId id="2576"/>
            <p14:sldId id="2577"/>
            <p14:sldId id="2578"/>
          </p14:sldIdLst>
        </p14:section>
        <p14:section name="Reply Style Guide: Founder Voice Rules" id="{071B8495-B5B5-4B5E-8E78-E94B11B8507F}">
          <p14:sldIdLst>
            <p14:sldId id="2579"/>
            <p14:sldId id="2580"/>
            <p14:sldId id="2581"/>
            <p14:sldId id="2582"/>
          </p14:sldIdLst>
        </p14:section>
        <p14:section name="Conclusion: Empowering the EV Community with Strategic Engagement" id="{0A20318C-8009-450B-9A6D-AA08BFFE0C77}">
          <p14:sldIdLst>
            <p14:sldId id="258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60"/>
  </p:normalViewPr>
  <p:slideViewPr>
    <p:cSldViewPr snapToGrid="0">
      <p:cViewPr varScale="1">
        <p:scale>
          <a:sx n="70" d="100"/>
          <a:sy n="70" d="100"/>
        </p:scale>
        <p:origin x="283" y="2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9767E6-5597-470D-AFF6-FB14709F1B86}"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48140-221C-425C-96E5-D45429CCF63E}" type="slidenum">
              <a:rPr lang="en-US" smtClean="0"/>
              <a:t>‹#›</a:t>
            </a:fld>
            <a:endParaRPr lang="en-US"/>
          </a:p>
        </p:txBody>
      </p:sp>
    </p:spTree>
    <p:extLst>
      <p:ext uri="{BB962C8B-B14F-4D97-AF65-F5344CB8AC3E}">
        <p14:creationId xmlns:p14="http://schemas.microsoft.com/office/powerpoint/2010/main" val="220655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1</a:t>
            </a:fld>
            <a:endParaRPr lang="en-US"/>
          </a:p>
        </p:txBody>
      </p:sp>
    </p:spTree>
    <p:extLst>
      <p:ext uri="{BB962C8B-B14F-4D97-AF65-F5344CB8AC3E}">
        <p14:creationId xmlns:p14="http://schemas.microsoft.com/office/powerpoint/2010/main" val="1275083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Mission and Strategic Objectives
 Target Subreddits and Community Engagement
 Success Targets and Performance Metrics
 Operating Rules and Best Practices
 Reply Style Guide: Founder Voice Rules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2</a:t>
            </a:fld>
            <a:endParaRPr lang="en-US"/>
          </a:p>
        </p:txBody>
      </p:sp>
    </p:spTree>
    <p:extLst>
      <p:ext uri="{BB962C8B-B14F-4D97-AF65-F5344CB8AC3E}">
        <p14:creationId xmlns:p14="http://schemas.microsoft.com/office/powerpoint/2010/main" val="1161284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Empowering Confident EV Decisions Through Routine Fit and Charging Predictability, Driving Qualified Traffic to OFFO’s Scenario Tool Organically, Balancing Helpful Engagement and Authentic Community Presence</a:t>
            </a:r>
          </a:p>
        </p:txBody>
      </p:sp>
      <p:sp>
        <p:nvSpPr>
          <p:cNvPr id="4" name="Slide Number Placeholder 3"/>
          <p:cNvSpPr>
            <a:spLocks noGrp="1"/>
          </p:cNvSpPr>
          <p:nvPr>
            <p:ph type="sldNum" sz="quarter" idx="5"/>
          </p:nvPr>
        </p:nvSpPr>
        <p:spPr/>
        <p:txBody>
          <a:bodyPr/>
          <a:lstStyle/>
          <a:p>
            <a:fld id="{026E2246-529F-4DAF-B4C7-C27F75BCF60D}" type="slidenum">
              <a:rPr lang="en-US" smtClean="0"/>
              <a:t>3</a:t>
            </a:fld>
            <a:endParaRPr lang="en-US"/>
          </a:p>
        </p:txBody>
      </p:sp>
    </p:spTree>
    <p:extLst>
      <p:ext uri="{BB962C8B-B14F-4D97-AF65-F5344CB8AC3E}">
        <p14:creationId xmlns:p14="http://schemas.microsoft.com/office/powerpoint/2010/main" val="277436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Routine fit and charging predictability are critical factors influencing EV buyer confidence and ownership satisfaction. Studies show that range anxiety is one of the top barriers to EV adoption, with 48% of potential buyers citing it as a concern. By providing detailed education on how an individual’s daily routine aligns with charge times and locations, operators help demystify range limitations. This empowers users with realistic expectations, reducing anxiety and boosting confidence in purchasing decisions. Tailored guidance grounded in real-world usage patterns can enhance user trust and encourage transition from internal combustion vehicles to EVs.</a:t>
            </a:r>
          </a:p>
        </p:txBody>
      </p:sp>
      <p:sp>
        <p:nvSpPr>
          <p:cNvPr id="4" name="Slide Number Placeholder 3"/>
          <p:cNvSpPr>
            <a:spLocks noGrp="1"/>
          </p:cNvSpPr>
          <p:nvPr>
            <p:ph type="sldNum" sz="quarter" idx="5"/>
          </p:nvPr>
        </p:nvSpPr>
        <p:spPr/>
        <p:txBody>
          <a:bodyPr/>
          <a:lstStyle/>
          <a:p>
            <a:fld id="{026E2246-529F-4DAF-B4C7-C27F75BCF60D}" type="slidenum">
              <a:rPr lang="en-US" smtClean="0"/>
              <a:t>4</a:t>
            </a:fld>
            <a:endParaRPr lang="en-US"/>
          </a:p>
        </p:txBody>
      </p:sp>
    </p:spTree>
    <p:extLst>
      <p:ext uri="{BB962C8B-B14F-4D97-AF65-F5344CB8AC3E}">
        <p14:creationId xmlns:p14="http://schemas.microsoft.com/office/powerpoint/2010/main" val="1859784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Organic traffic growth to the OFFO scenario tool leverages community trust through authentic engagement rather than paid promotion. Data indicates that organic referrals deliver up to 70% higher engagement rates compared to paid channels. The Reddit approach focuses on embedding the tool naturally within conversations where users seek advice, enhancing relevance. Strategies include active participation, contextual sharing of tool benefits, and answering targeted questions to attract technically engaged users who are more likely to convert. This sustainable approach builds long-term inbound interest with a minimal cost-per-acquisition.</a:t>
            </a:r>
          </a:p>
        </p:txBody>
      </p:sp>
      <p:sp>
        <p:nvSpPr>
          <p:cNvPr id="4" name="Slide Number Placeholder 3"/>
          <p:cNvSpPr>
            <a:spLocks noGrp="1"/>
          </p:cNvSpPr>
          <p:nvPr>
            <p:ph type="sldNum" sz="quarter" idx="5"/>
          </p:nvPr>
        </p:nvSpPr>
        <p:spPr/>
        <p:txBody>
          <a:bodyPr/>
          <a:lstStyle/>
          <a:p>
            <a:fld id="{026E2246-529F-4DAF-B4C7-C27F75BCF60D}" type="slidenum">
              <a:rPr lang="en-US" smtClean="0"/>
              <a:t>5</a:t>
            </a:fld>
            <a:endParaRPr lang="en-US"/>
          </a:p>
        </p:txBody>
      </p:sp>
    </p:spTree>
    <p:extLst>
      <p:ext uri="{BB962C8B-B14F-4D97-AF65-F5344CB8AC3E}">
        <p14:creationId xmlns:p14="http://schemas.microsoft.com/office/powerpoint/2010/main" val="842828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Successful Reddit community operators prioritize authenticity and helpfulness to maintain trust and credibility. Data from community engagement analytics show that posts perceived as overly promotional receive up to 40% fewer responses. The balance is achieved by consistently offering value, sharing expertise, and conversing in a genuine manner aligned with community norms. Being a visible, regular contributor rather than a sporadic promoter increases perceived authenticity. This fosters community goodwill, reduces moderation risks, and promotes organic sharing, all of which are critical for sustained community influence.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6</a:t>
            </a:fld>
            <a:endParaRPr lang="en-US"/>
          </a:p>
        </p:txBody>
      </p:sp>
    </p:spTree>
    <p:extLst>
      <p:ext uri="{BB962C8B-B14F-4D97-AF65-F5344CB8AC3E}">
        <p14:creationId xmlns:p14="http://schemas.microsoft.com/office/powerpoint/2010/main" val="5279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Primary Focus on R/Electricvehicles, Secondary Engagement in R/Electriccars and R/EVRoutine, Criteria and Etiquette for Subreddit Participation</a:t>
            </a:r>
          </a:p>
        </p:txBody>
      </p:sp>
      <p:sp>
        <p:nvSpPr>
          <p:cNvPr id="4" name="Slide Number Placeholder 3"/>
          <p:cNvSpPr>
            <a:spLocks noGrp="1"/>
          </p:cNvSpPr>
          <p:nvPr>
            <p:ph type="sldNum" sz="quarter" idx="5"/>
          </p:nvPr>
        </p:nvSpPr>
        <p:spPr/>
        <p:txBody>
          <a:bodyPr/>
          <a:lstStyle/>
          <a:p>
            <a:fld id="{026E2246-529F-4DAF-B4C7-C27F75BCF60D}" type="slidenum">
              <a:rPr lang="en-US" smtClean="0"/>
              <a:t>7</a:t>
            </a:fld>
            <a:endParaRPr lang="en-US"/>
          </a:p>
        </p:txBody>
      </p:sp>
    </p:spTree>
    <p:extLst>
      <p:ext uri="{BB962C8B-B14F-4D97-AF65-F5344CB8AC3E}">
        <p14:creationId xmlns:p14="http://schemas.microsoft.com/office/powerpoint/2010/main" val="4118313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r/Electricvehicles subreddit, with over 600,000 members, is the largest and most active EV community on Reddit. It covers a broad spectrum of topics from vehicle reviews, new technology updates, to owner experiences. Engaging primarily here ensures maximum visibility among highly motivated enthusiasts and prospective buyers. Analysis shows that posts in this community achieve an average of 150 comments and 500 upvotes, reflecting strong member engagement. Content tailored to this subreddit’s interests can drive significant awareness and tool adoption.</a:t>
            </a:r>
          </a:p>
        </p:txBody>
      </p:sp>
      <p:sp>
        <p:nvSpPr>
          <p:cNvPr id="4" name="Slide Number Placeholder 3"/>
          <p:cNvSpPr>
            <a:spLocks noGrp="1"/>
          </p:cNvSpPr>
          <p:nvPr>
            <p:ph type="sldNum" sz="quarter" idx="5"/>
          </p:nvPr>
        </p:nvSpPr>
        <p:spPr/>
        <p:txBody>
          <a:bodyPr/>
          <a:lstStyle/>
          <a:p>
            <a:fld id="{026E2246-529F-4DAF-B4C7-C27F75BCF60D}" type="slidenum">
              <a:rPr lang="en-US" smtClean="0"/>
              <a:t>8</a:t>
            </a:fld>
            <a:endParaRPr lang="en-US"/>
          </a:p>
        </p:txBody>
      </p:sp>
    </p:spTree>
    <p:extLst>
      <p:ext uri="{BB962C8B-B14F-4D97-AF65-F5344CB8AC3E}">
        <p14:creationId xmlns:p14="http://schemas.microsoft.com/office/powerpoint/2010/main" val="2780997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Secondary participation in r/Electriccars and r/EVRoutine expands reach to niche audiences focused on specific vehicle models and daily EV routines. r/Electriccars caters more towards model comparisons and purchase advice with approximately 180,000 members, while r/EVRoutine has a smaller but highly engaged base centered on optimizing charging and daily EV usage. Diversifying presence across these subreddits facilitates targeted messaging aligned with user interests and increases potential qualified lead flow by tapping into specialized discussions.</a:t>
            </a:r>
          </a:p>
        </p:txBody>
      </p:sp>
      <p:sp>
        <p:nvSpPr>
          <p:cNvPr id="4" name="Slide Number Placeholder 3"/>
          <p:cNvSpPr>
            <a:spLocks noGrp="1"/>
          </p:cNvSpPr>
          <p:nvPr>
            <p:ph type="sldNum" sz="quarter" idx="5"/>
          </p:nvPr>
        </p:nvSpPr>
        <p:spPr/>
        <p:txBody>
          <a:bodyPr/>
          <a:lstStyle/>
          <a:p>
            <a:fld id="{026E2246-529F-4DAF-B4C7-C27F75BCF60D}" type="slidenum">
              <a:rPr lang="en-US" smtClean="0"/>
              <a:t>9</a:t>
            </a:fld>
            <a:endParaRPr lang="en-US"/>
          </a:p>
        </p:txBody>
      </p:sp>
    </p:spTree>
    <p:extLst>
      <p:ext uri="{BB962C8B-B14F-4D97-AF65-F5344CB8AC3E}">
        <p14:creationId xmlns:p14="http://schemas.microsoft.com/office/powerpoint/2010/main" val="3923821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Adhering to each subreddit’s rules and community etiquette is crucial to avoid being flagged or banned. This includes respecting posting guidelines, avoiding overt self-promotion, and engaging respectfully. Moderators typically enforce rules around content relevance and tone, with penalties ranging from post removal to user bans. Understanding the nuances of each subreddit’s culture, such as preferring anecdotal experiences over sales pitches, ensures smoother interactions. Data shows that community posts following etiquette receive 3x more positive feedback and engagement than those that don’t.</a:t>
            </a:r>
          </a:p>
        </p:txBody>
      </p:sp>
      <p:sp>
        <p:nvSpPr>
          <p:cNvPr id="4" name="Slide Number Placeholder 3"/>
          <p:cNvSpPr>
            <a:spLocks noGrp="1"/>
          </p:cNvSpPr>
          <p:nvPr>
            <p:ph type="sldNum" sz="quarter" idx="5"/>
          </p:nvPr>
        </p:nvSpPr>
        <p:spPr/>
        <p:txBody>
          <a:bodyPr/>
          <a:lstStyle/>
          <a:p>
            <a:fld id="{026E2246-529F-4DAF-B4C7-C27F75BCF60D}" type="slidenum">
              <a:rPr lang="en-US" smtClean="0"/>
              <a:t>10</a:t>
            </a:fld>
            <a:endParaRPr lang="en-US"/>
          </a:p>
        </p:txBody>
      </p:sp>
    </p:spTree>
    <p:extLst>
      <p:ext uri="{BB962C8B-B14F-4D97-AF65-F5344CB8AC3E}">
        <p14:creationId xmlns:p14="http://schemas.microsoft.com/office/powerpoint/2010/main" val="3796459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Weekly Output Targets: Comments, Link Shares, Invites, Quality Benchmarks: Concrete Routine Takeaways and High-Quality Comment Rate, Performance Metrics: Click-Through, Completions, Engagement, and Moderation Risk Management</a:t>
            </a:r>
          </a:p>
        </p:txBody>
      </p:sp>
      <p:sp>
        <p:nvSpPr>
          <p:cNvPr id="4" name="Slide Number Placeholder 3"/>
          <p:cNvSpPr>
            <a:spLocks noGrp="1"/>
          </p:cNvSpPr>
          <p:nvPr>
            <p:ph type="sldNum" sz="quarter" idx="5"/>
          </p:nvPr>
        </p:nvSpPr>
        <p:spPr/>
        <p:txBody>
          <a:bodyPr/>
          <a:lstStyle/>
          <a:p>
            <a:fld id="{026E2246-529F-4DAF-B4C7-C27F75BCF60D}" type="slidenum">
              <a:rPr lang="en-US" smtClean="0"/>
              <a:t>11</a:t>
            </a:fld>
            <a:endParaRPr lang="en-US"/>
          </a:p>
        </p:txBody>
      </p:sp>
    </p:spTree>
    <p:extLst>
      <p:ext uri="{BB962C8B-B14F-4D97-AF65-F5344CB8AC3E}">
        <p14:creationId xmlns:p14="http://schemas.microsoft.com/office/powerpoint/2010/main" val="2490987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Setting quantitative weekly targets drives consistent operator activity and measurable impact. Typical benchmarks include 30-50 meaningful comments, 5-10 link shares to the OFFO scenario tool, and 3-5 invites to r/EVRoutine per week. This output volume balances proactive engagement without spamming. Historical data from similar community programs suggest these targets maintain visibility and lead generation momentum without risking community fatigue or moderator backlash.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12</a:t>
            </a:fld>
            <a:endParaRPr lang="en-US"/>
          </a:p>
        </p:txBody>
      </p:sp>
    </p:spTree>
    <p:extLst>
      <p:ext uri="{BB962C8B-B14F-4D97-AF65-F5344CB8AC3E}">
        <p14:creationId xmlns:p14="http://schemas.microsoft.com/office/powerpoint/2010/main" val="1365657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Beyond quantity, quality benchmarks concentrate on delivering comments that provide actionable routine fitting insights and charging advice. High-quality comments are defined by relevance to the thread, evidence-based guidance, and clarity. Metrics include aiming for at least 75% of comments to contain concrete takeaways and maintaining a high upvote ratio as a proxy for value. Research highlights that high-quality content drives greater trust, repeat engagement, and click-throughs to tools, thereby enhancing overall campaign efficacy.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13</a:t>
            </a:fld>
            <a:endParaRPr lang="en-US"/>
          </a:p>
        </p:txBody>
      </p:sp>
    </p:spTree>
    <p:extLst>
      <p:ext uri="{BB962C8B-B14F-4D97-AF65-F5344CB8AC3E}">
        <p14:creationId xmlns:p14="http://schemas.microsoft.com/office/powerpoint/2010/main" val="264403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performance indicators include click-through rate (CTR) to the OFFO scenario tool, completion rate of scenarios, engagement rate of operator comments, and moderation feedback frequency. Typical CTR benchmarks for organic community posts range between 3-7%, while scenario completion rates above 50% indicate strong user interest. Additionally, low moderation risk is crucial to sustaining community access and reputation. Continuous monitoring allows prompt adjustment of engagement tactics to optimize outcomes.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14</a:t>
            </a:fld>
            <a:endParaRPr lang="en-US"/>
          </a:p>
        </p:txBody>
      </p:sp>
    </p:spTree>
    <p:extLst>
      <p:ext uri="{BB962C8B-B14F-4D97-AF65-F5344CB8AC3E}">
        <p14:creationId xmlns:p14="http://schemas.microsoft.com/office/powerpoint/2010/main" val="3860523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Applying the “No Good Posts” Rule to Avoid Forced Engagement, Guidelines for Sharing the OFFO Scenario Tool Link, Process for Inviting Users to R/EVRoutine</a:t>
            </a:r>
          </a:p>
        </p:txBody>
      </p:sp>
      <p:sp>
        <p:nvSpPr>
          <p:cNvPr id="4" name="Slide Number Placeholder 3"/>
          <p:cNvSpPr>
            <a:spLocks noGrp="1"/>
          </p:cNvSpPr>
          <p:nvPr>
            <p:ph type="sldNum" sz="quarter" idx="5"/>
          </p:nvPr>
        </p:nvSpPr>
        <p:spPr/>
        <p:txBody>
          <a:bodyPr/>
          <a:lstStyle/>
          <a:p>
            <a:fld id="{026E2246-529F-4DAF-B4C7-C27F75BCF60D}" type="slidenum">
              <a:rPr lang="en-US" smtClean="0"/>
              <a:t>15</a:t>
            </a:fld>
            <a:endParaRPr lang="en-US"/>
          </a:p>
        </p:txBody>
      </p:sp>
    </p:spTree>
    <p:extLst>
      <p:ext uri="{BB962C8B-B14F-4D97-AF65-F5344CB8AC3E}">
        <p14:creationId xmlns:p14="http://schemas.microsoft.com/office/powerpoint/2010/main" val="3946879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“No Good Posts” rule encourages operators to avoid forcing responses to threads lacking genuine engagement potential. Posting only when relevant maintains community trust and reduces perceptions of spam. Studies of community moderation logs show that forced or off-topic comments increase negative feedback and risk account penalization by 25%. Operators are urged to identify quality threads and contribute meaningfully rather than filling quotas indiscriminately.</a:t>
            </a:r>
          </a:p>
        </p:txBody>
      </p:sp>
      <p:sp>
        <p:nvSpPr>
          <p:cNvPr id="4" name="Slide Number Placeholder 3"/>
          <p:cNvSpPr>
            <a:spLocks noGrp="1"/>
          </p:cNvSpPr>
          <p:nvPr>
            <p:ph type="sldNum" sz="quarter" idx="5"/>
          </p:nvPr>
        </p:nvSpPr>
        <p:spPr/>
        <p:txBody>
          <a:bodyPr/>
          <a:lstStyle/>
          <a:p>
            <a:fld id="{026E2246-529F-4DAF-B4C7-C27F75BCF60D}" type="slidenum">
              <a:rPr lang="en-US" smtClean="0"/>
              <a:t>16</a:t>
            </a:fld>
            <a:endParaRPr lang="en-US"/>
          </a:p>
        </p:txBody>
      </p:sp>
    </p:spTree>
    <p:extLst>
      <p:ext uri="{BB962C8B-B14F-4D97-AF65-F5344CB8AC3E}">
        <p14:creationId xmlns:p14="http://schemas.microsoft.com/office/powerpoint/2010/main" val="3331293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Link sharing should be contextually relevant, adding value to the discussion rather than as overt promotion. Best practices include briefly explaining tool benefits, customizing messages to thread context, and avoiding multiple link drops in a single thread. Data analysis shows that contextual links see up to 40% higher click rates and fewer flags than generic shares. Following platform rules and transparency about the tool’s nature further minimizes moderation risks.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17</a:t>
            </a:fld>
            <a:endParaRPr lang="en-US"/>
          </a:p>
        </p:txBody>
      </p:sp>
    </p:spTree>
    <p:extLst>
      <p:ext uri="{BB962C8B-B14F-4D97-AF65-F5344CB8AC3E}">
        <p14:creationId xmlns:p14="http://schemas.microsoft.com/office/powerpoint/2010/main" val="271344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Inviting users to r/EVRoutine should follow a respectful, personalized approach focusing on users demonstrating interest in detailed EV routine discussions. Invitations are most effective when based on prior helpful responses or shared interests. Data from invite acceptance rates suggest that warm invitations yield acceptance rates above 30%, significantly higher than cold outreach. Keeping invites non-intrusive and timed with context helps maintain positive user experience and community harmony.</a:t>
            </a:r>
          </a:p>
        </p:txBody>
      </p:sp>
      <p:sp>
        <p:nvSpPr>
          <p:cNvPr id="4" name="Slide Number Placeholder 3"/>
          <p:cNvSpPr>
            <a:spLocks noGrp="1"/>
          </p:cNvSpPr>
          <p:nvPr>
            <p:ph type="sldNum" sz="quarter" idx="5"/>
          </p:nvPr>
        </p:nvSpPr>
        <p:spPr/>
        <p:txBody>
          <a:bodyPr/>
          <a:lstStyle/>
          <a:p>
            <a:fld id="{026E2246-529F-4DAF-B4C7-C27F75BCF60D}" type="slidenum">
              <a:rPr lang="en-US" smtClean="0"/>
              <a:t>18</a:t>
            </a:fld>
            <a:endParaRPr lang="en-US"/>
          </a:p>
        </p:txBody>
      </p:sp>
    </p:spTree>
    <p:extLst>
      <p:ext uri="{BB962C8B-B14F-4D97-AF65-F5344CB8AC3E}">
        <p14:creationId xmlns:p14="http://schemas.microsoft.com/office/powerpoint/2010/main" val="80271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Maintaining a Helpful, Expert, and Non-Salesy Tone, Crafting Replies Focused on Routine Insights and Actionable Tips, Handling Difficult Threads, Flame Wars, and Edge Cases Respectfully</a:t>
            </a:r>
          </a:p>
        </p:txBody>
      </p:sp>
      <p:sp>
        <p:nvSpPr>
          <p:cNvPr id="4" name="Slide Number Placeholder 3"/>
          <p:cNvSpPr>
            <a:spLocks noGrp="1"/>
          </p:cNvSpPr>
          <p:nvPr>
            <p:ph type="sldNum" sz="quarter" idx="5"/>
          </p:nvPr>
        </p:nvSpPr>
        <p:spPr/>
        <p:txBody>
          <a:bodyPr/>
          <a:lstStyle/>
          <a:p>
            <a:fld id="{026E2246-529F-4DAF-B4C7-C27F75BCF60D}" type="slidenum">
              <a:rPr lang="en-US" smtClean="0"/>
              <a:t>19</a:t>
            </a:fld>
            <a:endParaRPr lang="en-US"/>
          </a:p>
        </p:txBody>
      </p:sp>
    </p:spTree>
    <p:extLst>
      <p:ext uri="{BB962C8B-B14F-4D97-AF65-F5344CB8AC3E}">
        <p14:creationId xmlns:p14="http://schemas.microsoft.com/office/powerpoint/2010/main" val="345330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founder voice demands a tone that is informative, approachable, and unbiased. Avoiding sales language while emphasizing expertise fosters trust. Communication research suggests that users respond better to perceived subject matter experts who present facts transparently rather than promoting products overtly. This style enhances engagement, encourages user questions, and positions the operator as a reliable resource rather than a marketer.</a:t>
            </a:r>
          </a:p>
        </p:txBody>
      </p:sp>
      <p:sp>
        <p:nvSpPr>
          <p:cNvPr id="4" name="Slide Number Placeholder 3"/>
          <p:cNvSpPr>
            <a:spLocks noGrp="1"/>
          </p:cNvSpPr>
          <p:nvPr>
            <p:ph type="sldNum" sz="quarter" idx="5"/>
          </p:nvPr>
        </p:nvSpPr>
        <p:spPr/>
        <p:txBody>
          <a:bodyPr/>
          <a:lstStyle/>
          <a:p>
            <a:fld id="{026E2246-529F-4DAF-B4C7-C27F75BCF60D}" type="slidenum">
              <a:rPr lang="en-US" smtClean="0"/>
              <a:t>20</a:t>
            </a:fld>
            <a:endParaRPr lang="en-US"/>
          </a:p>
        </p:txBody>
      </p:sp>
    </p:spTree>
    <p:extLst>
      <p:ext uri="{BB962C8B-B14F-4D97-AF65-F5344CB8AC3E}">
        <p14:creationId xmlns:p14="http://schemas.microsoft.com/office/powerpoint/2010/main" val="759251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Replies should deliver clear, practical advice related to EV charging routines, usage optimization, and scenario-based considerations. Actionable tips improve user retention and tool adoption by directly addressing individual concerns. Data from community feedback shows actionable posts receive 2x higher engagement and positive reactions. Incorporating personalized suggestions based on shared context promotes deeper connection and perceived value.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21</a:t>
            </a:fld>
            <a:endParaRPr lang="en-US"/>
          </a:p>
        </p:txBody>
      </p:sp>
    </p:spTree>
    <p:extLst>
      <p:ext uri="{BB962C8B-B14F-4D97-AF65-F5344CB8AC3E}">
        <p14:creationId xmlns:p14="http://schemas.microsoft.com/office/powerpoint/2010/main" val="150726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Navigating contentious threads requires maintaining professionalism, empathy, and clear boundaries. Studies of online conflict resolution demonstrate that respectful acknowledgment and informative tone deescalate tensions effectively in over 70% of hostile interactions. Operators should avoid engaging in flame wars, redirect conversations to factual content, and disengage from unproductive exchanges promptly. This preserves community goodwill and operator reputation. 
 Image source: AI-generated</a:t>
            </a:r>
          </a:p>
        </p:txBody>
      </p:sp>
      <p:sp>
        <p:nvSpPr>
          <p:cNvPr id="4" name="Slide Number Placeholder 3"/>
          <p:cNvSpPr>
            <a:spLocks noGrp="1"/>
          </p:cNvSpPr>
          <p:nvPr>
            <p:ph type="sldNum" sz="quarter" idx="5"/>
          </p:nvPr>
        </p:nvSpPr>
        <p:spPr/>
        <p:txBody>
          <a:bodyPr/>
          <a:lstStyle/>
          <a:p>
            <a:fld id="{026E2246-529F-4DAF-B4C7-C27F75BCF60D}" type="slidenum">
              <a:rPr lang="en-US" smtClean="0"/>
              <a:t>22</a:t>
            </a:fld>
            <a:endParaRPr lang="en-US"/>
          </a:p>
        </p:txBody>
      </p:sp>
    </p:spTree>
    <p:extLst>
      <p:ext uri="{BB962C8B-B14F-4D97-AF65-F5344CB8AC3E}">
        <p14:creationId xmlns:p14="http://schemas.microsoft.com/office/powerpoint/2010/main" val="4210258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highlighted the strategic approach to operating within Reddit's EV communities, focusing on empowering confident decisions, organic engagement, and clear performance metrics. By adhering to best practices and maintaining a helpful, authentic tone, we aim to foster meaningful interactions that support EV buyers and owners in making informed choices and building vibrant community connections.</a:t>
            </a:r>
          </a:p>
        </p:txBody>
      </p:sp>
      <p:sp>
        <p:nvSpPr>
          <p:cNvPr id="4" name="Slide Number Placeholder 3"/>
          <p:cNvSpPr>
            <a:spLocks noGrp="1"/>
          </p:cNvSpPr>
          <p:nvPr>
            <p:ph type="sldNum" sz="quarter" idx="5"/>
          </p:nvPr>
        </p:nvSpPr>
        <p:spPr/>
        <p:txBody>
          <a:bodyPr/>
          <a:lstStyle/>
          <a:p>
            <a:fld id="{026E2246-529F-4DAF-B4C7-C27F75BCF60D}" type="slidenum">
              <a:rPr lang="en-US" smtClean="0"/>
              <a:t>23</a:t>
            </a:fld>
            <a:endParaRPr lang="en-US"/>
          </a:p>
        </p:txBody>
      </p:sp>
    </p:spTree>
    <p:extLst>
      <p:ext uri="{BB962C8B-B14F-4D97-AF65-F5344CB8AC3E}">
        <p14:creationId xmlns:p14="http://schemas.microsoft.com/office/powerpoint/2010/main" val="6700089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4953000"/>
            <a:ext cx="10789920" cy="786384"/>
          </a:xfrm>
        </p:spPr>
        <p:txBody>
          <a:bodyPr vert="horz" lIns="91440" tIns="45720" rIns="91440" bIns="45720" rtlCol="0" anchor="b">
            <a:normAutofit/>
          </a:bodyPr>
          <a:lstStyle>
            <a:lvl1pPr>
              <a:defRPr lang="en-US" sz="4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5723056"/>
            <a:ext cx="10789920" cy="365125"/>
          </a:xfrm>
        </p:spPr>
        <p:txBody>
          <a:bodyPr vert="horz" lIns="91440" tIns="45720" rIns="91440" bIns="45720" rtlCol="0">
            <a:normAutofit/>
          </a:bodyPr>
          <a:lstStyle>
            <a:lvl1pPr marL="0" indent="0">
              <a:buNone/>
              <a:defRPr lang="en-US" sz="1600" dirty="0">
                <a:solidFill>
                  <a:schemeClr val="accent5"/>
                </a:solidFill>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75488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C85E6B85-DD51-B9C3-1A0F-526FD2B32B95}"/>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14" name="Date Placeholder 13">
            <a:extLst>
              <a:ext uri="{FF2B5EF4-FFF2-40B4-BE49-F238E27FC236}">
                <a16:creationId xmlns:a16="http://schemas.microsoft.com/office/drawing/2014/main" id="{34483B51-BAEC-F543-9306-DB4C7AF5BD2C}"/>
              </a:ext>
            </a:extLst>
          </p:cNvPr>
          <p:cNvSpPr>
            <a:spLocks noGrp="1"/>
          </p:cNvSpPr>
          <p:nvPr>
            <p:ph type="dt" sz="half" idx="14"/>
          </p:nvPr>
        </p:nvSpPr>
        <p:spPr/>
        <p:txBody>
          <a:bodyPr/>
          <a:lstStyle>
            <a:lvl1pPr>
              <a:defRPr b="0">
                <a:solidFill>
                  <a:schemeClr val="accent5"/>
                </a:solidFill>
              </a:defRPr>
            </a:lvl1pPr>
          </a:lstStyle>
          <a:p>
            <a:fld id="{B72EA355-EE8B-47EB-B6F6-9F5690AE9D78}" type="datetime1">
              <a:rPr lang="en-US" smtClean="0"/>
              <a:t>1/30/2026</a:t>
            </a:fld>
            <a:endParaRPr lang="en-US" b="0" dirty="0"/>
          </a:p>
        </p:txBody>
      </p:sp>
      <p:sp>
        <p:nvSpPr>
          <p:cNvPr id="16" name="Slide Number Placeholder 15">
            <a:extLst>
              <a:ext uri="{FF2B5EF4-FFF2-40B4-BE49-F238E27FC236}">
                <a16:creationId xmlns:a16="http://schemas.microsoft.com/office/drawing/2014/main" id="{49BFBAB6-9C99-43B8-8C8A-FF7580EA82CC}"/>
              </a:ext>
            </a:extLst>
          </p:cNvPr>
          <p:cNvSpPr>
            <a:spLocks noGrp="1"/>
          </p:cNvSpPr>
          <p:nvPr>
            <p:ph type="sldNum" sz="quarter" idx="16"/>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9970947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7A6B1363-C680-CD66-D9AB-FC7F9B2AAE5B}"/>
              </a:ext>
            </a:extLst>
          </p:cNvPr>
          <p:cNvSpPr>
            <a:spLocks noGrp="1"/>
          </p:cNvSpPr>
          <p:nvPr>
            <p:ph type="ftr" sz="quarter" idx="11"/>
          </p:nvPr>
        </p:nvSpPr>
        <p:spPr/>
        <p:txBody>
          <a:bodyPr/>
          <a:lstStyle/>
          <a:p>
            <a:endParaRPr lang="en-US" sz="900" dirty="0"/>
          </a:p>
        </p:txBody>
      </p:sp>
      <p:sp>
        <p:nvSpPr>
          <p:cNvPr id="13" name="Date Placeholder 12">
            <a:extLst>
              <a:ext uri="{FF2B5EF4-FFF2-40B4-BE49-F238E27FC236}">
                <a16:creationId xmlns:a16="http://schemas.microsoft.com/office/drawing/2014/main" id="{6BAC46A9-8368-539A-C6C7-283FD86450D0}"/>
              </a:ext>
            </a:extLst>
          </p:cNvPr>
          <p:cNvSpPr>
            <a:spLocks noGrp="1"/>
          </p:cNvSpPr>
          <p:nvPr>
            <p:ph type="dt" sz="half" idx="10"/>
          </p:nvPr>
        </p:nvSpPr>
        <p:spPr/>
        <p:txBody>
          <a:bodyPr/>
          <a:lstStyle/>
          <a:p>
            <a:fld id="{9B11A2B0-8AEA-48A8-ADCF-9BF4BC70A109}" type="datetime1">
              <a:rPr lang="en-US" smtClean="0"/>
              <a:t>1/30/2026</a:t>
            </a:fld>
            <a:endParaRPr lang="en-US" sz="900" dirty="0"/>
          </a:p>
        </p:txBody>
      </p:sp>
      <p:sp>
        <p:nvSpPr>
          <p:cNvPr id="15" name="Slide Number Placeholder 14">
            <a:extLst>
              <a:ext uri="{FF2B5EF4-FFF2-40B4-BE49-F238E27FC236}">
                <a16:creationId xmlns:a16="http://schemas.microsoft.com/office/drawing/2014/main" id="{134031AA-21A9-A2B8-A1F5-5B84DB24753A}"/>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529177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2400" y="685800"/>
            <a:ext cx="3749040" cy="3931920"/>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2400" y="4870174"/>
            <a:ext cx="3749040" cy="1033669"/>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CBBFAB2B-01D7-D044-2081-96C1458C67AF}"/>
              </a:ext>
            </a:extLst>
          </p:cNvPr>
          <p:cNvSpPr>
            <a:spLocks noGrp="1"/>
          </p:cNvSpPr>
          <p:nvPr>
            <p:ph type="ftr" sz="quarter" idx="16"/>
          </p:nvPr>
        </p:nvSpPr>
        <p:spPr>
          <a:xfrm>
            <a:off x="7772400" y="6309360"/>
            <a:ext cx="2438400"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FD41E24D-9DF2-8567-C427-B7D499C23E3A}"/>
              </a:ext>
            </a:extLst>
          </p:cNvPr>
          <p:cNvSpPr>
            <a:spLocks noGrp="1"/>
          </p:cNvSpPr>
          <p:nvPr>
            <p:ph type="dt" sz="half" idx="15"/>
          </p:nvPr>
        </p:nvSpPr>
        <p:spPr/>
        <p:txBody>
          <a:bodyPr/>
          <a:lstStyle>
            <a:lvl1pPr>
              <a:defRPr b="0">
                <a:solidFill>
                  <a:schemeClr val="accent5"/>
                </a:solidFill>
              </a:defRPr>
            </a:lvl1pPr>
          </a:lstStyle>
          <a:p>
            <a:fld id="{9AF3CDB6-BDF2-45D0-906F-F1140CF129F5}" type="datetime1">
              <a:rPr lang="en-US" smtClean="0"/>
              <a:t>1/30/2026</a:t>
            </a:fld>
            <a:endParaRPr lang="en-US" dirty="0"/>
          </a:p>
        </p:txBody>
      </p:sp>
      <p:sp>
        <p:nvSpPr>
          <p:cNvPr id="18" name="Slide Number Placeholder 17">
            <a:extLst>
              <a:ext uri="{FF2B5EF4-FFF2-40B4-BE49-F238E27FC236}">
                <a16:creationId xmlns:a16="http://schemas.microsoft.com/office/drawing/2014/main" id="{C19C57A0-3CC0-974C-F999-A01B7DF19516}"/>
              </a:ext>
            </a:extLst>
          </p:cNvPr>
          <p:cNvSpPr>
            <a:spLocks noGrp="1"/>
          </p:cNvSpPr>
          <p:nvPr>
            <p:ph type="sldNum" sz="quarter" idx="17"/>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865313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0" y="685800"/>
            <a:ext cx="3566160" cy="3571125"/>
          </a:xfrm>
        </p:spPr>
        <p:txBody>
          <a:bodyPr vert="horz" lIns="91440" tIns="45720" rIns="91440" bIns="45720" rtlCol="0" anchor="b">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0" y="4403039"/>
            <a:ext cx="3566160" cy="1123122"/>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E9AF9E37-EACE-569E-F110-B4E3F4EF7137}"/>
              </a:ext>
            </a:extLst>
          </p:cNvPr>
          <p:cNvSpPr>
            <a:spLocks noGrp="1"/>
          </p:cNvSpPr>
          <p:nvPr>
            <p:ph type="ftr" sz="quarter" idx="16"/>
          </p:nvPr>
        </p:nvSpPr>
        <p:spPr>
          <a:xfrm>
            <a:off x="7955280" y="6309360"/>
            <a:ext cx="1444752" cy="548640"/>
          </a:xfrm>
        </p:spPr>
        <p:txBody>
          <a:bodyPr lIns="91440" rIns="91440"/>
          <a:lstStyle>
            <a:lvl1pPr>
              <a:defRPr b="0">
                <a:solidFill>
                  <a:schemeClr val="accent5"/>
                </a:solidFill>
              </a:defRPr>
            </a:lvl1pPr>
          </a:lstStyle>
          <a:p>
            <a:pPr algn="l"/>
            <a:endParaRPr lang="en-US" dirty="0"/>
          </a:p>
        </p:txBody>
      </p:sp>
      <p:sp>
        <p:nvSpPr>
          <p:cNvPr id="10" name="Date Placeholder 9">
            <a:extLst>
              <a:ext uri="{FF2B5EF4-FFF2-40B4-BE49-F238E27FC236}">
                <a16:creationId xmlns:a16="http://schemas.microsoft.com/office/drawing/2014/main" id="{AE4E592C-EE16-8366-A0CD-55B2C02F5479}"/>
              </a:ext>
            </a:extLst>
          </p:cNvPr>
          <p:cNvSpPr>
            <a:spLocks noGrp="1"/>
          </p:cNvSpPr>
          <p:nvPr>
            <p:ph type="dt" sz="half" idx="15"/>
          </p:nvPr>
        </p:nvSpPr>
        <p:spPr/>
        <p:txBody>
          <a:bodyPr/>
          <a:lstStyle>
            <a:lvl1pPr>
              <a:defRPr b="0">
                <a:solidFill>
                  <a:schemeClr val="accent5"/>
                </a:solidFill>
              </a:defRPr>
            </a:lvl1pPr>
          </a:lstStyle>
          <a:p>
            <a:fld id="{354E8BB4-B99D-4B89-B4C3-64F28ED9A009}" type="datetime1">
              <a:rPr lang="en-US" smtClean="0"/>
              <a:t>1/30/2026</a:t>
            </a:fld>
            <a:endParaRPr lang="en-US" dirty="0"/>
          </a:p>
        </p:txBody>
      </p:sp>
      <p:sp>
        <p:nvSpPr>
          <p:cNvPr id="12" name="Slide Number Placeholder 11">
            <a:extLst>
              <a:ext uri="{FF2B5EF4-FFF2-40B4-BE49-F238E27FC236}">
                <a16:creationId xmlns:a16="http://schemas.microsoft.com/office/drawing/2014/main" id="{45B859B5-326B-1048-3F2A-01A6A3F1AA9D}"/>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677285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3840480" cy="3331896"/>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492488"/>
            <a:ext cx="3840480" cy="1411356"/>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a:t>Click to edit Master subtitle style</a:t>
            </a:r>
            <a:endParaRPr lang="en-US" dirty="0"/>
          </a:p>
        </p:txBody>
      </p:sp>
      <p:sp>
        <p:nvSpPr>
          <p:cNvPr id="17" name="Footer Placeholder 16">
            <a:extLst>
              <a:ext uri="{FF2B5EF4-FFF2-40B4-BE49-F238E27FC236}">
                <a16:creationId xmlns:a16="http://schemas.microsoft.com/office/drawing/2014/main" id="{ACFD9A81-0421-82B4-DD18-3A7E76292FA4}"/>
              </a:ext>
            </a:extLst>
          </p:cNvPr>
          <p:cNvSpPr>
            <a:spLocks noGrp="1"/>
          </p:cNvSpPr>
          <p:nvPr>
            <p:ph type="ftr" sz="quarter" idx="15"/>
          </p:nvPr>
        </p:nvSpPr>
        <p:spPr>
          <a:xfrm>
            <a:off x="685800" y="6309360"/>
            <a:ext cx="1444752"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C2B408D8-3BD4-92A7-A0AE-86B7B718611C}"/>
              </a:ext>
            </a:extLst>
          </p:cNvPr>
          <p:cNvSpPr>
            <a:spLocks noGrp="1"/>
          </p:cNvSpPr>
          <p:nvPr>
            <p:ph type="dt" sz="half" idx="14"/>
          </p:nvPr>
        </p:nvSpPr>
        <p:spPr>
          <a:xfrm>
            <a:off x="3611880" y="6323874"/>
            <a:ext cx="914400" cy="548640"/>
          </a:xfrm>
        </p:spPr>
        <p:txBody>
          <a:bodyPr lIns="91440" rIns="91440"/>
          <a:lstStyle>
            <a:lvl1pPr algn="r">
              <a:defRPr b="0">
                <a:solidFill>
                  <a:schemeClr val="accent5"/>
                </a:solidFill>
              </a:defRPr>
            </a:lvl1pPr>
          </a:lstStyle>
          <a:p>
            <a:fld id="{16CEBE68-93CA-46D7-A645-3ACEC090DF3D}" type="datetime1">
              <a:rPr lang="en-US" smtClean="0"/>
              <a:t>1/30/2026</a:t>
            </a:fld>
            <a:endParaRPr lang="en-US" b="0"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0"/>
            <a:ext cx="7080426"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8" name="Slide Number Placeholder 17">
            <a:extLst>
              <a:ext uri="{FF2B5EF4-FFF2-40B4-BE49-F238E27FC236}">
                <a16:creationId xmlns:a16="http://schemas.microsoft.com/office/drawing/2014/main" id="{B63CD4FA-3BB5-C3C1-C3D6-A8F03DDBD11D}"/>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867712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3276600"/>
            <a:ext cx="3657600" cy="2845567"/>
          </a:xfrm>
        </p:spPr>
        <p:txBody>
          <a:bodyPr vert="horz" lIns="91440" tIns="45720" rIns="91440" bIns="45720" rtlCol="0" anchor="t" anchorCtr="0">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685802"/>
            <a:ext cx="3657600" cy="2113720"/>
          </a:xfrm>
        </p:spPr>
        <p:txBody>
          <a:bodyPr vert="horz" lIns="91440" tIns="45720" rIns="91440" bIns="45720" rtlCol="0" anchor="b" anchorCtr="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F9954665-4AE4-E66F-CBDA-FAA767B9F915}"/>
              </a:ext>
            </a:extLst>
          </p:cNvPr>
          <p:cNvSpPr>
            <a:spLocks noGrp="1"/>
          </p:cNvSpPr>
          <p:nvPr>
            <p:ph type="ftr" sz="quarter" idx="16"/>
          </p:nvPr>
        </p:nvSpPr>
        <p:spPr>
          <a:xfrm>
            <a:off x="7846390" y="6309360"/>
            <a:ext cx="1444752" cy="548640"/>
          </a:xfrm>
        </p:spPr>
        <p:txBody>
          <a:bodyPr lIns="91440" rIns="91440"/>
          <a:lstStyle>
            <a:lvl1pPr algn="l">
              <a:defRPr b="0">
                <a:solidFill>
                  <a:schemeClr val="accent5"/>
                </a:solidFill>
              </a:defRPr>
            </a:lvl1pPr>
          </a:lstStyle>
          <a:p>
            <a:endParaRPr lang="en-US" dirty="0"/>
          </a:p>
        </p:txBody>
      </p:sp>
      <p:sp>
        <p:nvSpPr>
          <p:cNvPr id="12" name="Date Placeholder 11">
            <a:extLst>
              <a:ext uri="{FF2B5EF4-FFF2-40B4-BE49-F238E27FC236}">
                <a16:creationId xmlns:a16="http://schemas.microsoft.com/office/drawing/2014/main" id="{23B3ED0A-0283-8DBC-399B-76A88525B9D5}"/>
              </a:ext>
            </a:extLst>
          </p:cNvPr>
          <p:cNvSpPr>
            <a:spLocks noGrp="1"/>
          </p:cNvSpPr>
          <p:nvPr>
            <p:ph type="dt" sz="half" idx="15"/>
          </p:nvPr>
        </p:nvSpPr>
        <p:spPr/>
        <p:txBody>
          <a:bodyPr/>
          <a:lstStyle>
            <a:lvl1pPr>
              <a:defRPr b="0">
                <a:solidFill>
                  <a:schemeClr val="accent5"/>
                </a:solidFill>
              </a:defRPr>
            </a:lvl1pPr>
          </a:lstStyle>
          <a:p>
            <a:fld id="{E319002B-B66D-4569-8873-D242A1F75CC8}" type="datetime1">
              <a:rPr lang="en-US" smtClean="0"/>
              <a:t>1/30/2026</a:t>
            </a:fld>
            <a:endParaRPr lang="en-US" dirty="0"/>
          </a:p>
        </p:txBody>
      </p:sp>
      <p:sp>
        <p:nvSpPr>
          <p:cNvPr id="15" name="Slide Number Placeholder 14">
            <a:extLst>
              <a:ext uri="{FF2B5EF4-FFF2-40B4-BE49-F238E27FC236}">
                <a16:creationId xmlns:a16="http://schemas.microsoft.com/office/drawing/2014/main" id="{ABEFD957-C473-4A3C-F70B-A30911A5B7C8}"/>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3854745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9598152" cy="4144566"/>
          </a:xfrm>
        </p:spPr>
        <p:txBody>
          <a:bodyPr vert="horz" lIns="91440" tIns="45720" rIns="91440" bIns="45720" rtlCol="0" anchor="t">
            <a:normAutofit/>
          </a:bodyPr>
          <a:lstStyle>
            <a:lvl1pPr>
              <a:defRPr lang="en-US" sz="8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937760"/>
            <a:ext cx="7769354" cy="960120"/>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9" name="Footer Placeholder 8">
            <a:extLst>
              <a:ext uri="{FF2B5EF4-FFF2-40B4-BE49-F238E27FC236}">
                <a16:creationId xmlns:a16="http://schemas.microsoft.com/office/drawing/2014/main" id="{62B026E3-ACB9-D9C1-D585-AFCCE9F7F232}"/>
              </a:ext>
            </a:extLst>
          </p:cNvPr>
          <p:cNvSpPr>
            <a:spLocks noGrp="1"/>
          </p:cNvSpPr>
          <p:nvPr>
            <p:ph type="ftr" sz="quarter" idx="11"/>
          </p:nvPr>
        </p:nvSpPr>
        <p:spPr/>
        <p:txBody>
          <a:bodyPr/>
          <a:lstStyle>
            <a:lvl1pPr>
              <a:defRPr b="0">
                <a:solidFill>
                  <a:schemeClr val="accent5"/>
                </a:solidFill>
              </a:defRPr>
            </a:lvl1pPr>
          </a:lstStyle>
          <a:p>
            <a:endParaRPr lang="en-US" dirty="0"/>
          </a:p>
        </p:txBody>
      </p:sp>
      <p:sp>
        <p:nvSpPr>
          <p:cNvPr id="8" name="Date Placeholder 7">
            <a:extLst>
              <a:ext uri="{FF2B5EF4-FFF2-40B4-BE49-F238E27FC236}">
                <a16:creationId xmlns:a16="http://schemas.microsoft.com/office/drawing/2014/main" id="{E7178590-69EB-0C65-77A9-FA70F7756C96}"/>
              </a:ext>
            </a:extLst>
          </p:cNvPr>
          <p:cNvSpPr>
            <a:spLocks noGrp="1"/>
          </p:cNvSpPr>
          <p:nvPr>
            <p:ph type="dt" sz="half" idx="10"/>
          </p:nvPr>
        </p:nvSpPr>
        <p:spPr/>
        <p:txBody>
          <a:bodyPr/>
          <a:lstStyle>
            <a:lvl1pPr>
              <a:defRPr b="0">
                <a:solidFill>
                  <a:schemeClr val="accent5"/>
                </a:solidFill>
              </a:defRPr>
            </a:lvl1pPr>
          </a:lstStyle>
          <a:p>
            <a:fld id="{FFDCD49C-7178-4FE7-81FA-E0E71379FCFE}" type="datetime1">
              <a:rPr lang="en-US" smtClean="0"/>
              <a:t>1/30/2026</a:t>
            </a:fld>
            <a:endParaRPr lang="en-US" dirty="0"/>
          </a:p>
        </p:txBody>
      </p:sp>
      <p:sp>
        <p:nvSpPr>
          <p:cNvPr id="10" name="Slide Number Placeholder 9">
            <a:extLst>
              <a:ext uri="{FF2B5EF4-FFF2-40B4-BE49-F238E27FC236}">
                <a16:creationId xmlns:a16="http://schemas.microsoft.com/office/drawing/2014/main" id="{5A1123C1-7FB9-709A-71B6-79DB02B8A03C}"/>
              </a:ext>
            </a:extLst>
          </p:cNvPr>
          <p:cNvSpPr>
            <a:spLocks noGrp="1"/>
          </p:cNvSpPr>
          <p:nvPr>
            <p:ph type="sldNum" sz="quarter" idx="12"/>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973736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1401420"/>
            <a:ext cx="9140954" cy="2836729"/>
          </a:xfrm>
        </p:spPr>
        <p:txBody>
          <a:bodyPr vert="horz" lIns="91440" tIns="45720" rIns="91440" bIns="45720" rtlCol="0" anchor="b">
            <a:normAutofit/>
          </a:bodyPr>
          <a:lstStyle>
            <a:lvl1pPr>
              <a:defRPr lang="en-US" sz="68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318968"/>
            <a:ext cx="7312153" cy="1014984"/>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4B11C0B4-9F47-DBDA-8D0E-E312E7354F30}"/>
              </a:ext>
            </a:extLst>
          </p:cNvPr>
          <p:cNvSpPr>
            <a:spLocks noGrp="1"/>
          </p:cNvSpPr>
          <p:nvPr>
            <p:ph type="ftr" sz="quarter" idx="11"/>
          </p:nvPr>
        </p:nvSpPr>
        <p:spPr/>
        <p:txBody>
          <a:bodyPr/>
          <a:lstStyle>
            <a:lvl1pPr>
              <a:defRPr b="1">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F4EBD9A7-702F-644F-6937-CD2E7E507355}"/>
              </a:ext>
            </a:extLst>
          </p:cNvPr>
          <p:cNvSpPr>
            <a:spLocks noGrp="1"/>
          </p:cNvSpPr>
          <p:nvPr>
            <p:ph type="dt" sz="half" idx="10"/>
          </p:nvPr>
        </p:nvSpPr>
        <p:spPr/>
        <p:txBody>
          <a:bodyPr/>
          <a:lstStyle>
            <a:lvl1pPr>
              <a:defRPr b="1">
                <a:solidFill>
                  <a:schemeClr val="accent5"/>
                </a:solidFill>
              </a:defRPr>
            </a:lvl1pPr>
          </a:lstStyle>
          <a:p>
            <a:fld id="{26C1D07F-CE69-45D3-B3EC-FEBA5B939B47}" type="datetime1">
              <a:rPr lang="en-US" smtClean="0"/>
              <a:t>1/30/2026</a:t>
            </a:fld>
            <a:endParaRPr lang="en-US" dirty="0"/>
          </a:p>
        </p:txBody>
      </p:sp>
      <p:sp>
        <p:nvSpPr>
          <p:cNvPr id="12" name="Slide Number Placeholder 11">
            <a:extLst>
              <a:ext uri="{FF2B5EF4-FFF2-40B4-BE49-F238E27FC236}">
                <a16:creationId xmlns:a16="http://schemas.microsoft.com/office/drawing/2014/main" id="{79EFA6C2-F234-8C90-8C8A-DA65AD9EA579}"/>
              </a:ext>
            </a:extLst>
          </p:cNvPr>
          <p:cNvSpPr>
            <a:spLocks noGrp="1"/>
          </p:cNvSpPr>
          <p:nvPr>
            <p:ph type="sldNum" sz="quarter" idx="12"/>
          </p:nvPr>
        </p:nvSpPr>
        <p:spPr>
          <a:solidFill>
            <a:schemeClr val="accent1">
              <a:lumMod val="90000"/>
              <a:lumOff val="10000"/>
            </a:schemeClr>
          </a:solidFill>
        </p:spPr>
        <p:txBody>
          <a:bodyPr/>
          <a:lstStyle>
            <a:lvl1pPr>
              <a:defRPr b="1">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5413738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0442"/>
            <a:ext cx="8229600" cy="2379013"/>
          </a:xfrm>
        </p:spPr>
        <p:txBody>
          <a:bodyPr anchor="b">
            <a:normAutofit/>
          </a:bodyPr>
          <a:lstStyle>
            <a:lvl1pPr algn="ctr">
              <a:defRPr sz="6000">
                <a:solidFill>
                  <a:schemeClr val="accent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20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Footer Placeholder 10">
            <a:extLst>
              <a:ext uri="{FF2B5EF4-FFF2-40B4-BE49-F238E27FC236}">
                <a16:creationId xmlns:a16="http://schemas.microsoft.com/office/drawing/2014/main" id="{D4522F89-1E56-F306-053D-C0B18C5254E7}"/>
              </a:ext>
            </a:extLst>
          </p:cNvPr>
          <p:cNvSpPr>
            <a:spLocks noGrp="1"/>
          </p:cNvSpPr>
          <p:nvPr>
            <p:ph type="ftr" sz="quarter" idx="11"/>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27A8B4BE-CB35-E626-11EF-80FAE0CAA2A0}"/>
              </a:ext>
            </a:extLst>
          </p:cNvPr>
          <p:cNvSpPr>
            <a:spLocks noGrp="1"/>
          </p:cNvSpPr>
          <p:nvPr>
            <p:ph type="dt" sz="half" idx="10"/>
          </p:nvPr>
        </p:nvSpPr>
        <p:spPr/>
        <p:txBody>
          <a:bodyPr/>
          <a:lstStyle>
            <a:lvl1pPr>
              <a:defRPr>
                <a:solidFill>
                  <a:schemeClr val="accent5"/>
                </a:solidFill>
              </a:defRPr>
            </a:lvl1pPr>
          </a:lstStyle>
          <a:p>
            <a:fld id="{3E210372-FEEA-4AC4-970C-33B7A2663863}" type="datetime1">
              <a:rPr lang="en-US" smtClean="0"/>
              <a:t>1/30/2026</a:t>
            </a:fld>
            <a:endParaRPr lang="en-US" dirty="0"/>
          </a:p>
        </p:txBody>
      </p:sp>
      <p:sp>
        <p:nvSpPr>
          <p:cNvPr id="12" name="Slide Number Placeholder 11">
            <a:extLst>
              <a:ext uri="{FF2B5EF4-FFF2-40B4-BE49-F238E27FC236}">
                <a16:creationId xmlns:a16="http://schemas.microsoft.com/office/drawing/2014/main" id="{A3CBFF5E-85B0-1C59-039F-716ADF0BFD76}"/>
              </a:ext>
            </a:extLst>
          </p:cNvPr>
          <p:cNvSpPr>
            <a:spLocks noGrp="1"/>
          </p:cNvSpPr>
          <p:nvPr>
            <p:ph type="sldNum" sz="quarter" idx="12"/>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090930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85800" y="1570071"/>
            <a:ext cx="7909560" cy="4906929"/>
          </a:xfrm>
        </p:spPr>
        <p:txBody>
          <a:bodyPr vert="horz" lIns="91440" tIns="45720" rIns="91440" bIns="45720" rtlCol="0" anchor="b">
            <a:normAutofit/>
          </a:bodyPr>
          <a:lstStyle>
            <a:lvl1pPr>
              <a:defRPr lang="en-US" sz="7400" dirty="0">
                <a:solidFill>
                  <a:schemeClr val="accent2"/>
                </a:solidFill>
              </a:defRPr>
            </a:lvl1pPr>
          </a:lstStyle>
          <a:p>
            <a:pPr lvl="0"/>
            <a:r>
              <a:rPr lang="en-US" dirty="0"/>
              <a:t>Section Header</a:t>
            </a:r>
          </a:p>
        </p:txBody>
      </p:sp>
      <p:sp>
        <p:nvSpPr>
          <p:cNvPr id="20" name="Footer Placeholder 19">
            <a:extLst>
              <a:ext uri="{FF2B5EF4-FFF2-40B4-BE49-F238E27FC236}">
                <a16:creationId xmlns:a16="http://schemas.microsoft.com/office/drawing/2014/main" id="{A6421593-F6C6-3F5E-1521-2D67AC36DF73}"/>
              </a:ext>
            </a:extLst>
          </p:cNvPr>
          <p:cNvSpPr>
            <a:spLocks noGrp="1"/>
          </p:cNvSpPr>
          <p:nvPr>
            <p:ph type="ftr" sz="quarter" idx="11"/>
          </p:nvPr>
        </p:nvSpPr>
        <p:spPr>
          <a:xfrm>
            <a:off x="0" y="0"/>
            <a:ext cx="1444752" cy="548640"/>
          </a:xfrm>
        </p:spPr>
        <p:txBody>
          <a:bodyPr/>
          <a:lstStyle>
            <a:lvl1pPr>
              <a:defRPr>
                <a:solidFill>
                  <a:schemeClr val="accent5"/>
                </a:solidFill>
              </a:defRPr>
            </a:lvl1pPr>
          </a:lstStyle>
          <a:p>
            <a:endParaRPr lang="en-US" dirty="0"/>
          </a:p>
        </p:txBody>
      </p:sp>
      <p:sp>
        <p:nvSpPr>
          <p:cNvPr id="19" name="Date Placeholder 18">
            <a:extLst>
              <a:ext uri="{FF2B5EF4-FFF2-40B4-BE49-F238E27FC236}">
                <a16:creationId xmlns:a16="http://schemas.microsoft.com/office/drawing/2014/main" id="{E4D20C53-6E70-6CC1-10F9-1060FA2FEDF5}"/>
              </a:ext>
            </a:extLst>
          </p:cNvPr>
          <p:cNvSpPr>
            <a:spLocks noGrp="1"/>
          </p:cNvSpPr>
          <p:nvPr>
            <p:ph type="dt" sz="half" idx="10"/>
          </p:nvPr>
        </p:nvSpPr>
        <p:spPr>
          <a:xfrm>
            <a:off x="10515600" y="0"/>
            <a:ext cx="1143000" cy="548640"/>
          </a:xfrm>
        </p:spPr>
        <p:txBody>
          <a:bodyPr/>
          <a:lstStyle>
            <a:lvl1pPr>
              <a:defRPr>
                <a:solidFill>
                  <a:schemeClr val="accent5"/>
                </a:solidFill>
              </a:defRPr>
            </a:lvl1pPr>
          </a:lstStyle>
          <a:p>
            <a:fld id="{CE424589-40F4-419B-AF69-0B32C3EA310D}" type="datetime1">
              <a:rPr lang="en-US" smtClean="0"/>
              <a:t>1/30/2026</a:t>
            </a:fld>
            <a:endParaRPr lang="en-US" dirty="0"/>
          </a:p>
        </p:txBody>
      </p:sp>
      <p:sp>
        <p:nvSpPr>
          <p:cNvPr id="21" name="Slide Number Placeholder 20">
            <a:extLst>
              <a:ext uri="{FF2B5EF4-FFF2-40B4-BE49-F238E27FC236}">
                <a16:creationId xmlns:a16="http://schemas.microsoft.com/office/drawing/2014/main" id="{CB2C1868-5A21-F4CD-B2C8-33C6E8227807}"/>
              </a:ext>
            </a:extLst>
          </p:cNvPr>
          <p:cNvSpPr>
            <a:spLocks noGrp="1"/>
          </p:cNvSpPr>
          <p:nvPr>
            <p:ph type="sldNum" sz="quarter" idx="12"/>
          </p:nvPr>
        </p:nvSpPr>
        <p:spPr>
          <a:xfrm>
            <a:off x="11644076" y="0"/>
            <a:ext cx="547924" cy="548640"/>
          </a:xfrm>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6437313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0" y="2834640"/>
            <a:ext cx="8686800" cy="3200400"/>
          </a:xfrm>
        </p:spPr>
        <p:txBody>
          <a:bodyPr>
            <a:normAutofit/>
          </a:bodyPr>
          <a:lstStyle>
            <a:lvl1pPr marL="457200" indent="-457200">
              <a:buClr>
                <a:schemeClr val="accent2">
                  <a:lumMod val="90000"/>
                </a:schemeClr>
              </a:buClr>
              <a:buFont typeface="+mj-lt"/>
              <a:buAutoNum type="arabicPeriod"/>
              <a:defRPr sz="2000"/>
            </a:lvl1pPr>
            <a:lvl2pPr marL="685800" indent="-4572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600"/>
            </a:lvl4pPr>
            <a:lvl5pPr marL="1257300" indent="-342900">
              <a:buClr>
                <a:schemeClr val="accent2">
                  <a:lumMod val="90000"/>
                </a:schemeClr>
              </a:buClr>
              <a:buFont typeface="+mj-lt"/>
              <a:buAutoNum type="arabicPeriod"/>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FCAF3811-AE9E-8CEE-4BB5-D49A25E57CAA}"/>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24" name="Footer Placeholder 23">
            <a:extLst>
              <a:ext uri="{FF2B5EF4-FFF2-40B4-BE49-F238E27FC236}">
                <a16:creationId xmlns:a16="http://schemas.microsoft.com/office/drawing/2014/main" id="{A94E7796-5FDC-648C-3C83-1CB92A985AD7}"/>
              </a:ext>
            </a:extLst>
          </p:cNvPr>
          <p:cNvSpPr>
            <a:spLocks noGrp="1"/>
          </p:cNvSpPr>
          <p:nvPr>
            <p:ph type="ftr" sz="quarter" idx="15"/>
          </p:nvPr>
        </p:nvSpPr>
        <p:spPr/>
        <p:txBody>
          <a:bodyPr/>
          <a:lstStyle/>
          <a:p>
            <a:endParaRPr lang="en-US" sz="900" dirty="0"/>
          </a:p>
        </p:txBody>
      </p:sp>
      <p:sp>
        <p:nvSpPr>
          <p:cNvPr id="23" name="Date Placeholder 22">
            <a:extLst>
              <a:ext uri="{FF2B5EF4-FFF2-40B4-BE49-F238E27FC236}">
                <a16:creationId xmlns:a16="http://schemas.microsoft.com/office/drawing/2014/main" id="{9AF25DA3-0D11-567E-8C45-641244EBFEDD}"/>
              </a:ext>
            </a:extLst>
          </p:cNvPr>
          <p:cNvSpPr>
            <a:spLocks noGrp="1"/>
          </p:cNvSpPr>
          <p:nvPr>
            <p:ph type="dt" sz="half" idx="14"/>
          </p:nvPr>
        </p:nvSpPr>
        <p:spPr/>
        <p:txBody>
          <a:bodyPr/>
          <a:lstStyle/>
          <a:p>
            <a:fld id="{337EC06B-606A-4EF4-ACAD-E3CEFED48C69}" type="datetime1">
              <a:rPr lang="en-US" smtClean="0"/>
              <a:t>1/30/2026</a:t>
            </a:fld>
            <a:endParaRPr lang="en-US" sz="900" dirty="0"/>
          </a:p>
        </p:txBody>
      </p:sp>
      <p:sp>
        <p:nvSpPr>
          <p:cNvPr id="25" name="Slide Number Placeholder 24">
            <a:extLst>
              <a:ext uri="{FF2B5EF4-FFF2-40B4-BE49-F238E27FC236}">
                <a16:creationId xmlns:a16="http://schemas.microsoft.com/office/drawing/2014/main" id="{0893736D-26B2-06DD-ABDD-15F3DD4D363C}"/>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144758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1" y="2834640"/>
            <a:ext cx="4358774" cy="3200400"/>
          </a:xfrm>
        </p:spPr>
        <p:txBody>
          <a:bodyPr>
            <a:normAutofit/>
          </a:bodyPr>
          <a:lstStyle>
            <a:lvl1pPr marL="457200" indent="-457200">
              <a:buClr>
                <a:schemeClr val="accent2">
                  <a:lumMod val="90000"/>
                </a:schemeClr>
              </a:buClr>
              <a:buFont typeface="+mj-lt"/>
              <a:buAutoNum type="arabicPeriod"/>
              <a:defRPr sz="2000"/>
            </a:lvl1pPr>
            <a:lvl2pPr marL="571500" indent="-3429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400"/>
            </a:lvl4pPr>
            <a:lvl5pPr>
              <a:buClr>
                <a:schemeClr val="accent2">
                  <a:lumMod val="90000"/>
                </a:schemeClr>
              </a:buCl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9"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5BBF0AEE-5A27-FCDE-3C64-4ACC7935FE49}"/>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9" name="Footer Placeholder 18">
            <a:extLst>
              <a:ext uri="{FF2B5EF4-FFF2-40B4-BE49-F238E27FC236}">
                <a16:creationId xmlns:a16="http://schemas.microsoft.com/office/drawing/2014/main" id="{7AFBA87F-7701-A29C-E9FC-66AEC272FB88}"/>
              </a:ext>
            </a:extLst>
          </p:cNvPr>
          <p:cNvSpPr>
            <a:spLocks noGrp="1"/>
          </p:cNvSpPr>
          <p:nvPr>
            <p:ph type="ftr" sz="quarter" idx="16"/>
          </p:nvPr>
        </p:nvSpPr>
        <p:spPr/>
        <p:txBody>
          <a:bodyPr/>
          <a:lstStyle>
            <a:lvl1pPr>
              <a:defRPr b="1"/>
            </a:lvl1pPr>
          </a:lstStyle>
          <a:p>
            <a:endParaRPr lang="en-US" b="1" dirty="0"/>
          </a:p>
        </p:txBody>
      </p:sp>
      <p:sp>
        <p:nvSpPr>
          <p:cNvPr id="18" name="Date Placeholder 17">
            <a:extLst>
              <a:ext uri="{FF2B5EF4-FFF2-40B4-BE49-F238E27FC236}">
                <a16:creationId xmlns:a16="http://schemas.microsoft.com/office/drawing/2014/main" id="{6800BE9B-CE8D-684B-DC80-1D80F6FAD4A7}"/>
              </a:ext>
            </a:extLst>
          </p:cNvPr>
          <p:cNvSpPr>
            <a:spLocks noGrp="1"/>
          </p:cNvSpPr>
          <p:nvPr>
            <p:ph type="dt" sz="half" idx="15"/>
          </p:nvPr>
        </p:nvSpPr>
        <p:spPr>
          <a:xfrm>
            <a:off x="5943600" y="6309360"/>
            <a:ext cx="1158375" cy="548640"/>
          </a:xfrm>
        </p:spPr>
        <p:txBody>
          <a:bodyPr/>
          <a:lstStyle>
            <a:lvl1pPr>
              <a:defRPr b="1"/>
            </a:lvl1pPr>
          </a:lstStyle>
          <a:p>
            <a:fld id="{FF503BB1-3C96-4F03-AA87-65D895BA80B8}" type="datetime1">
              <a:rPr lang="en-US" smtClean="0"/>
              <a:t>1/30/2026</a:t>
            </a:fld>
            <a:endParaRPr lang="en-US" b="1" dirty="0"/>
          </a:p>
        </p:txBody>
      </p:sp>
      <p:sp>
        <p:nvSpPr>
          <p:cNvPr id="20" name="Slide Number Placeholder 19">
            <a:extLst>
              <a:ext uri="{FF2B5EF4-FFF2-40B4-BE49-F238E27FC236}">
                <a16:creationId xmlns:a16="http://schemas.microsoft.com/office/drawing/2014/main" id="{D917E3BB-5497-4C52-A736-6EB57D97981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528533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DA49E-3CB9-75DC-406C-624924142015}"/>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5" name="Content Placeholder 7">
            <a:extLst>
              <a:ext uri="{FF2B5EF4-FFF2-40B4-BE49-F238E27FC236}">
                <a16:creationId xmlns:a16="http://schemas.microsoft.com/office/drawing/2014/main" id="{86084799-A017-90D1-4D71-0EEB7C83708E}"/>
              </a:ext>
            </a:extLst>
          </p:cNvPr>
          <p:cNvSpPr>
            <a:spLocks noGrp="1"/>
          </p:cNvSpPr>
          <p:nvPr>
            <p:ph sz="quarter" idx="17"/>
          </p:nvPr>
        </p:nvSpPr>
        <p:spPr>
          <a:xfrm>
            <a:off x="6748272" y="3841202"/>
            <a:ext cx="4754880" cy="1737358"/>
          </a:xfrm>
        </p:spPr>
        <p:txBody>
          <a:bodyPr>
            <a:normAutofit/>
          </a:bodyPr>
          <a:lstStyle>
            <a:lvl1pPr>
              <a:buNone/>
              <a:defRPr sz="1400"/>
            </a:lvl1pPr>
            <a:lvl2pPr>
              <a:buNone/>
              <a:defRPr sz="1400"/>
            </a:lvl2pPr>
            <a:lvl3pPr>
              <a:buNone/>
              <a:defRPr sz="1400"/>
            </a:lvl3pPr>
            <a:lvl4pPr>
              <a:buNone/>
              <a:defRPr sz="1400"/>
            </a:lvl4pPr>
            <a:lvl5pP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D7BC0DF-EFC8-44A3-68C2-E23FAA2E86C0}"/>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BD1AE523-650D-4E40-07AD-306A92A96690}"/>
              </a:ext>
            </a:extLst>
          </p:cNvPr>
          <p:cNvSpPr>
            <a:spLocks noGrp="1"/>
          </p:cNvSpPr>
          <p:nvPr>
            <p:ph type="dt" sz="half" idx="14"/>
          </p:nvPr>
        </p:nvSpPr>
        <p:spPr/>
        <p:txBody>
          <a:bodyPr/>
          <a:lstStyle/>
          <a:p>
            <a:fld id="{EAB37B39-C5FA-4FFF-A085-B5498F3F843E}" type="datetime1">
              <a:rPr lang="en-US" smtClean="0"/>
              <a:t>1/30/2026</a:t>
            </a:fld>
            <a:endParaRPr lang="en-US" dirty="0"/>
          </a:p>
        </p:txBody>
      </p:sp>
      <p:sp>
        <p:nvSpPr>
          <p:cNvPr id="15" name="Slide Number Placeholder 14">
            <a:extLst>
              <a:ext uri="{FF2B5EF4-FFF2-40B4-BE49-F238E27FC236}">
                <a16:creationId xmlns:a16="http://schemas.microsoft.com/office/drawing/2014/main" id="{0D499D6E-475E-9A93-7BC7-903ABDED9CB8}"/>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6E7C0D8B-3878-C48B-D6D9-56A0E34B7392}"/>
              </a:ext>
            </a:extLst>
          </p:cNvPr>
          <p:cNvCxnSpPr>
            <a:cxnSpLocks/>
          </p:cNvCxnSpPr>
          <p:nvPr userDrawn="1"/>
        </p:nvCxnSpPr>
        <p:spPr>
          <a:xfrm>
            <a:off x="6749562" y="3276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4162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748272" y="2362200"/>
            <a:ext cx="4754880" cy="356616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4E6FD18B-5C67-9051-4CF6-EBF315BAC1D7}"/>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540D6515-3CED-315D-0B1B-CD7499379459}"/>
              </a:ext>
            </a:extLst>
          </p:cNvPr>
          <p:cNvSpPr>
            <a:spLocks noGrp="1"/>
          </p:cNvSpPr>
          <p:nvPr>
            <p:ph type="dt" sz="half" idx="14"/>
          </p:nvPr>
        </p:nvSpPr>
        <p:spPr/>
        <p:txBody>
          <a:bodyPr/>
          <a:lstStyle/>
          <a:p>
            <a:fld id="{9B3BCCDC-CC87-45B4-AB67-DD3B186F0B13}" type="datetime1">
              <a:rPr lang="en-US" smtClean="0"/>
              <a:t>1/30/2026</a:t>
            </a:fld>
            <a:endParaRPr lang="en-US" dirty="0"/>
          </a:p>
        </p:txBody>
      </p:sp>
      <p:sp>
        <p:nvSpPr>
          <p:cNvPr id="15" name="Slide Number Placeholder 14">
            <a:extLst>
              <a:ext uri="{FF2B5EF4-FFF2-40B4-BE49-F238E27FC236}">
                <a16:creationId xmlns:a16="http://schemas.microsoft.com/office/drawing/2014/main" id="{75382665-9F43-96F8-F839-96F759686750}"/>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AD8F2E04-B970-1D22-A567-2F2D0BC65B4C}"/>
              </a:ext>
            </a:extLst>
          </p:cNvPr>
          <p:cNvCxnSpPr>
            <a:cxnSpLocks/>
          </p:cNvCxnSpPr>
          <p:nvPr userDrawn="1"/>
        </p:nvCxnSpPr>
        <p:spPr>
          <a:xfrm>
            <a:off x="6749562" y="1752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96534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923455" cy="4083580"/>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0189" cy="402336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C2122AFC-66BC-4995-1266-1DEB8CEC07DF}"/>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3B8C73B4-F675-DA6C-C87B-197265343AFD}"/>
              </a:ext>
            </a:extLst>
          </p:cNvPr>
          <p:cNvSpPr>
            <a:spLocks noGrp="1"/>
          </p:cNvSpPr>
          <p:nvPr>
            <p:ph type="dt" sz="half" idx="14"/>
          </p:nvPr>
        </p:nvSpPr>
        <p:spPr/>
        <p:txBody>
          <a:bodyPr/>
          <a:lstStyle/>
          <a:p>
            <a:fld id="{7D551459-7875-4599-9CDE-512F48C6788C}" type="datetime1">
              <a:rPr lang="en-US" smtClean="0"/>
              <a:t>1/30/2026</a:t>
            </a:fld>
            <a:endParaRPr lang="en-US" sz="900" dirty="0"/>
          </a:p>
        </p:txBody>
      </p:sp>
      <p:sp>
        <p:nvSpPr>
          <p:cNvPr id="18" name="Slide Number Placeholder 17">
            <a:extLst>
              <a:ext uri="{FF2B5EF4-FFF2-40B4-BE49-F238E27FC236}">
                <a16:creationId xmlns:a16="http://schemas.microsoft.com/office/drawing/2014/main" id="{666393A3-F281-C54B-A886-58CE88D421F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2822210B-9F08-A2FC-ADDB-C9286FF6D002}"/>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7630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496147" cy="4940661"/>
          </a:xfrm>
        </p:spPr>
        <p:txBody>
          <a:bodyPr anchor="t">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56010" y="1389888"/>
            <a:ext cx="6347141" cy="484632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B258506B-7F0E-1CE3-C46B-B55BBB0AA649}"/>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660A4F1D-9596-6174-4AAE-713716D1A047}"/>
              </a:ext>
            </a:extLst>
          </p:cNvPr>
          <p:cNvSpPr>
            <a:spLocks noGrp="1"/>
          </p:cNvSpPr>
          <p:nvPr>
            <p:ph type="dt" sz="half" idx="14"/>
          </p:nvPr>
        </p:nvSpPr>
        <p:spPr/>
        <p:txBody>
          <a:bodyPr/>
          <a:lstStyle/>
          <a:p>
            <a:fld id="{9A821586-EAD4-4D7F-9559-CC0CEE1BDC08}" type="datetime1">
              <a:rPr lang="en-US" smtClean="0"/>
              <a:t>1/30/2026</a:t>
            </a:fld>
            <a:endParaRPr lang="en-US" sz="900" dirty="0"/>
          </a:p>
        </p:txBody>
      </p:sp>
      <p:sp>
        <p:nvSpPr>
          <p:cNvPr id="18" name="Slide Number Placeholder 17">
            <a:extLst>
              <a:ext uri="{FF2B5EF4-FFF2-40B4-BE49-F238E27FC236}">
                <a16:creationId xmlns:a16="http://schemas.microsoft.com/office/drawing/2014/main" id="{A1B7F645-D4A6-2ED2-FBB7-EAEC112E433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B32B44DA-EDB3-13D8-52B2-CDD95FF668A6}"/>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2726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349754" cy="2721451"/>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685800"/>
            <a:ext cx="6858000"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Footer Placeholder 16">
            <a:extLst>
              <a:ext uri="{FF2B5EF4-FFF2-40B4-BE49-F238E27FC236}">
                <a16:creationId xmlns:a16="http://schemas.microsoft.com/office/drawing/2014/main" id="{3592DCB9-A492-FE13-AF1E-7F11E1AA031D}"/>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8399732B-F9A2-F949-D87A-745F525E4DEA}"/>
              </a:ext>
            </a:extLst>
          </p:cNvPr>
          <p:cNvSpPr>
            <a:spLocks noGrp="1"/>
          </p:cNvSpPr>
          <p:nvPr>
            <p:ph type="dt" sz="half" idx="14"/>
          </p:nvPr>
        </p:nvSpPr>
        <p:spPr/>
        <p:txBody>
          <a:bodyPr/>
          <a:lstStyle/>
          <a:p>
            <a:fld id="{40B30FD5-AD5D-49A2-92CF-1E31D5664159}" type="datetime1">
              <a:rPr lang="en-US" smtClean="0"/>
              <a:t>1/30/2026</a:t>
            </a:fld>
            <a:endParaRPr lang="en-US" sz="900" dirty="0"/>
          </a:p>
        </p:txBody>
      </p:sp>
      <p:sp>
        <p:nvSpPr>
          <p:cNvPr id="18" name="Slide Number Placeholder 17">
            <a:extLst>
              <a:ext uri="{FF2B5EF4-FFF2-40B4-BE49-F238E27FC236}">
                <a16:creationId xmlns:a16="http://schemas.microsoft.com/office/drawing/2014/main" id="{742CF50F-386B-7CF6-E6C9-25AA0F139AB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537962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685799"/>
            <a:ext cx="2651760" cy="2194560"/>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F04C9A45-DF85-730D-895E-DD4D54BB61F6}"/>
              </a:ext>
            </a:extLst>
          </p:cNvPr>
          <p:cNvSpPr>
            <a:spLocks noGrp="1"/>
          </p:cNvSpPr>
          <p:nvPr>
            <p:ph type="ftr" sz="quarter" idx="16"/>
          </p:nvPr>
        </p:nvSpPr>
        <p:spPr>
          <a:xfrm>
            <a:off x="8889055"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FCB8E9E7-C6AA-5486-0F1F-7CAF09412607}"/>
              </a:ext>
            </a:extLst>
          </p:cNvPr>
          <p:cNvSpPr>
            <a:spLocks noGrp="1"/>
          </p:cNvSpPr>
          <p:nvPr>
            <p:ph type="dt" sz="half" idx="15"/>
          </p:nvPr>
        </p:nvSpPr>
        <p:spPr/>
        <p:txBody>
          <a:bodyPr/>
          <a:lstStyle>
            <a:lvl1pPr>
              <a:defRPr b="0"/>
            </a:lvl1pPr>
          </a:lstStyle>
          <a:p>
            <a:fld id="{C51887B6-3287-4F43-BD0F-03436DF3BB1C}" type="datetime1">
              <a:rPr lang="en-US" smtClean="0"/>
              <a:t>1/30/2026</a:t>
            </a:fld>
            <a:endParaRPr lang="en-US" b="0" dirty="0"/>
          </a:p>
        </p:txBody>
      </p:sp>
      <p:sp>
        <p:nvSpPr>
          <p:cNvPr id="9" name="Slide Number Placeholder 8">
            <a:extLst>
              <a:ext uri="{FF2B5EF4-FFF2-40B4-BE49-F238E27FC236}">
                <a16:creationId xmlns:a16="http://schemas.microsoft.com/office/drawing/2014/main" id="{2458E34D-D287-598F-A8AC-381BD6C1F20D}"/>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59303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799"/>
            <a:ext cx="2651760" cy="21945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85800"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FAF1FD15-D660-8E99-2F30-F821EA8FBC04}"/>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17EB7F9-DC25-C1C0-FB90-D37C62D49000}"/>
              </a:ext>
            </a:extLst>
          </p:cNvPr>
          <p:cNvSpPr>
            <a:spLocks noGrp="1"/>
          </p:cNvSpPr>
          <p:nvPr>
            <p:ph type="dt" sz="half" idx="15"/>
          </p:nvPr>
        </p:nvSpPr>
        <p:spPr>
          <a:xfrm>
            <a:off x="2395637" y="6309360"/>
            <a:ext cx="914400" cy="548640"/>
          </a:xfrm>
        </p:spPr>
        <p:txBody>
          <a:bodyPr lIns="91440" rIns="91440"/>
          <a:lstStyle>
            <a:lvl1pPr algn="r">
              <a:defRPr b="1"/>
            </a:lvl1pPr>
          </a:lstStyle>
          <a:p>
            <a:fld id="{96915FBF-2967-4DC4-BA06-B4739097A819}" type="datetime1">
              <a:rPr lang="en-US" smtClean="0"/>
              <a:t>1/30/2026</a:t>
            </a:fld>
            <a:endParaRPr lang="en-US" b="1" dirty="0"/>
          </a:p>
        </p:txBody>
      </p:sp>
      <p:sp>
        <p:nvSpPr>
          <p:cNvPr id="9" name="Slide Number Placeholder 8">
            <a:extLst>
              <a:ext uri="{FF2B5EF4-FFF2-40B4-BE49-F238E27FC236}">
                <a16:creationId xmlns:a16="http://schemas.microsoft.com/office/drawing/2014/main" id="{5367B05B-9852-9253-5FA9-E7F01FA6DB0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5860920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5012268"/>
            <a:ext cx="4019522" cy="1127275"/>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5080"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14">
            <a:extLst>
              <a:ext uri="{FF2B5EF4-FFF2-40B4-BE49-F238E27FC236}">
                <a16:creationId xmlns:a16="http://schemas.microsoft.com/office/drawing/2014/main" id="{7D34CD9F-D768-826C-6068-D19E14300141}"/>
              </a:ext>
            </a:extLst>
          </p:cNvPr>
          <p:cNvSpPr>
            <a:spLocks noGrp="1"/>
          </p:cNvSpPr>
          <p:nvPr>
            <p:ph type="ftr" sz="quarter" idx="16"/>
          </p:nvPr>
        </p:nvSpPr>
        <p:spPr/>
        <p:txBody>
          <a:bodyPr/>
          <a:lstStyle/>
          <a:p>
            <a:endParaRPr lang="en-US" sz="900" dirty="0"/>
          </a:p>
        </p:txBody>
      </p:sp>
      <p:sp>
        <p:nvSpPr>
          <p:cNvPr id="14" name="Date Placeholder 13">
            <a:extLst>
              <a:ext uri="{FF2B5EF4-FFF2-40B4-BE49-F238E27FC236}">
                <a16:creationId xmlns:a16="http://schemas.microsoft.com/office/drawing/2014/main" id="{701BED28-357D-4F89-B9BA-B6464B9050E2}"/>
              </a:ext>
            </a:extLst>
          </p:cNvPr>
          <p:cNvSpPr>
            <a:spLocks noGrp="1"/>
          </p:cNvSpPr>
          <p:nvPr>
            <p:ph type="dt" sz="half" idx="15"/>
          </p:nvPr>
        </p:nvSpPr>
        <p:spPr/>
        <p:txBody>
          <a:bodyPr/>
          <a:lstStyle/>
          <a:p>
            <a:fld id="{9D4577F9-C786-4780-89C8-12002BF4222A}" type="datetime1">
              <a:rPr lang="en-US" smtClean="0"/>
              <a:t>1/30/2026</a:t>
            </a:fld>
            <a:endParaRPr lang="en-US" sz="900" dirty="0"/>
          </a:p>
        </p:txBody>
      </p:sp>
      <p:sp>
        <p:nvSpPr>
          <p:cNvPr id="16" name="Slide Number Placeholder 15">
            <a:extLst>
              <a:ext uri="{FF2B5EF4-FFF2-40B4-BE49-F238E27FC236}">
                <a16:creationId xmlns:a16="http://schemas.microsoft.com/office/drawing/2014/main" id="{C87ECC3B-C467-A778-F8B3-C3354B191A0C}"/>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4454501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85800"/>
            <a:ext cx="3291840" cy="1667226"/>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468880"/>
            <a:ext cx="3291840" cy="37490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6416BD78-1156-E2CB-92EF-CBDD752BE701}"/>
              </a:ext>
            </a:extLst>
          </p:cNvPr>
          <p:cNvSpPr>
            <a:spLocks noGrp="1"/>
          </p:cNvSpPr>
          <p:nvPr>
            <p:ph type="ftr" sz="quarter" idx="16"/>
          </p:nvPr>
        </p:nvSpPr>
        <p:spPr>
          <a:xfrm>
            <a:off x="8212790" y="6309360"/>
            <a:ext cx="1444752" cy="548640"/>
          </a:xfrm>
        </p:spPr>
        <p:txBody>
          <a:bodyPr lIns="91440" rIns="91440"/>
          <a:lstStyle>
            <a:lvl1pPr algn="l">
              <a:defRPr b="0"/>
            </a:lvl1pPr>
          </a:lstStyle>
          <a:p>
            <a:endParaRPr lang="en-US" b="0" dirty="0"/>
          </a:p>
        </p:txBody>
      </p:sp>
      <p:sp>
        <p:nvSpPr>
          <p:cNvPr id="7" name="Date Placeholder 6">
            <a:extLst>
              <a:ext uri="{FF2B5EF4-FFF2-40B4-BE49-F238E27FC236}">
                <a16:creationId xmlns:a16="http://schemas.microsoft.com/office/drawing/2014/main" id="{72E9ACE6-EBDD-9FEF-E30B-C49DF2B5EB34}"/>
              </a:ext>
            </a:extLst>
          </p:cNvPr>
          <p:cNvSpPr>
            <a:spLocks noGrp="1"/>
          </p:cNvSpPr>
          <p:nvPr>
            <p:ph type="dt" sz="half" idx="15"/>
          </p:nvPr>
        </p:nvSpPr>
        <p:spPr/>
        <p:txBody>
          <a:bodyPr/>
          <a:lstStyle>
            <a:lvl1pPr>
              <a:defRPr b="1"/>
            </a:lvl1pPr>
          </a:lstStyle>
          <a:p>
            <a:fld id="{346FB09A-52E0-4375-AC46-87B491BD0FD9}" type="datetime1">
              <a:rPr lang="en-US" smtClean="0"/>
              <a:t>1/30/2026</a:t>
            </a:fld>
            <a:endParaRPr lang="en-US" b="1" dirty="0"/>
          </a:p>
        </p:txBody>
      </p:sp>
      <p:sp>
        <p:nvSpPr>
          <p:cNvPr id="13" name="Slide Number Placeholder 12">
            <a:extLst>
              <a:ext uri="{FF2B5EF4-FFF2-40B4-BE49-F238E27FC236}">
                <a16:creationId xmlns:a16="http://schemas.microsoft.com/office/drawing/2014/main" id="{30CBF556-3E2C-96E3-002A-1B5CD303E47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51793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291840" cy="1667226"/>
          </a:xfr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468880"/>
            <a:ext cx="3291840" cy="3814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6E1A43F5-DA63-BB10-3630-B39550C555FC}"/>
              </a:ext>
            </a:extLst>
          </p:cNvPr>
          <p:cNvSpPr>
            <a:spLocks noGrp="1"/>
          </p:cNvSpPr>
          <p:nvPr>
            <p:ph type="ftr" sz="quarter" idx="16"/>
          </p:nvPr>
        </p:nvSpPr>
        <p:spPr/>
        <p:txBody>
          <a:bodyPr/>
          <a:lstStyle>
            <a:lvl1pPr>
              <a:defRPr b="0"/>
            </a:lvl1pPr>
          </a:lstStyle>
          <a:p>
            <a:endParaRPr lang="en-US" b="0" dirty="0"/>
          </a:p>
        </p:txBody>
      </p:sp>
      <p:sp>
        <p:nvSpPr>
          <p:cNvPr id="14" name="Date Placeholder 13">
            <a:extLst>
              <a:ext uri="{FF2B5EF4-FFF2-40B4-BE49-F238E27FC236}">
                <a16:creationId xmlns:a16="http://schemas.microsoft.com/office/drawing/2014/main" id="{9122A604-3126-053C-329B-F361F0C06D20}"/>
              </a:ext>
            </a:extLst>
          </p:cNvPr>
          <p:cNvSpPr>
            <a:spLocks noGrp="1"/>
          </p:cNvSpPr>
          <p:nvPr>
            <p:ph type="dt" sz="half" idx="15"/>
          </p:nvPr>
        </p:nvSpPr>
        <p:spPr>
          <a:xfrm>
            <a:off x="3063240" y="6309360"/>
            <a:ext cx="914400" cy="548640"/>
          </a:xfrm>
        </p:spPr>
        <p:txBody>
          <a:bodyPr lIns="91440" rIns="91440"/>
          <a:lstStyle>
            <a:lvl1pPr algn="r">
              <a:defRPr b="1"/>
            </a:lvl1pPr>
          </a:lstStyle>
          <a:p>
            <a:fld id="{1E895A57-89A1-4D9A-973F-A508C25AAE17}" type="datetime1">
              <a:rPr lang="en-US" smtClean="0"/>
              <a:t>1/30/2026</a:t>
            </a:fld>
            <a:endParaRPr lang="en-US" b="1" dirty="0"/>
          </a:p>
        </p:txBody>
      </p:sp>
      <p:sp>
        <p:nvSpPr>
          <p:cNvPr id="16" name="Slide Number Placeholder 15">
            <a:extLst>
              <a:ext uri="{FF2B5EF4-FFF2-40B4-BE49-F238E27FC236}">
                <a16:creationId xmlns:a16="http://schemas.microsoft.com/office/drawing/2014/main" id="{F0A79120-8B24-0DF4-8107-506DBEAA07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7253914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685800"/>
            <a:ext cx="4389120" cy="1280160"/>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949D437D-B77F-C121-8BA3-65C20A0FDC24}"/>
              </a:ext>
            </a:extLst>
          </p:cNvPr>
          <p:cNvSpPr>
            <a:spLocks noGrp="1"/>
          </p:cNvSpPr>
          <p:nvPr>
            <p:ph type="ftr" sz="quarter" idx="16"/>
          </p:nvPr>
        </p:nvSpPr>
        <p:spPr>
          <a:xfrm>
            <a:off x="7104889" y="6309360"/>
            <a:ext cx="1444752" cy="548640"/>
          </a:xfrm>
        </p:spPr>
        <p:txBody>
          <a:bodyPr lIns="91440" rIns="91440"/>
          <a:lstStyle>
            <a:lvl1pPr algn="l">
              <a:defRPr b="0"/>
            </a:lvl1pPr>
          </a:lstStyle>
          <a:p>
            <a:endParaRPr lang="en-US" b="0" dirty="0"/>
          </a:p>
        </p:txBody>
      </p:sp>
      <p:sp>
        <p:nvSpPr>
          <p:cNvPr id="14" name="Date Placeholder 13">
            <a:extLst>
              <a:ext uri="{FF2B5EF4-FFF2-40B4-BE49-F238E27FC236}">
                <a16:creationId xmlns:a16="http://schemas.microsoft.com/office/drawing/2014/main" id="{79900472-B335-DFA2-4332-6F5ECFE866CF}"/>
              </a:ext>
            </a:extLst>
          </p:cNvPr>
          <p:cNvSpPr>
            <a:spLocks noGrp="1"/>
          </p:cNvSpPr>
          <p:nvPr>
            <p:ph type="dt" sz="half" idx="15"/>
          </p:nvPr>
        </p:nvSpPr>
        <p:spPr/>
        <p:txBody>
          <a:bodyPr/>
          <a:lstStyle>
            <a:lvl1pPr>
              <a:defRPr b="0"/>
            </a:lvl1pPr>
          </a:lstStyle>
          <a:p>
            <a:fld id="{FE5062D3-5ABC-4149-AD2B-B4628FCC03BE}" type="datetime1">
              <a:rPr lang="en-US" smtClean="0"/>
              <a:t>1/30/2026</a:t>
            </a:fld>
            <a:endParaRPr lang="en-US" b="0" dirty="0"/>
          </a:p>
        </p:txBody>
      </p:sp>
      <p:sp>
        <p:nvSpPr>
          <p:cNvPr id="16" name="Slide Number Placeholder 15">
            <a:extLst>
              <a:ext uri="{FF2B5EF4-FFF2-40B4-BE49-F238E27FC236}">
                <a16:creationId xmlns:a16="http://schemas.microsoft.com/office/drawing/2014/main" id="{7BCFC63E-10B6-67ED-510E-4198601682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483388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389120"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Footer Placeholder 11">
            <a:extLst>
              <a:ext uri="{FF2B5EF4-FFF2-40B4-BE49-F238E27FC236}">
                <a16:creationId xmlns:a16="http://schemas.microsoft.com/office/drawing/2014/main" id="{15DB2D33-C4AD-9210-0361-1ED8CAFE801F}"/>
              </a:ext>
            </a:extLst>
          </p:cNvPr>
          <p:cNvSpPr>
            <a:spLocks noGrp="1"/>
          </p:cNvSpPr>
          <p:nvPr>
            <p:ph type="ftr" sz="quarter" idx="16"/>
          </p:nvPr>
        </p:nvSpPr>
        <p:spPr/>
        <p:txBody>
          <a:bodyPr/>
          <a:lstStyle>
            <a:lvl1pPr>
              <a:defRPr b="0"/>
            </a:lvl1pPr>
          </a:lstStyle>
          <a:p>
            <a:endParaRPr lang="en-US" b="0" dirty="0"/>
          </a:p>
        </p:txBody>
      </p:sp>
      <p:sp>
        <p:nvSpPr>
          <p:cNvPr id="10" name="Date Placeholder 9">
            <a:extLst>
              <a:ext uri="{FF2B5EF4-FFF2-40B4-BE49-F238E27FC236}">
                <a16:creationId xmlns:a16="http://schemas.microsoft.com/office/drawing/2014/main" id="{F238A9DF-AC38-D01B-9F44-E40F0332E72B}"/>
              </a:ext>
            </a:extLst>
          </p:cNvPr>
          <p:cNvSpPr>
            <a:spLocks noGrp="1"/>
          </p:cNvSpPr>
          <p:nvPr>
            <p:ph type="dt" sz="half" idx="15"/>
          </p:nvPr>
        </p:nvSpPr>
        <p:spPr>
          <a:xfrm>
            <a:off x="4160520" y="6309360"/>
            <a:ext cx="914400" cy="548640"/>
          </a:xfrm>
        </p:spPr>
        <p:txBody>
          <a:bodyPr lIns="91440" rIns="91440"/>
          <a:lstStyle>
            <a:lvl1pPr algn="r">
              <a:defRPr b="1"/>
            </a:lvl1pPr>
          </a:lstStyle>
          <a:p>
            <a:fld id="{0E8FAB13-78C9-4DD7-B1AD-FA9F202D4371}" type="datetime1">
              <a:rPr lang="en-US" smtClean="0"/>
              <a:t>1/30/2026</a:t>
            </a:fld>
            <a:endParaRPr lang="en-US" b="1" dirty="0"/>
          </a:p>
        </p:txBody>
      </p:sp>
      <p:sp>
        <p:nvSpPr>
          <p:cNvPr id="13" name="Slide Number Placeholder 12">
            <a:extLst>
              <a:ext uri="{FF2B5EF4-FFF2-40B4-BE49-F238E27FC236}">
                <a16:creationId xmlns:a16="http://schemas.microsoft.com/office/drawing/2014/main" id="{19BD9C04-DDA3-9724-5D4F-D0DE36829154}"/>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460440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3880757"/>
            <a:ext cx="3044954" cy="2245126"/>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06640"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5E1E2293-0981-CA67-BC69-2A34B16B7D29}"/>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519DAE2-7AAB-3D6B-7EF9-2627D8237C9F}"/>
              </a:ext>
            </a:extLst>
          </p:cNvPr>
          <p:cNvSpPr>
            <a:spLocks noGrp="1"/>
          </p:cNvSpPr>
          <p:nvPr>
            <p:ph type="dt" sz="half" idx="15"/>
          </p:nvPr>
        </p:nvSpPr>
        <p:spPr/>
        <p:txBody>
          <a:bodyPr/>
          <a:lstStyle/>
          <a:p>
            <a:fld id="{686979C8-52DD-493B-9F1B-E6F0872B6C99}" type="datetime1">
              <a:rPr lang="en-US" smtClean="0"/>
              <a:t>1/30/2026</a:t>
            </a:fld>
            <a:endParaRPr lang="en-US" sz="900" dirty="0"/>
          </a:p>
        </p:txBody>
      </p:sp>
      <p:sp>
        <p:nvSpPr>
          <p:cNvPr id="13" name="Slide Number Placeholder 12">
            <a:extLst>
              <a:ext uri="{FF2B5EF4-FFF2-40B4-BE49-F238E27FC236}">
                <a16:creationId xmlns:a16="http://schemas.microsoft.com/office/drawing/2014/main" id="{A05FD2C2-A97A-832C-423E-BD004E960397}"/>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101203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021873" cy="1773540"/>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685800"/>
            <a:ext cx="7360920"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95F48D1-80B9-D5A3-02FE-C55775ED181F}"/>
              </a:ext>
            </a:extLst>
          </p:cNvPr>
          <p:cNvSpPr>
            <a:spLocks noGrp="1"/>
          </p:cNvSpPr>
          <p:nvPr>
            <p:ph type="ftr" sz="quarter" idx="16"/>
          </p:nvPr>
        </p:nvSpPr>
        <p:spPr>
          <a:xfrm>
            <a:off x="609600" y="304800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06DF4A28-A60F-B442-081E-A6E44BF96F11}"/>
              </a:ext>
            </a:extLst>
          </p:cNvPr>
          <p:cNvSpPr>
            <a:spLocks noGrp="1"/>
          </p:cNvSpPr>
          <p:nvPr>
            <p:ph type="dt" sz="half" idx="15"/>
          </p:nvPr>
        </p:nvSpPr>
        <p:spPr>
          <a:xfrm>
            <a:off x="10668000" y="3048000"/>
            <a:ext cx="914400" cy="548640"/>
          </a:xfrm>
        </p:spPr>
        <p:txBody>
          <a:bodyPr lIns="91440" rIns="91440"/>
          <a:lstStyle>
            <a:lvl1pPr algn="r">
              <a:defRPr b="1"/>
            </a:lvl1pPr>
          </a:lstStyle>
          <a:p>
            <a:fld id="{7C03F42E-5F8D-4D93-8914-07006AA4742F}" type="datetime1">
              <a:rPr lang="en-US" smtClean="0"/>
              <a:t>1/30/2026</a:t>
            </a:fld>
            <a:endParaRPr lang="en-US" b="1"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7A9F18E4-7312-4847-6937-77479385814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50697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85800"/>
            <a:ext cx="6355080" cy="1280160"/>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2103120"/>
            <a:ext cx="635508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15">
            <a:extLst>
              <a:ext uri="{FF2B5EF4-FFF2-40B4-BE49-F238E27FC236}">
                <a16:creationId xmlns:a16="http://schemas.microsoft.com/office/drawing/2014/main" id="{F06C09F9-F830-FCE8-A68C-46E87CA1E1A3}"/>
              </a:ext>
            </a:extLst>
          </p:cNvPr>
          <p:cNvSpPr>
            <a:spLocks noGrp="1"/>
          </p:cNvSpPr>
          <p:nvPr>
            <p:ph type="ftr" sz="quarter" idx="16"/>
          </p:nvPr>
        </p:nvSpPr>
        <p:spPr>
          <a:xfrm>
            <a:off x="5157368" y="6309360"/>
            <a:ext cx="1444752" cy="548640"/>
          </a:xfrm>
        </p:spPr>
        <p:txBody>
          <a:bodyPr lIns="91440" rIns="91440"/>
          <a:lstStyle>
            <a:lvl1pPr algn="l">
              <a:defRPr b="0"/>
            </a:lvl1pPr>
          </a:lstStyle>
          <a:p>
            <a:endParaRPr lang="en-US" b="0" dirty="0"/>
          </a:p>
        </p:txBody>
      </p:sp>
      <p:sp>
        <p:nvSpPr>
          <p:cNvPr id="15" name="Date Placeholder 14">
            <a:extLst>
              <a:ext uri="{FF2B5EF4-FFF2-40B4-BE49-F238E27FC236}">
                <a16:creationId xmlns:a16="http://schemas.microsoft.com/office/drawing/2014/main" id="{D1819327-8877-34E6-BAFE-8B1ADD1A026A}"/>
              </a:ext>
            </a:extLst>
          </p:cNvPr>
          <p:cNvSpPr>
            <a:spLocks noGrp="1"/>
          </p:cNvSpPr>
          <p:nvPr>
            <p:ph type="dt" sz="half" idx="15"/>
          </p:nvPr>
        </p:nvSpPr>
        <p:spPr/>
        <p:txBody>
          <a:bodyPr/>
          <a:lstStyle>
            <a:lvl1pPr>
              <a:defRPr b="0"/>
            </a:lvl1pPr>
          </a:lstStyle>
          <a:p>
            <a:fld id="{375FA41B-5F76-41CD-B49E-9A2C1EDBDC1C}" type="datetime1">
              <a:rPr lang="en-US" smtClean="0"/>
              <a:t>1/30/2026</a:t>
            </a:fld>
            <a:endParaRPr lang="en-US" b="0" dirty="0"/>
          </a:p>
        </p:txBody>
      </p:sp>
      <p:sp>
        <p:nvSpPr>
          <p:cNvPr id="17" name="Slide Number Placeholder 16">
            <a:extLst>
              <a:ext uri="{FF2B5EF4-FFF2-40B4-BE49-F238E27FC236}">
                <a16:creationId xmlns:a16="http://schemas.microsoft.com/office/drawing/2014/main" id="{8D186B16-8BC2-A5C9-BAAE-FADB9B1DAD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4840276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3319"/>
            <a:ext cx="6355080" cy="128016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2103120"/>
            <a:ext cx="635508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18C2F483-D495-8615-D65D-DA8600D576F9}"/>
              </a:ext>
            </a:extLst>
          </p:cNvPr>
          <p:cNvSpPr>
            <a:spLocks noGrp="1"/>
          </p:cNvSpPr>
          <p:nvPr>
            <p:ph type="ftr" sz="quarter" idx="16"/>
          </p:nvPr>
        </p:nvSpPr>
        <p:spPr/>
        <p:txBody>
          <a:bodyPr/>
          <a:lstStyle>
            <a:lvl1pPr>
              <a:defRPr b="1"/>
            </a:lvl1pPr>
          </a:lstStyle>
          <a:p>
            <a:endParaRPr lang="en-US" b="1" dirty="0"/>
          </a:p>
        </p:txBody>
      </p:sp>
      <p:sp>
        <p:nvSpPr>
          <p:cNvPr id="15" name="Date Placeholder 14">
            <a:extLst>
              <a:ext uri="{FF2B5EF4-FFF2-40B4-BE49-F238E27FC236}">
                <a16:creationId xmlns:a16="http://schemas.microsoft.com/office/drawing/2014/main" id="{85C5EF50-1752-13E9-6E42-5841ABC0FBEA}"/>
              </a:ext>
            </a:extLst>
          </p:cNvPr>
          <p:cNvSpPr>
            <a:spLocks noGrp="1"/>
          </p:cNvSpPr>
          <p:nvPr>
            <p:ph type="dt" sz="half" idx="15"/>
          </p:nvPr>
        </p:nvSpPr>
        <p:spPr>
          <a:xfrm>
            <a:off x="6126480" y="6309360"/>
            <a:ext cx="914400" cy="548640"/>
          </a:xfrm>
        </p:spPr>
        <p:txBody>
          <a:bodyPr lIns="91440" rIns="91440"/>
          <a:lstStyle>
            <a:lvl1pPr algn="r">
              <a:defRPr b="1"/>
            </a:lvl1pPr>
          </a:lstStyle>
          <a:p>
            <a:fld id="{88367745-4856-49AE-A6C9-D1DAB93EF8FA}" type="datetime1">
              <a:rPr lang="en-US" smtClean="0"/>
              <a:t>1/30/2026</a:t>
            </a:fld>
            <a:endParaRPr lang="en-US" b="1" dirty="0"/>
          </a:p>
        </p:txBody>
      </p:sp>
      <p:sp>
        <p:nvSpPr>
          <p:cNvPr id="17" name="Slide Number Placeholder 16">
            <a:extLst>
              <a:ext uri="{FF2B5EF4-FFF2-40B4-BE49-F238E27FC236}">
                <a16:creationId xmlns:a16="http://schemas.microsoft.com/office/drawing/2014/main" id="{88303AB8-17D0-98A6-4FC4-DA144A3C3D03}"/>
              </a:ext>
            </a:extLst>
          </p:cNvPr>
          <p:cNvSpPr>
            <a:spLocks noGrp="1"/>
          </p:cNvSpPr>
          <p:nvPr>
            <p:ph type="sldNum" sz="quarter" idx="17"/>
          </p:nvPr>
        </p:nvSpPr>
        <p:spPr/>
        <p:txBody>
          <a:bodyPr/>
          <a:lstStyle>
            <a:lvl1pPr>
              <a:defRPr b="1"/>
            </a:lvl1pPr>
          </a:lstStyle>
          <a:p>
            <a:fld id="{AEAA3239-9EA4-4A65-A281-97F994456D9F}" type="slidenum">
              <a:rPr lang="en-US" smtClean="0"/>
              <a:pPr/>
              <a:t>‹#›</a:t>
            </a:fld>
            <a:endParaRPr lang="en-US" b="1" dirty="0"/>
          </a:p>
        </p:txBody>
      </p:sp>
    </p:spTree>
    <p:extLst>
      <p:ext uri="{BB962C8B-B14F-4D97-AF65-F5344CB8AC3E}">
        <p14:creationId xmlns:p14="http://schemas.microsoft.com/office/powerpoint/2010/main" val="17455226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800600" cy="40301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98699" y="1929384"/>
            <a:ext cx="619329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E1855EEC-64A7-8557-00F2-34BAD55D7715}"/>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8B5ECB5-3EA6-02B7-F063-A5E730E7FD12}"/>
              </a:ext>
            </a:extLst>
          </p:cNvPr>
          <p:cNvSpPr>
            <a:spLocks noGrp="1"/>
          </p:cNvSpPr>
          <p:nvPr>
            <p:ph type="dt" sz="half" idx="15"/>
          </p:nvPr>
        </p:nvSpPr>
        <p:spPr>
          <a:xfrm>
            <a:off x="4572000" y="6309360"/>
            <a:ext cx="914400" cy="548640"/>
          </a:xfrm>
        </p:spPr>
        <p:txBody>
          <a:bodyPr lIns="91440" rIns="91440"/>
          <a:lstStyle>
            <a:lvl1pPr algn="r">
              <a:defRPr b="0"/>
            </a:lvl1pPr>
          </a:lstStyle>
          <a:p>
            <a:fld id="{3EB76EE7-2380-45A8-B8C0-428576EBCDCC}" type="datetime1">
              <a:rPr lang="en-US" smtClean="0"/>
              <a:t>1/30/2026</a:t>
            </a:fld>
            <a:endParaRPr lang="en-US" b="0" dirty="0"/>
          </a:p>
        </p:txBody>
      </p:sp>
      <p:sp>
        <p:nvSpPr>
          <p:cNvPr id="6" name="Slide Number Placeholder 5">
            <a:extLst>
              <a:ext uri="{FF2B5EF4-FFF2-40B4-BE49-F238E27FC236}">
                <a16:creationId xmlns:a16="http://schemas.microsoft.com/office/drawing/2014/main" id="{D14ADD5B-B467-5C77-6425-DA88FE2B1475}"/>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7026678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94053" cy="822960"/>
          </a:xfrm>
        </p:spPr>
        <p:txBody>
          <a:bodyPr anchor="b"/>
          <a:lstStyle>
            <a:lvl1pPr>
              <a:defRPr>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6A41B650-18FE-DC40-485C-2F6529635CD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7B348545-42A7-9AA3-FDA3-0A5D1AE56FB9}"/>
              </a:ext>
            </a:extLst>
          </p:cNvPr>
          <p:cNvSpPr>
            <a:spLocks noGrp="1"/>
          </p:cNvSpPr>
          <p:nvPr>
            <p:ph type="dt" sz="half" idx="15"/>
          </p:nvPr>
        </p:nvSpPr>
        <p:spPr/>
        <p:txBody>
          <a:bodyPr/>
          <a:lstStyle>
            <a:lvl1pPr>
              <a:defRPr b="0"/>
            </a:lvl1pPr>
          </a:lstStyle>
          <a:p>
            <a:fld id="{E16A7A86-5B54-4D41-82BA-BA88ECE08AF3}" type="datetime1">
              <a:rPr lang="en-US" smtClean="0"/>
              <a:t>1/30/2026</a:t>
            </a:fld>
            <a:endParaRPr lang="en-US" b="0" dirty="0"/>
          </a:p>
        </p:txBody>
      </p:sp>
      <p:sp>
        <p:nvSpPr>
          <p:cNvPr id="7" name="Slide Number Placeholder 6">
            <a:extLst>
              <a:ext uri="{FF2B5EF4-FFF2-40B4-BE49-F238E27FC236}">
                <a16:creationId xmlns:a16="http://schemas.microsoft.com/office/drawing/2014/main" id="{FF60A5CF-2AD2-248B-9334-21FE69E9CDDE}"/>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0329067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2" y="1929384"/>
            <a:ext cx="618942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0" y="1929384"/>
            <a:ext cx="4800600" cy="4032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8F1B851-608B-7220-2C62-244DD0B1459F}"/>
              </a:ext>
            </a:extLst>
          </p:cNvPr>
          <p:cNvSpPr>
            <a:spLocks noGrp="1"/>
          </p:cNvSpPr>
          <p:nvPr>
            <p:ph type="ftr" sz="quarter" idx="16"/>
          </p:nvPr>
        </p:nvSpPr>
        <p:spPr>
          <a:xfrm>
            <a:off x="6675120"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4EE344B6-8ED4-0C8A-B0B8-E4C9D63791F1}"/>
              </a:ext>
            </a:extLst>
          </p:cNvPr>
          <p:cNvSpPr>
            <a:spLocks noGrp="1"/>
          </p:cNvSpPr>
          <p:nvPr>
            <p:ph type="dt" sz="half" idx="15"/>
          </p:nvPr>
        </p:nvSpPr>
        <p:spPr/>
        <p:txBody>
          <a:bodyPr/>
          <a:lstStyle>
            <a:lvl1pPr>
              <a:defRPr b="0"/>
            </a:lvl1pPr>
          </a:lstStyle>
          <a:p>
            <a:fld id="{72462FC5-90E4-4DDE-883F-FF979CED633F}" type="datetime1">
              <a:rPr lang="en-US" smtClean="0"/>
              <a:t>1/30/2026</a:t>
            </a:fld>
            <a:endParaRPr lang="en-US" b="0" dirty="0"/>
          </a:p>
        </p:txBody>
      </p:sp>
      <p:sp>
        <p:nvSpPr>
          <p:cNvPr id="6" name="Slide Number Placeholder 5">
            <a:extLst>
              <a:ext uri="{FF2B5EF4-FFF2-40B4-BE49-F238E27FC236}">
                <a16:creationId xmlns:a16="http://schemas.microsoft.com/office/drawing/2014/main" id="{AE56488B-0EEA-1A94-5A62-0F33581B0B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228734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6008" y="685800"/>
            <a:ext cx="6858000" cy="9144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6008" y="1737360"/>
            <a:ext cx="685800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12">
            <a:extLst>
              <a:ext uri="{FF2B5EF4-FFF2-40B4-BE49-F238E27FC236}">
                <a16:creationId xmlns:a16="http://schemas.microsoft.com/office/drawing/2014/main" id="{1896DE65-117D-2465-6BE7-21C9A149D165}"/>
              </a:ext>
            </a:extLst>
          </p:cNvPr>
          <p:cNvSpPr>
            <a:spLocks noGrp="1"/>
          </p:cNvSpPr>
          <p:nvPr>
            <p:ph type="ftr" sz="quarter" idx="16"/>
          </p:nvPr>
        </p:nvSpPr>
        <p:spPr>
          <a:xfrm>
            <a:off x="4636008" y="6309360"/>
            <a:ext cx="1444752" cy="548640"/>
          </a:xfrm>
        </p:spPr>
        <p:txBody>
          <a:bodyPr lIns="91440" rIns="91440"/>
          <a:lstStyle>
            <a:lvl1pPr algn="l">
              <a:defRPr b="0"/>
            </a:lvl1pPr>
          </a:lstStyle>
          <a:p>
            <a:endParaRPr lang="en-US" b="0" dirty="0"/>
          </a:p>
        </p:txBody>
      </p:sp>
      <p:sp>
        <p:nvSpPr>
          <p:cNvPr id="12" name="Date Placeholder 11">
            <a:extLst>
              <a:ext uri="{FF2B5EF4-FFF2-40B4-BE49-F238E27FC236}">
                <a16:creationId xmlns:a16="http://schemas.microsoft.com/office/drawing/2014/main" id="{BEAF1A48-6BB3-ACD3-DB15-8F9DA66C555D}"/>
              </a:ext>
            </a:extLst>
          </p:cNvPr>
          <p:cNvSpPr>
            <a:spLocks noGrp="1"/>
          </p:cNvSpPr>
          <p:nvPr>
            <p:ph type="dt" sz="half" idx="15"/>
          </p:nvPr>
        </p:nvSpPr>
        <p:spPr/>
        <p:txBody>
          <a:bodyPr/>
          <a:lstStyle>
            <a:lvl1pPr>
              <a:defRPr b="0"/>
            </a:lvl1pPr>
          </a:lstStyle>
          <a:p>
            <a:fld id="{262EF1AD-4170-453C-B59E-FD92AD0FDED9}" type="datetime1">
              <a:rPr lang="en-US" smtClean="0"/>
              <a:t>1/30/2026</a:t>
            </a:fld>
            <a:endParaRPr lang="en-US" b="0" dirty="0"/>
          </a:p>
        </p:txBody>
      </p:sp>
      <p:sp>
        <p:nvSpPr>
          <p:cNvPr id="14" name="Slide Number Placeholder 13">
            <a:extLst>
              <a:ext uri="{FF2B5EF4-FFF2-40B4-BE49-F238E27FC236}">
                <a16:creationId xmlns:a16="http://schemas.microsoft.com/office/drawing/2014/main" id="{B415E3A1-7470-0D90-97BB-7526A64B4DEC}"/>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3201490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6812280" cy="9144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737360"/>
            <a:ext cx="681228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2ECEE378-E274-E926-096B-A8B854278FA6}"/>
              </a:ext>
            </a:extLst>
          </p:cNvPr>
          <p:cNvSpPr>
            <a:spLocks noGrp="1"/>
          </p:cNvSpPr>
          <p:nvPr>
            <p:ph type="ftr" sz="quarter" idx="16"/>
          </p:nvPr>
        </p:nvSpPr>
        <p:spPr/>
        <p:txBody>
          <a:bodyPr/>
          <a:lstStyle>
            <a:lvl1pPr>
              <a:defRPr b="0"/>
            </a:lvl1pPr>
          </a:lstStyle>
          <a:p>
            <a:endParaRPr lang="en-US" b="0" dirty="0"/>
          </a:p>
        </p:txBody>
      </p:sp>
      <p:sp>
        <p:nvSpPr>
          <p:cNvPr id="12" name="Date Placeholder 11">
            <a:extLst>
              <a:ext uri="{FF2B5EF4-FFF2-40B4-BE49-F238E27FC236}">
                <a16:creationId xmlns:a16="http://schemas.microsoft.com/office/drawing/2014/main" id="{B1243D9C-0834-615A-B649-E632756F21F8}"/>
              </a:ext>
            </a:extLst>
          </p:cNvPr>
          <p:cNvSpPr>
            <a:spLocks noGrp="1"/>
          </p:cNvSpPr>
          <p:nvPr>
            <p:ph type="dt" sz="half" idx="15"/>
          </p:nvPr>
        </p:nvSpPr>
        <p:spPr>
          <a:xfrm>
            <a:off x="6583680" y="6309360"/>
            <a:ext cx="914400" cy="548640"/>
          </a:xfrm>
        </p:spPr>
        <p:txBody>
          <a:bodyPr lIns="91440" rIns="91440"/>
          <a:lstStyle>
            <a:lvl1pPr algn="r">
              <a:defRPr b="0"/>
            </a:lvl1pPr>
          </a:lstStyle>
          <a:p>
            <a:fld id="{44B74F20-C0BB-4D94-B309-38BDB995C3C2}" type="datetime1">
              <a:rPr lang="en-US" smtClean="0"/>
              <a:t>1/30/2026</a:t>
            </a:fld>
            <a:endParaRPr lang="en-US" b="0" dirty="0"/>
          </a:p>
        </p:txBody>
      </p:sp>
      <p:sp>
        <p:nvSpPr>
          <p:cNvPr id="14" name="Slide Number Placeholder 13">
            <a:extLst>
              <a:ext uri="{FF2B5EF4-FFF2-40B4-BE49-F238E27FC236}">
                <a16:creationId xmlns:a16="http://schemas.microsoft.com/office/drawing/2014/main" id="{0AD180D2-D0B3-DC9C-4936-A37A5DA4A17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5436844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599431" cy="1269482"/>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577840" cy="54053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B2D4D09-E82C-B2F9-ABEA-3B875C8BF2F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83C02B8D-0ADF-A11C-5121-599A31B18989}"/>
              </a:ext>
            </a:extLst>
          </p:cNvPr>
          <p:cNvSpPr>
            <a:spLocks noGrp="1"/>
          </p:cNvSpPr>
          <p:nvPr>
            <p:ph type="dt" sz="half" idx="15"/>
          </p:nvPr>
        </p:nvSpPr>
        <p:spPr/>
        <p:txBody>
          <a:bodyPr/>
          <a:lstStyle>
            <a:lvl1pPr>
              <a:defRPr b="0"/>
            </a:lvl1pPr>
          </a:lstStyle>
          <a:p>
            <a:fld id="{7D3A4631-D991-4A9E-B46A-5EF9ABB1988C}" type="datetime1">
              <a:rPr lang="en-US" smtClean="0"/>
              <a:t>1/30/2026</a:t>
            </a:fld>
            <a:endParaRPr lang="en-US" b="0" dirty="0"/>
          </a:p>
        </p:txBody>
      </p:sp>
      <p:sp>
        <p:nvSpPr>
          <p:cNvPr id="9" name="Slide Number Placeholder 8">
            <a:extLst>
              <a:ext uri="{FF2B5EF4-FFF2-40B4-BE49-F238E27FC236}">
                <a16:creationId xmlns:a16="http://schemas.microsoft.com/office/drawing/2014/main" id="{61E2F665-EA6F-42DF-E0C8-3A454ADCE2F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6428595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696859" cy="1316347"/>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28616" y="685800"/>
            <a:ext cx="658368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C34F1205-3AF5-4F37-74F5-48272216412E}"/>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ED8BD35-A31C-E5F7-034A-D16A1ED517CB}"/>
              </a:ext>
            </a:extLst>
          </p:cNvPr>
          <p:cNvSpPr>
            <a:spLocks noGrp="1"/>
          </p:cNvSpPr>
          <p:nvPr>
            <p:ph type="dt" sz="half" idx="15"/>
          </p:nvPr>
        </p:nvSpPr>
        <p:spPr/>
        <p:txBody>
          <a:bodyPr/>
          <a:lstStyle/>
          <a:p>
            <a:fld id="{E79B0CB9-6F49-43E8-A6A7-0A4878A4BB79}" type="datetime1">
              <a:rPr lang="en-US" smtClean="0"/>
              <a:t>1/30/2026</a:t>
            </a:fld>
            <a:endParaRPr lang="en-US" sz="900" dirty="0"/>
          </a:p>
        </p:txBody>
      </p:sp>
      <p:sp>
        <p:nvSpPr>
          <p:cNvPr id="13" name="Slide Number Placeholder 12">
            <a:extLst>
              <a:ext uri="{FF2B5EF4-FFF2-40B4-BE49-F238E27FC236}">
                <a16:creationId xmlns:a16="http://schemas.microsoft.com/office/drawing/2014/main" id="{0B842F13-DBA9-56D9-62B0-1F24805D0AE3}"/>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90451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89785" y="0"/>
            <a:ext cx="2340864" cy="234086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85432" y="3913632"/>
            <a:ext cx="4620768" cy="201168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6189785" y="3297117"/>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08B8947E-AADD-4C65-AABF-6CEA28A0E349}" type="datetime1">
              <a:rPr lang="en-US" smtClean="0"/>
              <a:t>1/30/2026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1655522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9600" y="685800"/>
            <a:ext cx="7086600" cy="1994799"/>
          </a:xfrm>
        </p:spPr>
        <p:txBody>
          <a:bodyPr anchor="b"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5800" y="1849317"/>
            <a:ext cx="289560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19600" y="3913632"/>
            <a:ext cx="3657600" cy="228600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4419600" y="3297117"/>
            <a:ext cx="7772400"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4A44E70E-64FD-4C01-96B7-4D0575065761}" type="datetime1">
              <a:rPr lang="en-US" smtClean="0"/>
              <a:t>1/30/2026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8517944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9204960" cy="1994799"/>
          </a:xfrm>
        </p:spPr>
        <p:txBody>
          <a:bodyPr anchor="b" anchorCtr="0">
            <a:normAutofit/>
          </a:bodyPr>
          <a:lstStyle>
            <a:lvl1pPr>
              <a:defRPr sz="60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5800" y="2971800"/>
            <a:ext cx="4297680" cy="2286000"/>
          </a:xfrm>
        </p:spPr>
        <p:txBody>
          <a:bodyPr>
            <a:normAutofit/>
          </a:bodyPr>
          <a:lstStyle>
            <a:lvl1pPr>
              <a:defRPr sz="1400">
                <a:solidFill>
                  <a:schemeClr val="accent3"/>
                </a:solidFill>
              </a:defRPr>
            </a:lvl1pPr>
            <a:lvl2pPr>
              <a:defRPr sz="1400">
                <a:solidFill>
                  <a:schemeClr val="accent3"/>
                </a:solidFill>
              </a:defRPr>
            </a:lvl2pPr>
            <a:lvl3pPr>
              <a:defRPr sz="1400">
                <a:solidFill>
                  <a:schemeClr val="accent3"/>
                </a:solidFill>
              </a:defRPr>
            </a:lvl3pPr>
            <a:lvl4pPr>
              <a:defRPr sz="1400">
                <a:solidFill>
                  <a:schemeClr val="accent3"/>
                </a:solidFill>
              </a:defRPr>
            </a:lvl4pPr>
            <a:lvl5pPr>
              <a:defRPr sz="1400">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867400" y="3947050"/>
            <a:ext cx="402336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1A9B7AE2-381D-4479-85FA-DDC6B048397D}" type="datetime1">
              <a:rPr lang="en-US" smtClean="0"/>
              <a:t>1/30/2026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9460877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0E36C6-12C4-A224-626E-2C76DF8CE206}"/>
              </a:ext>
            </a:extLst>
          </p:cNvPr>
          <p:cNvSpPr>
            <a:spLocks noGrp="1"/>
          </p:cNvSpPr>
          <p:nvPr>
            <p:ph type="title"/>
          </p:nvPr>
        </p:nvSpPr>
        <p:spPr>
          <a:xfrm>
            <a:off x="685800" y="4343400"/>
            <a:ext cx="6400800" cy="1554480"/>
          </a:xfrm>
        </p:spPr>
        <p:txBody>
          <a:bodyPr anchor="t">
            <a:normAutofit/>
          </a:bodyPr>
          <a:lstStyle>
            <a:lvl1pPr>
              <a:lnSpc>
                <a:spcPct val="110000"/>
              </a:lnSpc>
              <a:defRPr sz="2600" b="0">
                <a:solidFill>
                  <a:schemeClr val="accent4"/>
                </a:solidFill>
                <a:latin typeface="+mn-lt"/>
              </a:defRPr>
            </a:lvl1pPr>
          </a:lstStyle>
          <a:p>
            <a:r>
              <a:rPr lang="en-US"/>
              <a:t>Click to edit Master title style</a:t>
            </a:r>
          </a:p>
        </p:txBody>
      </p:sp>
      <p:sp>
        <p:nvSpPr>
          <p:cNvPr id="8" name="Footer Placeholder 7">
            <a:extLst>
              <a:ext uri="{FF2B5EF4-FFF2-40B4-BE49-F238E27FC236}">
                <a16:creationId xmlns:a16="http://schemas.microsoft.com/office/drawing/2014/main" id="{CDB53A99-6BE0-BB52-0F56-44CC0927B187}"/>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8E535CB3-CCA9-4326-77FA-5E6B8EF92084}"/>
              </a:ext>
            </a:extLst>
          </p:cNvPr>
          <p:cNvSpPr>
            <a:spLocks noGrp="1"/>
          </p:cNvSpPr>
          <p:nvPr>
            <p:ph type="dt" sz="half" idx="14"/>
          </p:nvPr>
        </p:nvSpPr>
        <p:spPr/>
        <p:txBody>
          <a:bodyPr/>
          <a:lstStyle>
            <a:lvl1pPr>
              <a:defRPr b="0">
                <a:solidFill>
                  <a:schemeClr val="accent5"/>
                </a:solidFill>
              </a:defRPr>
            </a:lvl1pPr>
          </a:lstStyle>
          <a:p>
            <a:fld id="{CCD0B644-7353-47FB-A9CD-90C1EC5198C5}" type="datetime1">
              <a:rPr lang="en-US" smtClean="0"/>
              <a:t>1/30/2026</a:t>
            </a:fld>
            <a:endParaRPr lang="en-US" b="0" dirty="0"/>
          </a:p>
        </p:txBody>
      </p:sp>
      <p:sp>
        <p:nvSpPr>
          <p:cNvPr id="9" name="Slide Number Placeholder 8">
            <a:extLst>
              <a:ext uri="{FF2B5EF4-FFF2-40B4-BE49-F238E27FC236}">
                <a16:creationId xmlns:a16="http://schemas.microsoft.com/office/drawing/2014/main" id="{BE0CF0A1-8196-D811-F81F-2062199D6CD4}"/>
              </a:ext>
            </a:extLst>
          </p:cNvPr>
          <p:cNvSpPr>
            <a:spLocks noGrp="1"/>
          </p:cNvSpPr>
          <p:nvPr>
            <p:ph type="sldNum" sz="quarter" idx="16"/>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
        <p:nvSpPr>
          <p:cNvPr id="4" name="Content Placeholder 4">
            <a:extLst>
              <a:ext uri="{FF2B5EF4-FFF2-40B4-BE49-F238E27FC236}">
                <a16:creationId xmlns:a16="http://schemas.microsoft.com/office/drawing/2014/main" id="{44B83042-AD1A-B6FF-E43A-53B8F34BF5D2}"/>
              </a:ext>
            </a:extLst>
          </p:cNvPr>
          <p:cNvSpPr>
            <a:spLocks noGrp="1"/>
          </p:cNvSpPr>
          <p:nvPr>
            <p:ph sz="quarter" idx="17" hasCustomPrompt="1"/>
          </p:nvPr>
        </p:nvSpPr>
        <p:spPr>
          <a:xfrm>
            <a:off x="685800" y="685270"/>
            <a:ext cx="10542588" cy="4208463"/>
          </a:xfrm>
        </p:spPr>
        <p:txBody>
          <a:bodyPr anchor="b"/>
          <a:lstStyle>
            <a:lvl1pPr>
              <a:buNone/>
              <a:defRPr sz="27000" b="1">
                <a:solidFill>
                  <a:schemeClr val="accent2"/>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Tree>
    <p:extLst>
      <p:ext uri="{BB962C8B-B14F-4D97-AF65-F5344CB8AC3E}">
        <p14:creationId xmlns:p14="http://schemas.microsoft.com/office/powerpoint/2010/main" val="274072757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71906-FF1C-7007-520A-0D59214B56F1}"/>
              </a:ext>
            </a:extLst>
          </p:cNvPr>
          <p:cNvSpPr>
            <a:spLocks noGrp="1"/>
          </p:cNvSpPr>
          <p:nvPr>
            <p:ph type="title"/>
          </p:nvPr>
        </p:nvSpPr>
        <p:spPr>
          <a:xfrm>
            <a:off x="7086598" y="2133601"/>
            <a:ext cx="4419602" cy="2819399"/>
          </a:xfrm>
        </p:spPr>
        <p:txBody>
          <a:bodyPr anchor="t">
            <a:normAutofit/>
          </a:bodyPr>
          <a:lstStyle>
            <a:lvl1pPr>
              <a:lnSpc>
                <a:spcPct val="110000"/>
              </a:lnSpc>
              <a:defRPr sz="28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0D7F0F0C-FFF4-C46A-9C4D-C4FEE4AF4EDC}"/>
              </a:ext>
            </a:extLst>
          </p:cNvPr>
          <p:cNvSpPr>
            <a:spLocks noGrp="1"/>
          </p:cNvSpPr>
          <p:nvPr>
            <p:ph sz="quarter" idx="17" hasCustomPrompt="1"/>
          </p:nvPr>
        </p:nvSpPr>
        <p:spPr>
          <a:xfrm>
            <a:off x="685800" y="2019300"/>
            <a:ext cx="5943600" cy="3566160"/>
          </a:xfrm>
        </p:spPr>
        <p:txBody>
          <a:bodyPr anchor="t"/>
          <a:lstStyle>
            <a:lvl1pPr>
              <a:lnSpc>
                <a:spcPct val="90000"/>
              </a:lnSpc>
              <a:buNone/>
              <a:defRPr sz="20000" b="1">
                <a:solidFill>
                  <a:schemeClr val="accent3"/>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D152274D-6DE6-72DB-B973-7A95BCE923B1}"/>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44322537-6020-4AF7-85B9-F89784BBF540}"/>
              </a:ext>
            </a:extLst>
          </p:cNvPr>
          <p:cNvSpPr>
            <a:spLocks noGrp="1"/>
          </p:cNvSpPr>
          <p:nvPr>
            <p:ph type="dt" sz="half" idx="14"/>
          </p:nvPr>
        </p:nvSpPr>
        <p:spPr/>
        <p:txBody>
          <a:bodyPr/>
          <a:lstStyle/>
          <a:p>
            <a:fld id="{00972090-F95D-4FB8-8306-BA3C45D77902}" type="datetime1">
              <a:rPr lang="en-US" smtClean="0"/>
              <a:t>1/30/2026</a:t>
            </a:fld>
            <a:endParaRPr lang="en-US" sz="900" dirty="0"/>
          </a:p>
        </p:txBody>
      </p:sp>
      <p:sp>
        <p:nvSpPr>
          <p:cNvPr id="12" name="Slide Number Placeholder 11">
            <a:extLst>
              <a:ext uri="{FF2B5EF4-FFF2-40B4-BE49-F238E27FC236}">
                <a16:creationId xmlns:a16="http://schemas.microsoft.com/office/drawing/2014/main" id="{AC16AC84-07A9-AC7D-B1FA-86EE8D5AF94F}"/>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756973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53039EA1-AD3C-6097-4DDF-F5608D616109}"/>
              </a:ext>
            </a:extLst>
          </p:cNvPr>
          <p:cNvSpPr>
            <a:spLocks noGrp="1"/>
          </p:cNvSpPr>
          <p:nvPr>
            <p:ph type="title"/>
          </p:nvPr>
        </p:nvSpPr>
        <p:spPr>
          <a:xfrm>
            <a:off x="6189784" y="4602480"/>
            <a:ext cx="5316416" cy="1554480"/>
          </a:xfrm>
        </p:spPr>
        <p:txBody>
          <a:bodyPr anchor="t">
            <a:normAutofit/>
          </a:bodyPr>
          <a:lstStyle>
            <a:lvl1pPr>
              <a:lnSpc>
                <a:spcPct val="110000"/>
              </a:lnSpc>
              <a:defRPr sz="26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61D45916-3648-A6CB-FEF5-ABDC163C5BFC}"/>
              </a:ext>
            </a:extLst>
          </p:cNvPr>
          <p:cNvSpPr>
            <a:spLocks noGrp="1"/>
          </p:cNvSpPr>
          <p:nvPr>
            <p:ph sz="quarter" idx="17" hasCustomPrompt="1"/>
          </p:nvPr>
        </p:nvSpPr>
        <p:spPr>
          <a:xfrm>
            <a:off x="685800" y="381000"/>
            <a:ext cx="7254240" cy="3474719"/>
          </a:xfrm>
        </p:spPr>
        <p:txBody>
          <a:bodyPr anchor="t"/>
          <a:lstStyle>
            <a:lvl1pPr>
              <a:lnSpc>
                <a:spcPct val="90000"/>
              </a:lnSpc>
              <a:buNone/>
              <a:defRPr sz="23000" b="1">
                <a:solidFill>
                  <a:schemeClr val="accent1"/>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0FF07871-E04F-A612-3847-493AD17EC970}"/>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1AEF37F4-9E77-D7A5-972D-44CD54192749}"/>
              </a:ext>
            </a:extLst>
          </p:cNvPr>
          <p:cNvSpPr>
            <a:spLocks noGrp="1"/>
          </p:cNvSpPr>
          <p:nvPr>
            <p:ph type="dt" sz="half" idx="14"/>
          </p:nvPr>
        </p:nvSpPr>
        <p:spPr/>
        <p:txBody>
          <a:bodyPr/>
          <a:lstStyle/>
          <a:p>
            <a:fld id="{497AC601-0A5D-4EE4-A09C-B2ED94683408}" type="datetime1">
              <a:rPr lang="en-US" smtClean="0"/>
              <a:t>1/30/2026</a:t>
            </a:fld>
            <a:endParaRPr lang="en-US" sz="900" dirty="0"/>
          </a:p>
        </p:txBody>
      </p:sp>
      <p:sp>
        <p:nvSpPr>
          <p:cNvPr id="12" name="Slide Number Placeholder 11">
            <a:extLst>
              <a:ext uri="{FF2B5EF4-FFF2-40B4-BE49-F238E27FC236}">
                <a16:creationId xmlns:a16="http://schemas.microsoft.com/office/drawing/2014/main" id="{94596C69-4405-AC98-2DEE-E2947221E9FB}"/>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F5632890-866D-1CA1-4620-7881649304CA}"/>
              </a:ext>
            </a:extLst>
          </p:cNvPr>
          <p:cNvCxnSpPr>
            <a:cxnSpLocks/>
          </p:cNvCxnSpPr>
          <p:nvPr userDrawn="1"/>
        </p:nvCxnSpPr>
        <p:spPr>
          <a:xfrm>
            <a:off x="6189785" y="4114800"/>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70835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74552A-A41B-0895-6EF6-738C28821467}"/>
              </a:ext>
            </a:extLst>
          </p:cNvPr>
          <p:cNvSpPr>
            <a:spLocks noGrp="1"/>
          </p:cNvSpPr>
          <p:nvPr>
            <p:ph type="title"/>
          </p:nvPr>
        </p:nvSpPr>
        <p:spPr>
          <a:xfrm>
            <a:off x="6934200" y="2636520"/>
            <a:ext cx="4572000" cy="3154680"/>
          </a:xfrm>
        </p:spPr>
        <p:txBody>
          <a:bodyPr anchor="t">
            <a:normAutofit/>
          </a:bodyPr>
          <a:lstStyle>
            <a:lvl1pPr>
              <a:lnSpc>
                <a:spcPct val="110000"/>
              </a:lnSpc>
              <a:defRPr sz="2000" b="0">
                <a:solidFill>
                  <a:schemeClr val="accent4"/>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2313E2DC-44BB-3688-3B61-B3DA96D58E2B}"/>
              </a:ext>
            </a:extLst>
          </p:cNvPr>
          <p:cNvSpPr>
            <a:spLocks noGrp="1"/>
          </p:cNvSpPr>
          <p:nvPr>
            <p:ph sz="quarter" idx="17" hasCustomPrompt="1"/>
          </p:nvPr>
        </p:nvSpPr>
        <p:spPr>
          <a:xfrm>
            <a:off x="685800" y="1844038"/>
            <a:ext cx="5669280" cy="4297681"/>
          </a:xfrm>
        </p:spPr>
        <p:txBody>
          <a:bodyPr anchor="t"/>
          <a:lstStyle>
            <a:lvl1pPr>
              <a:lnSpc>
                <a:spcPct val="90000"/>
              </a:lnSpc>
              <a:buNone/>
              <a:defRPr sz="18500" b="1">
                <a:solidFill>
                  <a:schemeClr val="accent5"/>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6E412CA3-624D-9EC5-0455-269A0F19703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0C9E9582-BFC4-2DE1-AAC3-77216CD8AF10}"/>
              </a:ext>
            </a:extLst>
          </p:cNvPr>
          <p:cNvSpPr>
            <a:spLocks noGrp="1"/>
          </p:cNvSpPr>
          <p:nvPr>
            <p:ph type="dt" sz="half" idx="14"/>
          </p:nvPr>
        </p:nvSpPr>
        <p:spPr/>
        <p:txBody>
          <a:bodyPr/>
          <a:lstStyle>
            <a:lvl1pPr>
              <a:defRPr>
                <a:solidFill>
                  <a:schemeClr val="accent5"/>
                </a:solidFill>
              </a:defRPr>
            </a:lvl1pPr>
          </a:lstStyle>
          <a:p>
            <a:fld id="{928E9DBA-F574-49B8-A000-DD2C6733F410}" type="datetime1">
              <a:rPr lang="en-US" smtClean="0"/>
              <a:t>1/30/2026</a:t>
            </a:fld>
            <a:endParaRPr lang="en-US" dirty="0"/>
          </a:p>
        </p:txBody>
      </p:sp>
      <p:sp>
        <p:nvSpPr>
          <p:cNvPr id="12" name="Slide Number Placeholder 11">
            <a:extLst>
              <a:ext uri="{FF2B5EF4-FFF2-40B4-BE49-F238E27FC236}">
                <a16:creationId xmlns:a16="http://schemas.microsoft.com/office/drawing/2014/main" id="{B6CA68CC-04B7-B57A-4A1D-6732593FE209}"/>
              </a:ext>
            </a:extLst>
          </p:cNvPr>
          <p:cNvSpPr>
            <a:spLocks noGrp="1"/>
          </p:cNvSpPr>
          <p:nvPr>
            <p:ph type="sldNum" sz="quarter" idx="16"/>
          </p:nvPr>
        </p:nvSpPr>
        <p:spPr>
          <a:solidFill>
            <a:schemeClr val="accent1">
              <a:lumMod val="90000"/>
              <a:lumOff val="10000"/>
            </a:schemeClr>
          </a:solidFill>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9D723FA3-CE00-5B24-003F-AB5A48CB4990}"/>
              </a:ext>
            </a:extLst>
          </p:cNvPr>
          <p:cNvCxnSpPr>
            <a:cxnSpLocks/>
          </p:cNvCxnSpPr>
          <p:nvPr userDrawn="1"/>
        </p:nvCxnSpPr>
        <p:spPr>
          <a:xfrm>
            <a:off x="6934200" y="2118897"/>
            <a:ext cx="5257800" cy="0"/>
          </a:xfrm>
          <a:prstGeom prst="line">
            <a:avLst/>
          </a:prstGeom>
          <a:ln w="53975">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6378295"/>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t">
            <a:normAutofit/>
          </a:bodyPr>
          <a:lstStyle>
            <a:lvl1pPr marL="0" indent="0">
              <a:lnSpc>
                <a:spcPct val="90000"/>
              </a:lnSpc>
              <a:buNone/>
              <a:defRPr sz="8000" b="1">
                <a:solidFill>
                  <a:schemeClr val="accent4"/>
                </a:solidFill>
              </a:defRPr>
            </a:lvl1pPr>
            <a:lvl2pPr marL="228600" indent="0">
              <a:lnSpc>
                <a:spcPct val="90000"/>
              </a:lnSpc>
              <a:buNone/>
              <a:defRPr sz="7200" b="1">
                <a:solidFill>
                  <a:schemeClr val="accent4"/>
                </a:solidFill>
              </a:defRPr>
            </a:lvl2pPr>
            <a:lvl3pPr marL="457200" indent="0">
              <a:lnSpc>
                <a:spcPct val="90000"/>
              </a:lnSpc>
              <a:buNone/>
              <a:defRPr sz="6600" b="1">
                <a:solidFill>
                  <a:schemeClr val="accent4"/>
                </a:solidFill>
              </a:defRPr>
            </a:lvl3pPr>
            <a:lvl4pPr marL="685800" indent="0">
              <a:lnSpc>
                <a:spcPct val="90000"/>
              </a:lnSpc>
              <a:buNone/>
              <a:defRPr sz="6000" b="1">
                <a:solidFill>
                  <a:schemeClr val="accent4"/>
                </a:solidFill>
              </a:defRPr>
            </a:lvl4pPr>
            <a:lvl5pPr marL="914400" indent="0">
              <a:lnSpc>
                <a:spcPct val="90000"/>
              </a:lnSpc>
              <a:buNone/>
              <a:defRPr sz="5400" b="1">
                <a:solidFill>
                  <a:schemeClr val="accent4"/>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0A9A09C8-E4BE-5919-277B-FC58BAB9F6BF}"/>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322477BB-2AE4-F703-A045-92BB59CC68FA}"/>
              </a:ext>
            </a:extLst>
          </p:cNvPr>
          <p:cNvSpPr>
            <a:spLocks noGrp="1"/>
          </p:cNvSpPr>
          <p:nvPr>
            <p:ph type="dt" sz="half" idx="14"/>
          </p:nvPr>
        </p:nvSpPr>
        <p:spPr/>
        <p:txBody>
          <a:bodyPr/>
          <a:lstStyle>
            <a:lvl1pPr>
              <a:defRPr b="0">
                <a:solidFill>
                  <a:schemeClr val="accent5"/>
                </a:solidFill>
              </a:defRPr>
            </a:lvl1pPr>
          </a:lstStyle>
          <a:p>
            <a:fld id="{C00E75E5-D496-4EC7-8813-684FB5336261}" type="datetime1">
              <a:rPr lang="en-US" smtClean="0"/>
              <a:t>1/30/2026</a:t>
            </a:fld>
            <a:endParaRPr lang="en-US" b="0" dirty="0"/>
          </a:p>
        </p:txBody>
      </p:sp>
      <p:sp>
        <p:nvSpPr>
          <p:cNvPr id="9" name="Slide Number Placeholder 8">
            <a:extLst>
              <a:ext uri="{FF2B5EF4-FFF2-40B4-BE49-F238E27FC236}">
                <a16:creationId xmlns:a16="http://schemas.microsoft.com/office/drawing/2014/main" id="{153F7A2E-5219-DA8D-BF53-2AA1E480FBAB}"/>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0769893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7315200" cy="5486400"/>
          </a:xfrm>
        </p:spPr>
        <p:txBody>
          <a:bodyPr anchor="t">
            <a:noAutofit/>
          </a:bodyPr>
          <a:lstStyle>
            <a:lvl1pPr marL="0" indent="0">
              <a:lnSpc>
                <a:spcPct val="90000"/>
              </a:lnSpc>
              <a:buNone/>
              <a:defRPr sz="6600" b="1">
                <a:solidFill>
                  <a:schemeClr val="accent3"/>
                </a:solidFill>
              </a:defRPr>
            </a:lvl1pPr>
            <a:lvl2pPr marL="228600" indent="0">
              <a:lnSpc>
                <a:spcPct val="90000"/>
              </a:lnSpc>
              <a:buNone/>
              <a:defRPr sz="6000" b="1">
                <a:solidFill>
                  <a:schemeClr val="accent3"/>
                </a:solidFill>
              </a:defRPr>
            </a:lvl2pPr>
            <a:lvl3pPr marL="457200" indent="0">
              <a:lnSpc>
                <a:spcPct val="90000"/>
              </a:lnSpc>
              <a:buNone/>
              <a:defRPr sz="5400" b="1">
                <a:solidFill>
                  <a:schemeClr val="accent3"/>
                </a:solidFill>
              </a:defRPr>
            </a:lvl3pPr>
            <a:lvl4pPr marL="685800" indent="0">
              <a:lnSpc>
                <a:spcPct val="90000"/>
              </a:lnSpc>
              <a:buNone/>
              <a:defRPr sz="4800" b="1">
                <a:solidFill>
                  <a:schemeClr val="accent3"/>
                </a:solidFill>
              </a:defRPr>
            </a:lvl4pPr>
            <a:lvl5pPr marL="914400" indent="0">
              <a:lnSpc>
                <a:spcPct val="90000"/>
              </a:lnSpc>
              <a:buNone/>
              <a:defRPr sz="4400" b="1">
                <a:solidFill>
                  <a:schemeClr val="accent3"/>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14888062-3D09-ED26-DC7F-447AB9A757FE}"/>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647EEF49-62B3-1E5C-5EAD-ED1B4557161E}"/>
              </a:ext>
            </a:extLst>
          </p:cNvPr>
          <p:cNvSpPr>
            <a:spLocks noGrp="1"/>
          </p:cNvSpPr>
          <p:nvPr>
            <p:ph type="dt" sz="half" idx="14"/>
          </p:nvPr>
        </p:nvSpPr>
        <p:spPr/>
        <p:txBody>
          <a:bodyPr/>
          <a:lstStyle/>
          <a:p>
            <a:fld id="{AEE77BEB-FE0B-4D99-BCD5-ECA5C6DB5BFD}" type="datetime1">
              <a:rPr lang="en-US" smtClean="0"/>
              <a:t>1/30/2026</a:t>
            </a:fld>
            <a:endParaRPr lang="en-US" sz="900" dirty="0"/>
          </a:p>
        </p:txBody>
      </p:sp>
      <p:sp>
        <p:nvSpPr>
          <p:cNvPr id="12" name="Slide Number Placeholder 11">
            <a:extLst>
              <a:ext uri="{FF2B5EF4-FFF2-40B4-BE49-F238E27FC236}">
                <a16:creationId xmlns:a16="http://schemas.microsoft.com/office/drawing/2014/main" id="{4FB220C6-3442-368E-4DEA-A07BD9C2B211}"/>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1859996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b">
            <a:normAutofit/>
          </a:bodyPr>
          <a:lstStyle>
            <a:lvl1pPr marL="0" indent="0">
              <a:lnSpc>
                <a:spcPct val="90000"/>
              </a:lnSpc>
              <a:buNone/>
              <a:defRPr sz="7200" b="1">
                <a:solidFill>
                  <a:schemeClr val="accent2"/>
                </a:solidFill>
              </a:defRPr>
            </a:lvl1pPr>
            <a:lvl2pPr marL="228600" indent="0">
              <a:lnSpc>
                <a:spcPct val="90000"/>
              </a:lnSpc>
              <a:buNone/>
              <a:defRPr sz="6600" b="1">
                <a:solidFill>
                  <a:schemeClr val="accent2"/>
                </a:solidFill>
              </a:defRPr>
            </a:lvl2pPr>
            <a:lvl3pPr marL="457200" indent="0">
              <a:lnSpc>
                <a:spcPct val="90000"/>
              </a:lnSpc>
              <a:buNone/>
              <a:defRPr sz="6000" b="1">
                <a:solidFill>
                  <a:schemeClr val="accent2"/>
                </a:solidFill>
              </a:defRPr>
            </a:lvl3pPr>
            <a:lvl4pPr marL="685800" indent="0">
              <a:lnSpc>
                <a:spcPct val="90000"/>
              </a:lnSpc>
              <a:buNone/>
              <a:defRPr sz="5400" b="1">
                <a:solidFill>
                  <a:schemeClr val="accent2"/>
                </a:solidFill>
              </a:defRPr>
            </a:lvl4pPr>
            <a:lvl5pPr marL="914400" indent="0">
              <a:lnSpc>
                <a:spcPct val="90000"/>
              </a:lnSpc>
              <a:buNone/>
              <a:defRPr sz="4800" b="1">
                <a:solidFill>
                  <a:schemeClr val="accent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BA51D93-9944-2BC9-815F-A60CA562409F}"/>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2C7E932F-30B9-A7ED-CEF9-ED7C120FCFBC}"/>
              </a:ext>
            </a:extLst>
          </p:cNvPr>
          <p:cNvSpPr>
            <a:spLocks noGrp="1"/>
          </p:cNvSpPr>
          <p:nvPr>
            <p:ph type="dt" sz="half" idx="14"/>
          </p:nvPr>
        </p:nvSpPr>
        <p:spPr/>
        <p:txBody>
          <a:bodyPr/>
          <a:lstStyle/>
          <a:p>
            <a:fld id="{205C1734-919B-490D-88CD-D33F70BB66A2}" type="datetime1">
              <a:rPr lang="en-US" smtClean="0"/>
              <a:t>1/30/2026</a:t>
            </a:fld>
            <a:endParaRPr lang="en-US" sz="900" dirty="0"/>
          </a:p>
        </p:txBody>
      </p:sp>
      <p:sp>
        <p:nvSpPr>
          <p:cNvPr id="12" name="Slide Number Placeholder 11">
            <a:extLst>
              <a:ext uri="{FF2B5EF4-FFF2-40B4-BE49-F238E27FC236}">
                <a16:creationId xmlns:a16="http://schemas.microsoft.com/office/drawing/2014/main" id="{2798614F-71F4-C3D8-BE5E-42ADD598643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3763704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0" y="685800"/>
            <a:ext cx="7315200" cy="5486400"/>
          </a:xfrm>
        </p:spPr>
        <p:txBody>
          <a:bodyPr vert="horz" lIns="91440" tIns="45720" rIns="91440" bIns="45720" rtlCol="0" anchor="ctr" anchorCtr="0">
            <a:noAutofit/>
          </a:bodyPr>
          <a:lstStyle>
            <a:lvl1pPr marL="0" indent="0">
              <a:lnSpc>
                <a:spcPct val="90000"/>
              </a:lnSpc>
              <a:buNone/>
              <a:defRPr lang="en-US" sz="6600" b="1" dirty="0">
                <a:solidFill>
                  <a:schemeClr val="accent5"/>
                </a:solidFill>
              </a:defRPr>
            </a:lvl1pPr>
            <a:lvl2pPr marL="228600" indent="0">
              <a:lnSpc>
                <a:spcPct val="90000"/>
              </a:lnSpc>
              <a:buNone/>
              <a:defRPr lang="en-US" sz="6000" b="1" dirty="0">
                <a:solidFill>
                  <a:schemeClr val="accent5"/>
                </a:solidFill>
              </a:defRPr>
            </a:lvl2pPr>
            <a:lvl3pPr marL="457200" indent="0">
              <a:lnSpc>
                <a:spcPct val="90000"/>
              </a:lnSpc>
              <a:buNone/>
              <a:defRPr lang="en-US" sz="5400" b="1" dirty="0">
                <a:solidFill>
                  <a:schemeClr val="accent5"/>
                </a:solidFill>
              </a:defRPr>
            </a:lvl3pPr>
            <a:lvl4pPr marL="685800" indent="0">
              <a:lnSpc>
                <a:spcPct val="90000"/>
              </a:lnSpc>
              <a:buNone/>
              <a:defRPr lang="en-US" sz="4800" b="1" dirty="0">
                <a:solidFill>
                  <a:schemeClr val="accent5"/>
                </a:solidFill>
              </a:defRPr>
            </a:lvl4pPr>
            <a:lvl5pPr marL="914400" indent="0">
              <a:lnSpc>
                <a:spcPct val="90000"/>
              </a:lnSpc>
              <a:buNone/>
              <a:defRPr lang="en-US" sz="4400" b="1" dirty="0">
                <a:solidFill>
                  <a:schemeClr val="accent5"/>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90C6FD0-8607-D553-1B6B-1C12B93B1EF6}"/>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B80EDC19-E133-BD03-8B9E-EFC28C3479E5}"/>
              </a:ext>
            </a:extLst>
          </p:cNvPr>
          <p:cNvSpPr>
            <a:spLocks noGrp="1"/>
          </p:cNvSpPr>
          <p:nvPr>
            <p:ph type="dt" sz="half" idx="14"/>
          </p:nvPr>
        </p:nvSpPr>
        <p:spPr/>
        <p:txBody>
          <a:bodyPr/>
          <a:lstStyle>
            <a:lvl1pPr>
              <a:defRPr>
                <a:solidFill>
                  <a:schemeClr val="accent5"/>
                </a:solidFill>
              </a:defRPr>
            </a:lvl1pPr>
          </a:lstStyle>
          <a:p>
            <a:fld id="{2E413318-8617-4118-8000-9B8B71A9711B}" type="datetime1">
              <a:rPr lang="en-US" smtClean="0"/>
              <a:t>1/30/2026</a:t>
            </a:fld>
            <a:endParaRPr lang="en-US" dirty="0"/>
          </a:p>
        </p:txBody>
      </p:sp>
      <p:sp>
        <p:nvSpPr>
          <p:cNvPr id="9" name="Slide Number Placeholder 8">
            <a:extLst>
              <a:ext uri="{FF2B5EF4-FFF2-40B4-BE49-F238E27FC236}">
                <a16:creationId xmlns:a16="http://schemas.microsoft.com/office/drawing/2014/main" id="{08591225-6735-2FDD-B652-0FE0C538238F}"/>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30544533"/>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b="1" i="0" spc="0">
                <a:solidFill>
                  <a:schemeClr val="accent3"/>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3631130-6E5E-49E0-2CBD-E94754D3F75B}"/>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F6C34576-FC8D-BC9E-CFBA-79D123C670A0}"/>
              </a:ext>
            </a:extLst>
          </p:cNvPr>
          <p:cNvSpPr>
            <a:spLocks noGrp="1"/>
          </p:cNvSpPr>
          <p:nvPr>
            <p:ph type="dt" sz="half" idx="14"/>
          </p:nvPr>
        </p:nvSpPr>
        <p:spPr/>
        <p:txBody>
          <a:bodyPr/>
          <a:lstStyle/>
          <a:p>
            <a:fld id="{FA32D114-3A62-416A-8DB9-04FC0453D181}" type="datetime1">
              <a:rPr lang="en-US" smtClean="0"/>
              <a:t>1/30/2026</a:t>
            </a:fld>
            <a:endParaRPr lang="en-US" sz="900" dirty="0"/>
          </a:p>
        </p:txBody>
      </p:sp>
      <p:sp>
        <p:nvSpPr>
          <p:cNvPr id="12" name="Slide Number Placeholder 11">
            <a:extLst>
              <a:ext uri="{FF2B5EF4-FFF2-40B4-BE49-F238E27FC236}">
                <a16:creationId xmlns:a16="http://schemas.microsoft.com/office/drawing/2014/main" id="{79801413-C7CE-D2ED-5246-79436772D727}"/>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9888378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ctr">
              <a:lnSpc>
                <a:spcPct val="120000"/>
              </a:lnSpc>
              <a:defRPr sz="2000" b="1" i="0" spc="0">
                <a:solidFill>
                  <a:schemeClr val="accent4"/>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gn="ctr">
              <a:lnSpc>
                <a:spcPct val="100000"/>
              </a:lnSpc>
              <a:spcBef>
                <a:spcPts val="0"/>
              </a:spcBef>
              <a:buNone/>
              <a:defRPr sz="4800">
                <a:solidFill>
                  <a:schemeClr val="accent5"/>
                </a:solidFill>
                <a:latin typeface="+mn-lt"/>
              </a:defRPr>
            </a:lvl1pPr>
          </a:lstStyle>
          <a:p>
            <a:pPr lvl="0"/>
            <a:r>
              <a:rPr lang="en-US" dirty="0"/>
              <a:t>Click to add Quote</a:t>
            </a:r>
          </a:p>
        </p:txBody>
      </p:sp>
      <p:sp>
        <p:nvSpPr>
          <p:cNvPr id="8" name="Footer Placeholder 7">
            <a:extLst>
              <a:ext uri="{FF2B5EF4-FFF2-40B4-BE49-F238E27FC236}">
                <a16:creationId xmlns:a16="http://schemas.microsoft.com/office/drawing/2014/main" id="{A1ED4BA2-8217-E4F1-3985-07ED463BB182}"/>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20985B1D-F04F-8CE5-8ECA-5DD078E4BE6D}"/>
              </a:ext>
            </a:extLst>
          </p:cNvPr>
          <p:cNvSpPr>
            <a:spLocks noGrp="1"/>
          </p:cNvSpPr>
          <p:nvPr>
            <p:ph type="dt" sz="half" idx="14"/>
          </p:nvPr>
        </p:nvSpPr>
        <p:spPr/>
        <p:txBody>
          <a:bodyPr/>
          <a:lstStyle>
            <a:lvl1pPr>
              <a:defRPr>
                <a:solidFill>
                  <a:schemeClr val="accent5"/>
                </a:solidFill>
              </a:defRPr>
            </a:lvl1pPr>
          </a:lstStyle>
          <a:p>
            <a:fld id="{2798C5F0-ACA7-492C-9525-49D0F5FBBF60}" type="datetime1">
              <a:rPr lang="en-US" smtClean="0"/>
              <a:t>1/30/2026</a:t>
            </a:fld>
            <a:endParaRPr lang="en-US" dirty="0"/>
          </a:p>
        </p:txBody>
      </p:sp>
      <p:sp>
        <p:nvSpPr>
          <p:cNvPr id="9" name="Slide Number Placeholder 8">
            <a:extLst>
              <a:ext uri="{FF2B5EF4-FFF2-40B4-BE49-F238E27FC236}">
                <a16:creationId xmlns:a16="http://schemas.microsoft.com/office/drawing/2014/main" id="{75C980F6-2991-82D6-64DF-4B1D50E66E06}"/>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7016887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i="0" spc="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solidFill>
                  <a:schemeClr val="accent1"/>
                </a:solidFill>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F53C451-001F-5730-91EB-CE3683BD9989}"/>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5EF02229-BED1-8CF1-37B7-C194BEA8DCE6}"/>
              </a:ext>
            </a:extLst>
          </p:cNvPr>
          <p:cNvSpPr>
            <a:spLocks noGrp="1"/>
          </p:cNvSpPr>
          <p:nvPr>
            <p:ph type="dt" sz="half" idx="14"/>
          </p:nvPr>
        </p:nvSpPr>
        <p:spPr/>
        <p:txBody>
          <a:bodyPr/>
          <a:lstStyle/>
          <a:p>
            <a:fld id="{2DBEDBDA-227C-41DF-A0C4-903DF2F99D15}" type="datetime1">
              <a:rPr lang="en-US" smtClean="0"/>
              <a:t>1/30/2026</a:t>
            </a:fld>
            <a:endParaRPr lang="en-US" sz="900" dirty="0"/>
          </a:p>
        </p:txBody>
      </p:sp>
      <p:sp>
        <p:nvSpPr>
          <p:cNvPr id="12" name="Slide Number Placeholder 11">
            <a:extLst>
              <a:ext uri="{FF2B5EF4-FFF2-40B4-BE49-F238E27FC236}">
                <a16:creationId xmlns:a16="http://schemas.microsoft.com/office/drawing/2014/main" id="{FB094225-DC44-88E5-DDBA-DEA1B118441A}"/>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398813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1188720"/>
          </a:xfrm>
        </p:spPr>
        <p:txBody>
          <a:bodyPr anchor="b"/>
          <a:lstStyle>
            <a:lvl1pPr>
              <a:defRPr>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5800" y="2011680"/>
            <a:ext cx="507492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30963" y="2011680"/>
            <a:ext cx="5075237"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F59911E2-7BDF-655C-A107-1BA817F14AFC}"/>
              </a:ext>
            </a:extLst>
          </p:cNvPr>
          <p:cNvSpPr>
            <a:spLocks noGrp="1"/>
          </p:cNvSpPr>
          <p:nvPr>
            <p:ph type="ftr" sz="quarter" idx="18"/>
          </p:nvPr>
        </p:nvSpPr>
        <p:spPr/>
        <p:txBody>
          <a:bodyPr/>
          <a:lstStyle/>
          <a:p>
            <a:endParaRPr lang="en-US" sz="900" dirty="0"/>
          </a:p>
        </p:txBody>
      </p:sp>
      <p:sp>
        <p:nvSpPr>
          <p:cNvPr id="11" name="Date Placeholder 10">
            <a:extLst>
              <a:ext uri="{FF2B5EF4-FFF2-40B4-BE49-F238E27FC236}">
                <a16:creationId xmlns:a16="http://schemas.microsoft.com/office/drawing/2014/main" id="{77469F7E-DA26-B77A-24F9-A4A8A2CE5831}"/>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13" name="Slide Number Placeholder 12">
            <a:extLst>
              <a:ext uri="{FF2B5EF4-FFF2-40B4-BE49-F238E27FC236}">
                <a16:creationId xmlns:a16="http://schemas.microsoft.com/office/drawing/2014/main" id="{7A3FC417-2883-CB13-B3D3-A80CEA07C35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2201292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85800" y="685800"/>
            <a:ext cx="10789920" cy="1188720"/>
          </a:xfrm>
        </p:spPr>
        <p:txBody>
          <a:bodyPr anchor="b"/>
          <a:lstStyle>
            <a:lvl1pPr>
              <a:defRPr>
                <a:solidFill>
                  <a:schemeClr val="accent5"/>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8580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85800" y="2651760"/>
            <a:ext cx="5075238"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3128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30644" y="2651760"/>
            <a:ext cx="5075556"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2B39D6C5-BE49-C661-9547-60F27AEF1145}"/>
              </a:ext>
            </a:extLst>
          </p:cNvPr>
          <p:cNvSpPr>
            <a:spLocks noGrp="1"/>
          </p:cNvSpPr>
          <p:nvPr>
            <p:ph type="ftr" sz="quarter" idx="18"/>
          </p:nvPr>
        </p:nvSpPr>
        <p:spPr/>
        <p:txBody>
          <a:bodyPr/>
          <a:lstStyle/>
          <a:p>
            <a:endParaRPr lang="en-US" sz="900" dirty="0"/>
          </a:p>
        </p:txBody>
      </p:sp>
      <p:sp>
        <p:nvSpPr>
          <p:cNvPr id="13" name="Date Placeholder 12">
            <a:extLst>
              <a:ext uri="{FF2B5EF4-FFF2-40B4-BE49-F238E27FC236}">
                <a16:creationId xmlns:a16="http://schemas.microsoft.com/office/drawing/2014/main" id="{358AA496-C21D-D9BA-4441-CB0D35E3388E}"/>
              </a:ext>
            </a:extLst>
          </p:cNvPr>
          <p:cNvSpPr>
            <a:spLocks noGrp="1"/>
          </p:cNvSpPr>
          <p:nvPr>
            <p:ph type="dt" sz="half" idx="17"/>
          </p:nvPr>
        </p:nvSpPr>
        <p:spPr/>
        <p:txBody>
          <a:bodyPr/>
          <a:lstStyle/>
          <a:p>
            <a:fld id="{24BB9295-C80A-4AE3-BDE6-0BC5A09672FF}" type="datetime1">
              <a:rPr lang="en-US" smtClean="0"/>
              <a:t>1/30/2026</a:t>
            </a:fld>
            <a:endParaRPr lang="en-US" sz="900" dirty="0"/>
          </a:p>
        </p:txBody>
      </p:sp>
      <p:sp>
        <p:nvSpPr>
          <p:cNvPr id="15" name="Slide Number Placeholder 14">
            <a:extLst>
              <a:ext uri="{FF2B5EF4-FFF2-40B4-BE49-F238E27FC236}">
                <a16:creationId xmlns:a16="http://schemas.microsoft.com/office/drawing/2014/main" id="{A14FF259-D602-DA0A-DF2B-6CE86DB8CD7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333964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85800" y="685799"/>
            <a:ext cx="10789920" cy="11887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F6083F3C-184F-9AB4-3CF8-AB7B6B28E8FF}"/>
              </a:ext>
            </a:extLst>
          </p:cNvPr>
          <p:cNvSpPr>
            <a:spLocks noGrp="1"/>
          </p:cNvSpPr>
          <p:nvPr>
            <p:ph type="ftr" sz="quarter" idx="11"/>
          </p:nvPr>
        </p:nvSpPr>
        <p:spPr/>
        <p:txBody>
          <a:bodyPr/>
          <a:lstStyle/>
          <a:p>
            <a:endParaRPr lang="en-US" sz="900" dirty="0"/>
          </a:p>
        </p:txBody>
      </p:sp>
      <p:sp>
        <p:nvSpPr>
          <p:cNvPr id="9" name="Date Placeholder 8">
            <a:extLst>
              <a:ext uri="{FF2B5EF4-FFF2-40B4-BE49-F238E27FC236}">
                <a16:creationId xmlns:a16="http://schemas.microsoft.com/office/drawing/2014/main" id="{5B003226-9C9B-760D-F310-838151EA35F0}"/>
              </a:ext>
            </a:extLst>
          </p:cNvPr>
          <p:cNvSpPr>
            <a:spLocks noGrp="1"/>
          </p:cNvSpPr>
          <p:nvPr>
            <p:ph type="dt" sz="half" idx="10"/>
          </p:nvPr>
        </p:nvSpPr>
        <p:spPr/>
        <p:txBody>
          <a:bodyPr/>
          <a:lstStyle/>
          <a:p>
            <a:fld id="{DA2ABAB1-FF50-40B7-87E8-FB60025711CA}" type="datetime1">
              <a:rPr lang="en-US" smtClean="0"/>
              <a:t>1/30/2026</a:t>
            </a:fld>
            <a:endParaRPr lang="en-US" sz="900" dirty="0"/>
          </a:p>
        </p:txBody>
      </p:sp>
      <p:sp>
        <p:nvSpPr>
          <p:cNvPr id="11" name="Slide Number Placeholder 10">
            <a:extLst>
              <a:ext uri="{FF2B5EF4-FFF2-40B4-BE49-F238E27FC236}">
                <a16:creationId xmlns:a16="http://schemas.microsoft.com/office/drawing/2014/main" id="{AD8E6416-8BD1-7EAC-101A-165523AED7E9}"/>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5442822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7988658D-22AE-BD1E-2194-23A4DEE178E8}"/>
              </a:ext>
            </a:extLst>
          </p:cNvPr>
          <p:cNvSpPr>
            <a:spLocks noGrp="1"/>
          </p:cNvSpPr>
          <p:nvPr>
            <p:ph type="ftr" sz="quarter" idx="11"/>
          </p:nvPr>
        </p:nvSpPr>
        <p:spPr/>
        <p:txBody>
          <a:bodyPr/>
          <a:lstStyle/>
          <a:p>
            <a:endParaRPr lang="en-US" sz="900" dirty="0"/>
          </a:p>
        </p:txBody>
      </p:sp>
      <p:sp>
        <p:nvSpPr>
          <p:cNvPr id="8" name="Date Placeholder 7">
            <a:extLst>
              <a:ext uri="{FF2B5EF4-FFF2-40B4-BE49-F238E27FC236}">
                <a16:creationId xmlns:a16="http://schemas.microsoft.com/office/drawing/2014/main" id="{7611BE8B-2319-4D2A-B61B-A76F79C11B43}"/>
              </a:ext>
            </a:extLst>
          </p:cNvPr>
          <p:cNvSpPr>
            <a:spLocks noGrp="1"/>
          </p:cNvSpPr>
          <p:nvPr>
            <p:ph type="dt" sz="half" idx="10"/>
          </p:nvPr>
        </p:nvSpPr>
        <p:spPr/>
        <p:txBody>
          <a:bodyPr/>
          <a:lstStyle/>
          <a:p>
            <a:fld id="{E064D98F-2C05-462A-8334-F2E41A8BBA46}" type="datetime1">
              <a:rPr lang="en-US" smtClean="0"/>
              <a:t>1/30/2026</a:t>
            </a:fld>
            <a:endParaRPr lang="en-US" sz="900" dirty="0"/>
          </a:p>
        </p:txBody>
      </p:sp>
      <p:sp>
        <p:nvSpPr>
          <p:cNvPr id="10" name="Slide Number Placeholder 9">
            <a:extLst>
              <a:ext uri="{FF2B5EF4-FFF2-40B4-BE49-F238E27FC236}">
                <a16:creationId xmlns:a16="http://schemas.microsoft.com/office/drawing/2014/main" id="{FE9B630E-4992-25E4-131E-3732411818F5}"/>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5970507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0" y="685800"/>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758922" y="685800"/>
            <a:ext cx="6716798" cy="178308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685800" y="2743200"/>
            <a:ext cx="10789920" cy="32766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2116188E-994D-4106-FFA0-FA5FAE5222A4}"/>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E69C042F-DD36-4382-89A5-D5F37D9AFE39}"/>
              </a:ext>
            </a:extLst>
          </p:cNvPr>
          <p:cNvSpPr>
            <a:spLocks noGrp="1"/>
          </p:cNvSpPr>
          <p:nvPr>
            <p:ph type="dt" sz="half" idx="10"/>
          </p:nvPr>
        </p:nvSpPr>
        <p:spPr/>
        <p:txBody>
          <a:bodyPr/>
          <a:lstStyle/>
          <a:p>
            <a:fld id="{9A5EAA51-F9B0-4C5F-805D-33E4EEE70560}" type="datetime1">
              <a:rPr lang="en-US" smtClean="0"/>
              <a:t>1/30/2026</a:t>
            </a:fld>
            <a:endParaRPr lang="en-US" sz="900" dirty="0"/>
          </a:p>
        </p:txBody>
      </p:sp>
      <p:sp>
        <p:nvSpPr>
          <p:cNvPr id="13" name="Slide Number Placeholder 12">
            <a:extLst>
              <a:ext uri="{FF2B5EF4-FFF2-40B4-BE49-F238E27FC236}">
                <a16:creationId xmlns:a16="http://schemas.microsoft.com/office/drawing/2014/main" id="{881B1974-8A9A-3A32-983C-2F7ABFD3993D}"/>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3696493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85800" y="685800"/>
            <a:ext cx="3595634" cy="176208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5800" y="2826136"/>
            <a:ext cx="3585586" cy="348322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81221" y="557785"/>
            <a:ext cx="6462855" cy="5729164"/>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2" name="Footer Placeholder 11">
            <a:extLst>
              <a:ext uri="{FF2B5EF4-FFF2-40B4-BE49-F238E27FC236}">
                <a16:creationId xmlns:a16="http://schemas.microsoft.com/office/drawing/2014/main" id="{344F0780-CE7B-8466-F8D7-A8B139060BF8}"/>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D462242E-A1CE-C25C-AECE-88020BB0423A}"/>
              </a:ext>
            </a:extLst>
          </p:cNvPr>
          <p:cNvSpPr>
            <a:spLocks noGrp="1"/>
          </p:cNvSpPr>
          <p:nvPr>
            <p:ph type="dt" sz="half" idx="10"/>
          </p:nvPr>
        </p:nvSpPr>
        <p:spPr/>
        <p:txBody>
          <a:bodyPr/>
          <a:lstStyle/>
          <a:p>
            <a:fld id="{BA611CFD-382B-47DC-ADC6-A0CEB82A7794}" type="datetime1">
              <a:rPr lang="en-US" smtClean="0"/>
              <a:t>1/30/2026</a:t>
            </a:fld>
            <a:endParaRPr lang="en-US" sz="900" dirty="0"/>
          </a:p>
        </p:txBody>
      </p:sp>
      <p:sp>
        <p:nvSpPr>
          <p:cNvPr id="13" name="Slide Number Placeholder 12">
            <a:extLst>
              <a:ext uri="{FF2B5EF4-FFF2-40B4-BE49-F238E27FC236}">
                <a16:creationId xmlns:a16="http://schemas.microsoft.com/office/drawing/2014/main" id="{506D6421-F2CB-C568-A79B-89C8377F4B4F}"/>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67939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10789920" cy="1965960"/>
          </a:xfrm>
        </p:spPr>
        <p:txBody>
          <a:bodyPr anchor="b">
            <a:normAutofit/>
          </a:bodyPr>
          <a:lstStyle>
            <a:lvl1pPr>
              <a:defRPr sz="7200">
                <a:solidFill>
                  <a:schemeClr val="accent4"/>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85800" y="3017520"/>
            <a:ext cx="10789920" cy="2773136"/>
          </a:xfrm>
        </p:spPr>
        <p:txBody>
          <a:bodyPr/>
          <a:lstStyle>
            <a:lvl1pPr marL="0" indent="0">
              <a:buNone/>
              <a:defRPr>
                <a:solidFill>
                  <a:schemeClr val="accent5"/>
                </a:solidFill>
              </a:defRPr>
            </a:lvl1pPr>
            <a:lvl2pPr marL="228600" indent="0">
              <a:buNone/>
              <a:defRPr>
                <a:solidFill>
                  <a:schemeClr val="accent5"/>
                </a:solidFill>
              </a:defRPr>
            </a:lvl2pPr>
            <a:lvl3pPr marL="457200" indent="0">
              <a:buNone/>
              <a:defRPr>
                <a:solidFill>
                  <a:schemeClr val="accent5"/>
                </a:solidFill>
              </a:defRPr>
            </a:lvl3pPr>
            <a:lvl4pPr marL="685800" indent="0">
              <a:buNone/>
              <a:defRPr>
                <a:solidFill>
                  <a:schemeClr val="accent5"/>
                </a:solidFill>
              </a:defRPr>
            </a:lvl4pPr>
            <a:lvl5pPr marL="914400" indent="0">
              <a:buNone/>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D5E24FB6-1CFB-DFDB-B253-A94EE73DA04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9E073DF3-A339-FA08-30E1-D51D43DF29FE}"/>
              </a:ext>
            </a:extLst>
          </p:cNvPr>
          <p:cNvSpPr>
            <a:spLocks noGrp="1"/>
          </p:cNvSpPr>
          <p:nvPr>
            <p:ph type="dt" sz="half" idx="14"/>
          </p:nvPr>
        </p:nvSpPr>
        <p:spPr/>
        <p:txBody>
          <a:bodyPr/>
          <a:lstStyle>
            <a:lvl1pPr>
              <a:defRPr>
                <a:solidFill>
                  <a:schemeClr val="accent5"/>
                </a:solidFill>
              </a:defRPr>
            </a:lvl1pPr>
          </a:lstStyle>
          <a:p>
            <a:fld id="{33B90DD1-F1E0-496B-B15F-47D63B8E5FB8}" type="datetime1">
              <a:rPr lang="en-US" smtClean="0"/>
              <a:t>1/30/2026</a:t>
            </a:fld>
            <a:endParaRPr lang="en-US" dirty="0"/>
          </a:p>
        </p:txBody>
      </p:sp>
      <p:sp>
        <p:nvSpPr>
          <p:cNvPr id="9" name="Slide Number Placeholder 8">
            <a:extLst>
              <a:ext uri="{FF2B5EF4-FFF2-40B4-BE49-F238E27FC236}">
                <a16:creationId xmlns:a16="http://schemas.microsoft.com/office/drawing/2014/main" id="{F32A04C2-283A-CF86-15A9-6CD9A58FCC9E}"/>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072799840"/>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8430767" cy="1965960"/>
          </a:xfrm>
        </p:spPr>
        <p:txBody>
          <a:bodyPr anchor="b">
            <a:noAutofit/>
          </a:bodyPr>
          <a:lstStyle>
            <a:lvl1pPr>
              <a:defRPr sz="7200">
                <a:solidFill>
                  <a:schemeClr val="accent5"/>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85800" y="3622674"/>
            <a:ext cx="8430639" cy="1608008"/>
          </a:xfrm>
        </p:spPr>
        <p:txBody>
          <a:bodyPr>
            <a:normAutofit/>
          </a:bodyPr>
          <a:lstStyle>
            <a:lvl1pPr marL="0" indent="0">
              <a:buNone/>
              <a:defRPr sz="1800">
                <a:solidFill>
                  <a:schemeClr val="accent4"/>
                </a:solidFill>
              </a:defRPr>
            </a:lvl1pPr>
            <a:lvl2pPr marL="228600" indent="0">
              <a:buNone/>
              <a:defRPr sz="1600">
                <a:solidFill>
                  <a:schemeClr val="accent4"/>
                </a:solidFill>
              </a:defRPr>
            </a:lvl2pPr>
            <a:lvl3pPr marL="457200" indent="0">
              <a:buNone/>
              <a:defRPr sz="1400">
                <a:solidFill>
                  <a:schemeClr val="accent4"/>
                </a:solidFill>
              </a:defRPr>
            </a:lvl3pPr>
            <a:lvl4pPr marL="685800" indent="0">
              <a:buNone/>
              <a:defRPr sz="1400">
                <a:solidFill>
                  <a:schemeClr val="accent4"/>
                </a:solidFill>
              </a:defRPr>
            </a:lvl4pPr>
            <a:lvl5pPr marL="914400" indent="0">
              <a:buNone/>
              <a:defRPr sz="1200">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0E3BB01-4AB0-AA29-4E5F-6183A4EBE7A5}"/>
              </a:ext>
            </a:extLst>
          </p:cNvPr>
          <p:cNvSpPr>
            <a:spLocks noGrp="1"/>
          </p:cNvSpPr>
          <p:nvPr>
            <p:ph type="ftr" sz="quarter" idx="16"/>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663C4AE6-76FB-D1A9-546D-BC69C27BC893}"/>
              </a:ext>
            </a:extLst>
          </p:cNvPr>
          <p:cNvSpPr>
            <a:spLocks noGrp="1"/>
          </p:cNvSpPr>
          <p:nvPr>
            <p:ph type="dt" sz="half" idx="15"/>
          </p:nvPr>
        </p:nvSpPr>
        <p:spPr/>
        <p:txBody>
          <a:bodyPr/>
          <a:lstStyle>
            <a:lvl1pPr>
              <a:defRPr>
                <a:solidFill>
                  <a:schemeClr val="accent5"/>
                </a:solidFill>
              </a:defRPr>
            </a:lvl1pPr>
          </a:lstStyle>
          <a:p>
            <a:fld id="{BB64C06F-4095-491F-9E20-BA7FA8931860}" type="datetime1">
              <a:rPr lang="en-US" smtClean="0"/>
              <a:t>1/30/2026</a:t>
            </a:fld>
            <a:endParaRPr lang="en-US" dirty="0"/>
          </a:p>
        </p:txBody>
      </p:sp>
      <p:sp>
        <p:nvSpPr>
          <p:cNvPr id="9" name="Slide Number Placeholder 8">
            <a:extLst>
              <a:ext uri="{FF2B5EF4-FFF2-40B4-BE49-F238E27FC236}">
                <a16:creationId xmlns:a16="http://schemas.microsoft.com/office/drawing/2014/main" id="{71356B48-B74F-B1CA-D675-AF12CB06D8A1}"/>
              </a:ext>
            </a:extLst>
          </p:cNvPr>
          <p:cNvSpPr>
            <a:spLocks noGrp="1"/>
          </p:cNvSpPr>
          <p:nvPr>
            <p:ph type="sldNum" sz="quarter" idx="17"/>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0812363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85800" y="685800"/>
            <a:ext cx="10789920" cy="972373"/>
          </a:xfrm>
          <a:prstGeom prst="rect">
            <a:avLst/>
          </a:prstGeom>
          <a:ln>
            <a:noFill/>
          </a:ln>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85800" y="1828800"/>
            <a:ext cx="10789920" cy="43891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363200" y="6309360"/>
            <a:ext cx="1295400"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fld id="{8380909B-5CD7-4E10-93D5-3D93F3E305F0}" type="datetime1">
              <a:rPr lang="en-US" smtClean="0"/>
              <a:t>1/30/2026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0" y="6309360"/>
            <a:ext cx="1444752"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noChangeAspect="1"/>
          </p:cNvSpPr>
          <p:nvPr>
            <p:ph type="sldNum" sz="quarter" idx="4"/>
          </p:nvPr>
        </p:nvSpPr>
        <p:spPr>
          <a:xfrm>
            <a:off x="11644076" y="6309360"/>
            <a:ext cx="547924" cy="548640"/>
          </a:xfrm>
          <a:prstGeom prst="rect">
            <a:avLst/>
          </a:prstGeom>
          <a:solidFill>
            <a:schemeClr val="accent1"/>
          </a:solidFill>
        </p:spPr>
        <p:txBody>
          <a:bodyPr vert="horz" lIns="91440" tIns="45720" rIns="91440" bIns="45720" rtlCol="0" anchor="ctr"/>
          <a:lstStyle>
            <a:lvl1pPr algn="ctr" rtl="0">
              <a:defRPr sz="900" b="1" i="0">
                <a:solidFill>
                  <a:schemeClr val="accent5"/>
                </a:solidFill>
                <a:latin typeface="+mj-lt"/>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3559526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3600" b="1" i="0" kern="1200" spc="0" baseline="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50.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8.svg"/><Relationship Id="rId9" Type="http://schemas.openxmlformats.org/officeDocument/2006/relationships/image" Target="../media/image19.png"/><Relationship Id="rId14" Type="http://schemas.openxmlformats.org/officeDocument/2006/relationships/image" Target="../media/image24.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0.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3" Type="http://schemas.openxmlformats.org/officeDocument/2006/relationships/image" Target="../media/image7.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notesSlide" Target="../notesSlides/notesSlide13.xml"/><Relationship Id="rId1" Type="http://schemas.openxmlformats.org/officeDocument/2006/relationships/slideLayout" Target="../slideLayouts/slideLayout50.xml"/><Relationship Id="rId6" Type="http://schemas.openxmlformats.org/officeDocument/2006/relationships/image" Target="../media/image16.svg"/><Relationship Id="rId11" Type="http://schemas.openxmlformats.org/officeDocument/2006/relationships/image" Target="../media/image31.png"/><Relationship Id="rId5" Type="http://schemas.openxmlformats.org/officeDocument/2006/relationships/image" Target="../media/image15.png"/><Relationship Id="rId10" Type="http://schemas.openxmlformats.org/officeDocument/2006/relationships/image" Target="../media/image30.svg"/><Relationship Id="rId4" Type="http://schemas.openxmlformats.org/officeDocument/2006/relationships/image" Target="../media/image8.svg"/><Relationship Id="rId9" Type="http://schemas.openxmlformats.org/officeDocument/2006/relationships/image" Target="../media/image29.png"/><Relationship Id="rId14" Type="http://schemas.openxmlformats.org/officeDocument/2006/relationships/image" Target="../media/image34.svg"/></Relationships>
</file>

<file path=ppt/slides/_rels/slide14.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7.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notesSlide" Target="../notesSlides/notesSlide14.xml"/><Relationship Id="rId1" Type="http://schemas.openxmlformats.org/officeDocument/2006/relationships/slideLayout" Target="../slideLayouts/slideLayout50.xml"/><Relationship Id="rId6" Type="http://schemas.openxmlformats.org/officeDocument/2006/relationships/image" Target="../media/image16.svg"/><Relationship Id="rId11" Type="http://schemas.openxmlformats.org/officeDocument/2006/relationships/image" Target="../media/image39.png"/><Relationship Id="rId5" Type="http://schemas.openxmlformats.org/officeDocument/2006/relationships/image" Target="../media/image15.png"/><Relationship Id="rId10" Type="http://schemas.openxmlformats.org/officeDocument/2006/relationships/image" Target="../media/image38.svg"/><Relationship Id="rId4" Type="http://schemas.openxmlformats.org/officeDocument/2006/relationships/image" Target="../media/image8.svg"/><Relationship Id="rId9" Type="http://schemas.openxmlformats.org/officeDocument/2006/relationships/image" Target="../media/image37.png"/><Relationship Id="rId14" Type="http://schemas.openxmlformats.org/officeDocument/2006/relationships/image" Target="../media/image42.sv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0.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0.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png"/><Relationship Id="rId3" Type="http://schemas.openxmlformats.org/officeDocument/2006/relationships/image" Target="../media/image7.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notesSlide" Target="../notesSlides/notesSlide22.xml"/><Relationship Id="rId1" Type="http://schemas.openxmlformats.org/officeDocument/2006/relationships/slideLayout" Target="../slideLayouts/slideLayout50.xml"/><Relationship Id="rId6" Type="http://schemas.openxmlformats.org/officeDocument/2006/relationships/image" Target="../media/image16.svg"/><Relationship Id="rId11" Type="http://schemas.openxmlformats.org/officeDocument/2006/relationships/image" Target="../media/image51.png"/><Relationship Id="rId5" Type="http://schemas.openxmlformats.org/officeDocument/2006/relationships/image" Target="../media/image15.png"/><Relationship Id="rId10" Type="http://schemas.openxmlformats.org/officeDocument/2006/relationships/image" Target="../media/image50.svg"/><Relationship Id="rId4" Type="http://schemas.openxmlformats.org/officeDocument/2006/relationships/image" Target="../media/image8.svg"/><Relationship Id="rId9" Type="http://schemas.openxmlformats.org/officeDocument/2006/relationships/image" Target="../media/image49.png"/><Relationship Id="rId14" Type="http://schemas.openxmlformats.org/officeDocument/2006/relationships/image" Target="../media/image54.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50.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1FAD199-1F68-4AF2-81EE-9FF7275D852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premium-quality photograph of an electric vehicle charging at a public station in a vibrant urban environment, with clean lines, contemporary architecture, and subtle technology elements in the background. The lighting should be bright and inviting, with a composition that allows for centered title overlay. No visible or implied text, letters, or words should appear anywhere in the image. The image should convey innovation, community, and the future of transportation">
            <a:extLst>
              <a:ext uri="{FF2B5EF4-FFF2-40B4-BE49-F238E27FC236}">
                <a16:creationId xmlns:a16="http://schemas.microsoft.com/office/drawing/2014/main" id="{1C5F8826-8235-418B-BB1B-ADC170FCA48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Date Placeholder 5">
            <a:extLst>
              <a:ext uri="{FF2B5EF4-FFF2-40B4-BE49-F238E27FC236}">
                <a16:creationId xmlns:a16="http://schemas.microsoft.com/office/drawing/2014/main" id="{B50E0C78-E1E0-8E67-5012-8A1087F0126D}"/>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C0E79824-7441-2AA0-49F2-31573EAF984B}"/>
              </a:ext>
            </a:extLst>
          </p:cNvPr>
          <p:cNvSpPr>
            <a:spLocks noGrp="1"/>
          </p:cNvSpPr>
          <p:nvPr>
            <p:ph type="sldNum" sz="quarter" idx="19"/>
          </p:nvPr>
        </p:nvSpPr>
        <p:spPr/>
        <p:txBody>
          <a:bodyPr/>
          <a:lstStyle/>
          <a:p>
            <a:fld id="{AEAA3239-9EA4-4A65-A281-97F994456D9F}" type="slidenum">
              <a:rPr lang="en-US" smtClean="0"/>
              <a:pPr/>
              <a:t>1</a:t>
            </a:fld>
            <a:endParaRPr lang="en-US" sz="900" dirty="0"/>
          </a:p>
        </p:txBody>
      </p:sp>
      <p:sp>
        <p:nvSpPr>
          <p:cNvPr id="10" name="TextBox 9">
            <a:extLst>
              <a:ext uri="{FF2B5EF4-FFF2-40B4-BE49-F238E27FC236}">
                <a16:creationId xmlns:a16="http://schemas.microsoft.com/office/drawing/2014/main" id="{B21B96E3-9F5A-444C-AE5E-A86DF800DD81}"/>
              </a:ext>
            </a:extLst>
          </p:cNvPr>
          <p:cNvSpPr txBox="1"/>
          <p:nvPr/>
        </p:nvSpPr>
        <p:spPr>
          <a:xfrm>
            <a:off x="619125" y="663922"/>
            <a:ext cx="4391025" cy="3352353"/>
          </a:xfrm>
          <a:prstGeom prst="rect">
            <a:avLst/>
          </a:prstGeom>
          <a:noFill/>
        </p:spPr>
        <p:txBody>
          <a:bodyPr wrap="square" rtlCol="0">
            <a:normAutofit/>
          </a:bodyPr>
          <a:lstStyle/>
          <a:p>
            <a:pPr marL="0" algn="l">
              <a:buNone/>
            </a:pPr>
            <a:r>
              <a:rPr sz="4800" b="0">
                <a:solidFill>
                  <a:srgbClr val="105237"/>
                </a:solidFill>
                <a:effectLst/>
                <a:latin typeface="Avenir Next LT Pro" panose="020B0504020202020204" pitchFamily="34" charset="0"/>
              </a:rPr>
              <a:t>Reddit Community Operator: r/ElectricVehicles Role Package</a:t>
            </a:r>
            <a:r>
              <a:rPr>
                <a:effectLst/>
              </a:rPr>
              <a:t> </a:t>
            </a:r>
            <a:endParaRPr lang="en-US"/>
          </a:p>
        </p:txBody>
      </p:sp>
      <p:sp>
        <p:nvSpPr>
          <p:cNvPr id="11" name="TextBox 10">
            <a:extLst>
              <a:ext uri="{FF2B5EF4-FFF2-40B4-BE49-F238E27FC236}">
                <a16:creationId xmlns:a16="http://schemas.microsoft.com/office/drawing/2014/main" id="{87DBD2F6-6E10-4574-A906-FD7485075EA8}"/>
              </a:ext>
            </a:extLst>
          </p:cNvPr>
          <p:cNvSpPr txBox="1"/>
          <p:nvPr/>
        </p:nvSpPr>
        <p:spPr>
          <a:xfrm>
            <a:off x="619125" y="6087219"/>
            <a:ext cx="4391025" cy="297060"/>
          </a:xfrm>
          <a:prstGeom prst="rect">
            <a:avLst/>
          </a:prstGeom>
          <a:noFill/>
        </p:spPr>
        <p:txBody>
          <a:bodyPr wrap="square" rtlCol="0">
            <a:normAutofit/>
          </a:bodyPr>
          <a:lstStyle/>
          <a:p>
            <a:pPr marL="0" algn="l">
              <a:buNone/>
            </a:pPr>
            <a:r>
              <a:rPr sz="1800" b="0">
                <a:solidFill>
                  <a:srgbClr val="105237"/>
                </a:solidFill>
                <a:effectLst/>
                <a:latin typeface="Avenir Next LT Pro" panose="020B0504020202020204" pitchFamily="34" charset="0"/>
              </a:rPr>
              <a:t>Empowering EV Buyers and Owners</a:t>
            </a:r>
            <a:r>
              <a:rPr>
                <a:effectLst/>
              </a:rPr>
              <a:t> </a:t>
            </a:r>
            <a:endParaRPr lang="en-US"/>
          </a:p>
        </p:txBody>
      </p:sp>
    </p:spTree>
    <p:extLst>
      <p:ext uri="{BB962C8B-B14F-4D97-AF65-F5344CB8AC3E}">
        <p14:creationId xmlns:p14="http://schemas.microsoft.com/office/powerpoint/2010/main" val="1825275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0D01027-FCB0-4176-8182-69CC5F3F8A0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visually appealing image of a workspace with digital devices, coffee cup, and collaborative atmosphere, symbolizing strategic planning and online community engagement. The composition should allow for clear overlay of agenda text and maintain a professional, premium aesthetic. No visible or implied text, letters, or words should appear anywhere in the image">
            <a:extLst>
              <a:ext uri="{FF2B5EF4-FFF2-40B4-BE49-F238E27FC236}">
                <a16:creationId xmlns:a16="http://schemas.microsoft.com/office/drawing/2014/main" id="{D2B3BD19-04A6-4575-9CC8-F383DD2EDFA1}"/>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6" name="Date Placeholder 5">
            <a:extLst>
              <a:ext uri="{FF2B5EF4-FFF2-40B4-BE49-F238E27FC236}">
                <a16:creationId xmlns:a16="http://schemas.microsoft.com/office/drawing/2014/main" id="{5A244772-6E93-2073-97CD-89C4B4A4EBDB}"/>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D7E97CA0-6234-AE66-9425-0672705736BC}"/>
              </a:ext>
            </a:extLst>
          </p:cNvPr>
          <p:cNvSpPr>
            <a:spLocks noGrp="1"/>
          </p:cNvSpPr>
          <p:nvPr>
            <p:ph type="sldNum" sz="quarter" idx="19"/>
          </p:nvPr>
        </p:nvSpPr>
        <p:spPr/>
        <p:txBody>
          <a:bodyPr/>
          <a:lstStyle/>
          <a:p>
            <a:fld id="{AEAA3239-9EA4-4A65-A281-97F994456D9F}" type="slidenum">
              <a:rPr lang="en-US" smtClean="0"/>
              <a:pPr/>
              <a:t>2</a:t>
            </a:fld>
            <a:endParaRPr lang="en-US" sz="900" dirty="0"/>
          </a:p>
        </p:txBody>
      </p:sp>
      <p:sp>
        <p:nvSpPr>
          <p:cNvPr id="10" name="TextBox 9">
            <a:extLst>
              <a:ext uri="{FF2B5EF4-FFF2-40B4-BE49-F238E27FC236}">
                <a16:creationId xmlns:a16="http://schemas.microsoft.com/office/drawing/2014/main" id="{E95DA9CC-3509-495C-ADF7-17E98B223C03}"/>
              </a:ext>
            </a:extLst>
          </p:cNvPr>
          <p:cNvSpPr txBox="1"/>
          <p:nvPr/>
        </p:nvSpPr>
        <p:spPr>
          <a:xfrm>
            <a:off x="5343525" y="1343025"/>
            <a:ext cx="6477000" cy="609600"/>
          </a:xfrm>
          <a:prstGeom prst="rect">
            <a:avLst/>
          </a:prstGeom>
          <a:noFill/>
        </p:spPr>
        <p:txBody>
          <a:bodyPr wrap="square" rtlCol="0">
            <a:normAutofit/>
          </a:bodyPr>
          <a:lstStyle/>
          <a:p>
            <a:pPr marL="0" algn="l">
              <a:buNone/>
            </a:pPr>
            <a:r>
              <a:rPr sz="4800">
                <a:solidFill>
                  <a:srgbClr val="5793D0"/>
                </a:solidFill>
                <a:effectLst/>
                <a:latin typeface="Avenir Next LT Pro" panose="020B0504020202020204" pitchFamily="34" charset="0"/>
              </a:rPr>
              <a:t>Agenda</a:t>
            </a:r>
            <a:r>
              <a:rPr>
                <a:effectLst/>
              </a:rPr>
              <a:t> </a:t>
            </a:r>
            <a:endParaRPr lang="en-US"/>
          </a:p>
        </p:txBody>
      </p:sp>
      <p:sp>
        <p:nvSpPr>
          <p:cNvPr id="11" name="TextBox 10">
            <a:extLst>
              <a:ext uri="{FF2B5EF4-FFF2-40B4-BE49-F238E27FC236}">
                <a16:creationId xmlns:a16="http://schemas.microsoft.com/office/drawing/2014/main" id="{9FB4C1B3-7A19-4B43-99DA-1DAEC69C21F1}"/>
              </a:ext>
            </a:extLst>
          </p:cNvPr>
          <p:cNvSpPr txBox="1"/>
          <p:nvPr/>
        </p:nvSpPr>
        <p:spPr>
          <a:xfrm>
            <a:off x="5343525" y="2333625"/>
            <a:ext cx="6477000" cy="2433339"/>
          </a:xfrm>
          <a:prstGeom prst="rect">
            <a:avLst/>
          </a:prstGeom>
          <a:noFill/>
        </p:spPr>
        <p:txBody>
          <a:bodyPr wrap="square" rtlCol="0">
            <a:normAutofit/>
          </a:bodyPr>
          <a:lstStyle/>
          <a:p>
            <a:pPr marL="0" algn="l">
              <a:buNone/>
            </a:pPr>
            <a:r>
              <a:rPr sz="2025" b="0">
                <a:solidFill>
                  <a:srgbClr val="105237"/>
                </a:solidFill>
                <a:effectLst/>
                <a:latin typeface="Avenir Next LT Pro" panose="020B0504020202020204" pitchFamily="34" charset="0"/>
              </a:rPr>
              <a:t>• Mission and Strategic Objectives</a:t>
            </a:r>
            <a:r>
              <a:rPr>
                <a:effectLst/>
              </a:rPr>
              <a:t> </a:t>
            </a:r>
          </a:p>
          <a:p>
            <a:pPr marL="0" algn="l">
              <a:spcBef>
                <a:spcPts val="1500"/>
              </a:spcBef>
              <a:buNone/>
            </a:pPr>
            <a:r>
              <a:rPr sz="2025" b="0">
                <a:solidFill>
                  <a:srgbClr val="105237"/>
                </a:solidFill>
                <a:effectLst/>
                <a:latin typeface="Avenir Next LT Pro" panose="020B0504020202020204" pitchFamily="34" charset="0"/>
              </a:rPr>
              <a:t>• Target Subreddits and Community Engagement</a:t>
            </a:r>
            <a:r>
              <a:rPr>
                <a:effectLst/>
              </a:rPr>
              <a:t> </a:t>
            </a:r>
          </a:p>
          <a:p>
            <a:pPr marL="0" algn="l">
              <a:spcBef>
                <a:spcPts val="1500"/>
              </a:spcBef>
              <a:buNone/>
            </a:pPr>
            <a:r>
              <a:rPr sz="2025" b="0">
                <a:solidFill>
                  <a:srgbClr val="105237"/>
                </a:solidFill>
                <a:effectLst/>
                <a:latin typeface="Avenir Next LT Pro" panose="020B0504020202020204" pitchFamily="34" charset="0"/>
              </a:rPr>
              <a:t>• Success Targets and Performance Metrics</a:t>
            </a:r>
            <a:r>
              <a:rPr>
                <a:effectLst/>
              </a:rPr>
              <a:t> </a:t>
            </a:r>
          </a:p>
          <a:p>
            <a:pPr marL="0" algn="l">
              <a:spcBef>
                <a:spcPts val="1500"/>
              </a:spcBef>
              <a:buNone/>
            </a:pPr>
            <a:r>
              <a:rPr sz="2025" b="0">
                <a:solidFill>
                  <a:srgbClr val="105237"/>
                </a:solidFill>
                <a:effectLst/>
                <a:latin typeface="Avenir Next LT Pro" panose="020B0504020202020204" pitchFamily="34" charset="0"/>
              </a:rPr>
              <a:t>• Operating Rules and Best Practices</a:t>
            </a:r>
            <a:r>
              <a:rPr>
                <a:effectLst/>
              </a:rPr>
              <a:t> </a:t>
            </a:r>
          </a:p>
          <a:p>
            <a:pPr marL="0" algn="l">
              <a:spcBef>
                <a:spcPts val="1500"/>
              </a:spcBef>
              <a:buNone/>
            </a:pPr>
            <a:r>
              <a:rPr sz="2025" b="0">
                <a:solidFill>
                  <a:srgbClr val="105237"/>
                </a:solidFill>
                <a:effectLst/>
                <a:latin typeface="Avenir Next LT Pro" panose="020B0504020202020204" pitchFamily="34" charset="0"/>
              </a:rPr>
              <a:t>• Reply Style Guide: Founder Voice Rules</a:t>
            </a:r>
            <a:r>
              <a:rPr>
                <a:effectLst/>
              </a:rPr>
              <a:t> </a:t>
            </a:r>
            <a:endParaRPr lang="en-US"/>
          </a:p>
        </p:txBody>
      </p:sp>
    </p:spTree>
    <p:extLst>
      <p:ext uri="{BB962C8B-B14F-4D97-AF65-F5344CB8AC3E}">
        <p14:creationId xmlns:p14="http://schemas.microsoft.com/office/powerpoint/2010/main" val="1867790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360C770-39C5-4E6A-B88A-3EC342D8E6E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37F0C68-026F-E6D4-00A8-F6DE11E49F23}"/>
              </a:ext>
            </a:extLst>
          </p:cNvPr>
          <p:cNvSpPr>
            <a:spLocks noGrp="1"/>
          </p:cNvSpPr>
          <p:nvPr>
            <p:ph sz="quarter" idx="16"/>
          </p:nvPr>
        </p:nvSpPr>
        <p:spPr>
          <a:xfrm>
            <a:off x="828675" y="3933825"/>
            <a:ext cx="10534650" cy="2095500"/>
          </a:xfrm>
        </p:spPr>
        <p:txBody>
          <a:bodyPr/>
          <a:lstStyle/>
          <a:p>
            <a:pPr marL="0" marR="0" indent="0" algn="l" fontAlgn="b">
              <a:buNone/>
            </a:pPr>
            <a:r>
              <a:rPr sz="6750">
                <a:solidFill>
                  <a:srgbClr val="DEB4FC"/>
                </a:solidFill>
                <a:effectLst/>
                <a:latin typeface="Avenir Next LT Pro" panose="020B0504020202020204" pitchFamily="34" charset="0"/>
              </a:rPr>
              <a:t>Mission and Strategic Objectives</a:t>
            </a:r>
            <a:r>
              <a:rPr>
                <a:effectLst/>
              </a:rPr>
              <a:t> </a:t>
            </a:r>
            <a:endParaRPr lang="en-US"/>
          </a:p>
        </p:txBody>
      </p:sp>
      <p:sp>
        <p:nvSpPr>
          <p:cNvPr id="6" name="Date Placeholder 5">
            <a:extLst>
              <a:ext uri="{FF2B5EF4-FFF2-40B4-BE49-F238E27FC236}">
                <a16:creationId xmlns:a16="http://schemas.microsoft.com/office/drawing/2014/main" id="{0BA29CA5-2F6F-5F64-BF0B-5F3D1AF5231F}"/>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69B8B578-1333-71B1-4CC7-672BC4EB427B}"/>
              </a:ext>
            </a:extLst>
          </p:cNvPr>
          <p:cNvSpPr>
            <a:spLocks noGrp="1"/>
          </p:cNvSpPr>
          <p:nvPr>
            <p:ph type="sldNum" sz="quarter" idx="19"/>
          </p:nvPr>
        </p:nvSpPr>
        <p:spPr/>
        <p:txBody>
          <a:bodyPr/>
          <a:lstStyle/>
          <a:p>
            <a:fld id="{AEAA3239-9EA4-4A65-A281-97F994456D9F}" type="slidenum">
              <a:rPr lang="en-US" smtClean="0"/>
              <a:pPr/>
              <a:t>3</a:t>
            </a:fld>
            <a:endParaRPr lang="en-US" sz="900" dirty="0"/>
          </a:p>
        </p:txBody>
      </p:sp>
    </p:spTree>
    <p:extLst>
      <p:ext uri="{BB962C8B-B14F-4D97-AF65-F5344CB8AC3E}">
        <p14:creationId xmlns:p14="http://schemas.microsoft.com/office/powerpoint/2010/main" val="3961746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B52F693-BAE4-426C-935E-B9B798D4940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70A9641A-F6AB-5B5C-0B17-50704953F984}"/>
              </a:ext>
            </a:extLst>
          </p:cNvPr>
          <p:cNvSpPr>
            <a:spLocks noGrp="1"/>
          </p:cNvSpPr>
          <p:nvPr>
            <p:ph sz="quarter" idx="16"/>
          </p:nvPr>
        </p:nvSpPr>
        <p:spPr>
          <a:xfrm>
            <a:off x="619125" y="581025"/>
            <a:ext cx="5715000" cy="1005780"/>
          </a:xfrm>
        </p:spPr>
        <p:txBody>
          <a:bodyPr/>
          <a:lstStyle/>
          <a:p>
            <a:pPr marL="0" indent="0" algn="l">
              <a:buNone/>
            </a:pPr>
            <a:r>
              <a:rPr sz="3600">
                <a:solidFill>
                  <a:srgbClr val="105237"/>
                </a:solidFill>
                <a:effectLst/>
                <a:latin typeface="Avenir Next LT Pro" panose="020B0504020202020204" pitchFamily="34" charset="0"/>
              </a:rPr>
              <a:t>Empowering Confident EV Decisions</a:t>
            </a:r>
            <a:r>
              <a:rPr>
                <a:effectLst/>
              </a:rPr>
              <a:t> </a:t>
            </a:r>
            <a:endParaRPr lang="en-US"/>
          </a:p>
        </p:txBody>
      </p:sp>
      <p:sp>
        <p:nvSpPr>
          <p:cNvPr id="6" name="Date Placeholder 5">
            <a:extLst>
              <a:ext uri="{FF2B5EF4-FFF2-40B4-BE49-F238E27FC236}">
                <a16:creationId xmlns:a16="http://schemas.microsoft.com/office/drawing/2014/main" id="{02E5704D-1ABD-9554-BFEB-739E9B0D2F27}"/>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0D3DA1C3-F2C6-3125-147D-94C4BB3A8697}"/>
              </a:ext>
            </a:extLst>
          </p:cNvPr>
          <p:cNvSpPr>
            <a:spLocks noGrp="1"/>
          </p:cNvSpPr>
          <p:nvPr>
            <p:ph type="sldNum" sz="quarter" idx="19"/>
          </p:nvPr>
        </p:nvSpPr>
        <p:spPr/>
        <p:txBody>
          <a:bodyPr/>
          <a:lstStyle/>
          <a:p>
            <a:fld id="{AEAA3239-9EA4-4A65-A281-97F994456D9F}" type="slidenum">
              <a:rPr lang="en-US" smtClean="0"/>
              <a:pPr/>
              <a:t>4</a:t>
            </a:fld>
            <a:endParaRPr lang="en-US" sz="900" dirty="0"/>
          </a:p>
        </p:txBody>
      </p:sp>
      <p:sp>
        <p:nvSpPr>
          <p:cNvPr id="9" name="TextBox 8">
            <a:extLst>
              <a:ext uri="{FF2B5EF4-FFF2-40B4-BE49-F238E27FC236}">
                <a16:creationId xmlns:a16="http://schemas.microsoft.com/office/drawing/2014/main" id="{36AE10FF-EFCB-46F4-9F6E-8181DD3A43CA}"/>
              </a:ext>
            </a:extLst>
          </p:cNvPr>
          <p:cNvSpPr txBox="1"/>
          <p:nvPr/>
        </p:nvSpPr>
        <p:spPr>
          <a:xfrm>
            <a:off x="619125" y="1853505"/>
            <a:ext cx="5715000" cy="3028950"/>
          </a:xfrm>
          <a:prstGeom prst="rect">
            <a:avLst/>
          </a:prstGeom>
          <a:noFill/>
        </p:spPr>
        <p:txBody>
          <a:bodyPr wrap="square" rtlCol="0">
            <a:normAutofit/>
          </a:bodyPr>
          <a:lstStyle/>
          <a:p>
            <a:pPr marL="0" algn="l">
              <a:buNone/>
            </a:pPr>
            <a:r>
              <a:rPr sz="1800" b="1">
                <a:solidFill>
                  <a:srgbClr val="105237"/>
                </a:solidFill>
                <a:effectLst/>
                <a:latin typeface="Avenir Next LT Pro" panose="020B0504020202020204" pitchFamily="34" charset="0"/>
              </a:rPr>
              <a:t>Routine fit drives confidence</a:t>
            </a:r>
            <a:r>
              <a:rPr>
                <a:effectLst/>
              </a:rPr>
              <a:t> </a:t>
            </a:r>
          </a:p>
          <a:p>
            <a:pPr marL="0" algn="l">
              <a:spcBef>
                <a:spcPts val="750"/>
              </a:spcBef>
              <a:buNone/>
            </a:pPr>
            <a:r>
              <a:rPr sz="1500">
                <a:solidFill>
                  <a:srgbClr val="105237"/>
                </a:solidFill>
                <a:effectLst/>
                <a:latin typeface="Avenir Next LT Pro" panose="020B0504020202020204" pitchFamily="34" charset="0"/>
              </a:rPr>
              <a:t>Mapping daily trips to charge times and locations sets realistic expectations and reduces uncertainty.</a:t>
            </a:r>
            <a:r>
              <a:rPr>
                <a:effectLst/>
              </a:rPr>
              <a:t> </a:t>
            </a:r>
          </a:p>
          <a:p>
            <a:pPr marL="0" algn="l">
              <a:spcBef>
                <a:spcPts val="1350"/>
              </a:spcBef>
              <a:buNone/>
            </a:pPr>
            <a:r>
              <a:rPr sz="1800" b="1">
                <a:solidFill>
                  <a:srgbClr val="105237"/>
                </a:solidFill>
                <a:effectLst/>
                <a:latin typeface="Avenir Next LT Pro" panose="020B0504020202020204" pitchFamily="34" charset="0"/>
              </a:rPr>
              <a:t>Range anxiety is a top barrier</a:t>
            </a:r>
            <a:r>
              <a:rPr>
                <a:effectLst/>
              </a:rPr>
              <a:t> </a:t>
            </a:r>
          </a:p>
          <a:p>
            <a:pPr marL="0" algn="l">
              <a:spcBef>
                <a:spcPts val="750"/>
              </a:spcBef>
              <a:buNone/>
            </a:pPr>
            <a:r>
              <a:rPr sz="1500">
                <a:solidFill>
                  <a:srgbClr val="105237"/>
                </a:solidFill>
                <a:effectLst/>
                <a:latin typeface="Avenir Next LT Pro" panose="020B0504020202020204" pitchFamily="34" charset="0"/>
              </a:rPr>
              <a:t>48% of potential buyers cite range concerns; educating on real usage patterns counters this.</a:t>
            </a:r>
            <a:r>
              <a:rPr>
                <a:effectLst/>
              </a:rPr>
              <a:t> </a:t>
            </a:r>
          </a:p>
          <a:p>
            <a:pPr marL="0" algn="l">
              <a:spcBef>
                <a:spcPts val="1350"/>
              </a:spcBef>
              <a:buNone/>
            </a:pPr>
            <a:r>
              <a:rPr sz="1800" b="1">
                <a:solidFill>
                  <a:srgbClr val="105237"/>
                </a:solidFill>
                <a:effectLst/>
                <a:latin typeface="Avenir Next LT Pro" panose="020B0504020202020204" pitchFamily="34" charset="0"/>
              </a:rPr>
              <a:t>Operator guidance builds trust</a:t>
            </a:r>
            <a:r>
              <a:rPr>
                <a:effectLst/>
              </a:rPr>
              <a:t> </a:t>
            </a:r>
          </a:p>
          <a:p>
            <a:pPr marL="0" algn="l">
              <a:spcBef>
                <a:spcPts val="750"/>
              </a:spcBef>
              <a:buNone/>
            </a:pPr>
            <a:r>
              <a:rPr sz="1500">
                <a:solidFill>
                  <a:srgbClr val="105237"/>
                </a:solidFill>
                <a:effectLst/>
                <a:latin typeface="Avenir Next LT Pro" panose="020B0504020202020204" pitchFamily="34" charset="0"/>
              </a:rPr>
              <a:t>Personalized charging plans and transparent education boost satisfaction and adoption.</a:t>
            </a:r>
            <a:r>
              <a:rPr>
                <a:effectLst/>
              </a:rPr>
              <a:t> </a:t>
            </a:r>
            <a:endParaRPr lang="en-US"/>
          </a:p>
        </p:txBody>
      </p:sp>
    </p:spTree>
    <p:extLst>
      <p:ext uri="{BB962C8B-B14F-4D97-AF65-F5344CB8AC3E}">
        <p14:creationId xmlns:p14="http://schemas.microsoft.com/office/powerpoint/2010/main" val="363416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479D100-0CA0-4B05-8999-933B253EC9F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038B305B-6B0F-255F-0CE1-6D6197A9D7EC}"/>
              </a:ext>
            </a:extLst>
          </p:cNvPr>
          <p:cNvSpPr>
            <a:spLocks noGrp="1"/>
          </p:cNvSpPr>
          <p:nvPr>
            <p:ph sz="quarter" idx="16"/>
          </p:nvPr>
        </p:nvSpPr>
        <p:spPr>
          <a:xfrm>
            <a:off x="619125" y="581025"/>
            <a:ext cx="10972800" cy="670470"/>
          </a:xfrm>
        </p:spPr>
        <p:txBody>
          <a:bodyPr/>
          <a:lstStyle/>
          <a:p>
            <a:pPr marL="0" indent="0" algn="l">
              <a:buNone/>
            </a:pPr>
            <a:r>
              <a:rPr sz="4800">
                <a:solidFill>
                  <a:srgbClr val="105237"/>
                </a:solidFill>
                <a:effectLst/>
                <a:latin typeface="Avenir Next LT Pro" panose="020B0504020202020204" pitchFamily="34" charset="0"/>
              </a:rPr>
              <a:t>Driving Qualified Traffic Organically</a:t>
            </a:r>
            <a:r>
              <a:rPr>
                <a:effectLst/>
              </a:rPr>
              <a:t> </a:t>
            </a:r>
            <a:endParaRPr lang="en-US"/>
          </a:p>
        </p:txBody>
      </p:sp>
      <p:sp>
        <p:nvSpPr>
          <p:cNvPr id="6" name="Date Placeholder 5">
            <a:extLst>
              <a:ext uri="{FF2B5EF4-FFF2-40B4-BE49-F238E27FC236}">
                <a16:creationId xmlns:a16="http://schemas.microsoft.com/office/drawing/2014/main" id="{3BCF53A0-071E-5138-4173-339A4A0828C0}"/>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D9F55B1C-6463-1BBD-D7D3-4DE00E9CD3EE}"/>
              </a:ext>
            </a:extLst>
          </p:cNvPr>
          <p:cNvSpPr>
            <a:spLocks noGrp="1"/>
          </p:cNvSpPr>
          <p:nvPr>
            <p:ph type="sldNum" sz="quarter" idx="19"/>
          </p:nvPr>
        </p:nvSpPr>
        <p:spPr/>
        <p:txBody>
          <a:bodyPr/>
          <a:lstStyle/>
          <a:p>
            <a:fld id="{AEAA3239-9EA4-4A65-A281-97F994456D9F}" type="slidenum">
              <a:rPr lang="en-US" smtClean="0"/>
              <a:pPr/>
              <a:t>5</a:t>
            </a:fld>
            <a:endParaRPr lang="en-US" sz="900" dirty="0"/>
          </a:p>
        </p:txBody>
      </p:sp>
      <p:sp>
        <p:nvSpPr>
          <p:cNvPr id="9" name="TextBox 8">
            <a:extLst>
              <a:ext uri="{FF2B5EF4-FFF2-40B4-BE49-F238E27FC236}">
                <a16:creationId xmlns:a16="http://schemas.microsoft.com/office/drawing/2014/main" id="{DC2726EF-E1EC-485F-B7A5-79C9DA524950}"/>
              </a:ext>
            </a:extLst>
          </p:cNvPr>
          <p:cNvSpPr txBox="1"/>
          <p:nvPr/>
        </p:nvSpPr>
        <p:spPr>
          <a:xfrm>
            <a:off x="619125" y="2881461"/>
            <a:ext cx="1981200"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01</a:t>
            </a:r>
            <a:r>
              <a:rPr>
                <a:effectLst/>
              </a:rPr>
              <a:t> </a:t>
            </a:r>
          </a:p>
          <a:p>
            <a:pPr marL="0" algn="l">
              <a:spcAft>
                <a:spcPts val="900"/>
              </a:spcAft>
              <a:buNone/>
            </a:pPr>
            <a:r>
              <a:rPr sz="1425" b="1">
                <a:solidFill>
                  <a:srgbClr val="105237"/>
                </a:solidFill>
                <a:effectLst/>
                <a:latin typeface="Avenir Next LT Pro" panose="020B0504020202020204" pitchFamily="34" charset="0"/>
              </a:rPr>
              <a:t>Participate in communities</a:t>
            </a:r>
            <a:r>
              <a:rPr>
                <a:effectLst/>
              </a:rPr>
              <a:t> </a:t>
            </a:r>
          </a:p>
          <a:p>
            <a:pPr marL="0" algn="l">
              <a:buNone/>
            </a:pPr>
            <a:r>
              <a:rPr sz="1425" b="0">
                <a:solidFill>
                  <a:srgbClr val="105237"/>
                </a:solidFill>
                <a:effectLst/>
                <a:latin typeface="Avenir Next LT Pro" panose="020B0504020202020204" pitchFamily="34" charset="0"/>
              </a:rPr>
              <a:t>Be active on Reddit threads where users seek scenario planning help.</a:t>
            </a:r>
            <a:r>
              <a:rPr>
                <a:effectLst/>
              </a:rPr>
              <a:t> </a:t>
            </a:r>
            <a:endParaRPr lang="en-US"/>
          </a:p>
        </p:txBody>
      </p:sp>
      <p:sp>
        <p:nvSpPr>
          <p:cNvPr id="10" name="TextBox 9">
            <a:extLst>
              <a:ext uri="{FF2B5EF4-FFF2-40B4-BE49-F238E27FC236}">
                <a16:creationId xmlns:a16="http://schemas.microsoft.com/office/drawing/2014/main" id="{55373E42-85A5-4CCD-B7CE-F981009E747E}"/>
              </a:ext>
            </a:extLst>
          </p:cNvPr>
          <p:cNvSpPr txBox="1"/>
          <p:nvPr/>
        </p:nvSpPr>
        <p:spPr>
          <a:xfrm>
            <a:off x="2828925" y="2881461"/>
            <a:ext cx="1981200"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02</a:t>
            </a:r>
            <a:r>
              <a:rPr>
                <a:effectLst/>
              </a:rPr>
              <a:t> </a:t>
            </a:r>
          </a:p>
          <a:p>
            <a:pPr marL="0" algn="l">
              <a:spcAft>
                <a:spcPts val="900"/>
              </a:spcAft>
              <a:buNone/>
            </a:pPr>
            <a:r>
              <a:rPr sz="1425" b="1">
                <a:solidFill>
                  <a:srgbClr val="105237"/>
                </a:solidFill>
                <a:effectLst/>
                <a:latin typeface="Avenir Next LT Pro" panose="020B0504020202020204" pitchFamily="34" charset="0"/>
              </a:rPr>
              <a:t>Listen for relevant needs</a:t>
            </a:r>
            <a:r>
              <a:rPr>
                <a:effectLst/>
              </a:rPr>
              <a:t> </a:t>
            </a:r>
          </a:p>
          <a:p>
            <a:pPr marL="0" algn="l">
              <a:buNone/>
            </a:pPr>
            <a:r>
              <a:rPr sz="1425" b="0">
                <a:solidFill>
                  <a:srgbClr val="105237"/>
                </a:solidFill>
                <a:effectLst/>
                <a:latin typeface="Avenir Next LT Pro" panose="020B0504020202020204" pitchFamily="34" charset="0"/>
              </a:rPr>
              <a:t>Track questions signaling intent to model options or compare outcomes.</a:t>
            </a:r>
            <a:r>
              <a:rPr>
                <a:effectLst/>
              </a:rPr>
              <a:t> </a:t>
            </a:r>
            <a:endParaRPr lang="en-US"/>
          </a:p>
        </p:txBody>
      </p:sp>
      <p:sp>
        <p:nvSpPr>
          <p:cNvPr id="11" name="TextBox 10">
            <a:extLst>
              <a:ext uri="{FF2B5EF4-FFF2-40B4-BE49-F238E27FC236}">
                <a16:creationId xmlns:a16="http://schemas.microsoft.com/office/drawing/2014/main" id="{D20CC2C0-713F-4C0C-810C-80083BDD11C8}"/>
              </a:ext>
            </a:extLst>
          </p:cNvPr>
          <p:cNvSpPr txBox="1"/>
          <p:nvPr/>
        </p:nvSpPr>
        <p:spPr>
          <a:xfrm>
            <a:off x="5038725" y="2881461"/>
            <a:ext cx="1981200"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03</a:t>
            </a:r>
            <a:r>
              <a:rPr>
                <a:effectLst/>
              </a:rPr>
              <a:t> </a:t>
            </a:r>
          </a:p>
          <a:p>
            <a:pPr marL="0" algn="l">
              <a:spcAft>
                <a:spcPts val="900"/>
              </a:spcAft>
              <a:buNone/>
            </a:pPr>
            <a:r>
              <a:rPr sz="1425" b="1">
                <a:solidFill>
                  <a:srgbClr val="105237"/>
                </a:solidFill>
                <a:effectLst/>
                <a:latin typeface="Avenir Next LT Pro" panose="020B0504020202020204" pitchFamily="34" charset="0"/>
              </a:rPr>
              <a:t>Share contextual benefits</a:t>
            </a:r>
            <a:r>
              <a:rPr>
                <a:effectLst/>
              </a:rPr>
              <a:t> </a:t>
            </a:r>
          </a:p>
          <a:p>
            <a:pPr marL="0" algn="l">
              <a:buNone/>
            </a:pPr>
            <a:r>
              <a:rPr sz="1425" b="0">
                <a:solidFill>
                  <a:srgbClr val="105237"/>
                </a:solidFill>
                <a:effectLst/>
                <a:latin typeface="Avenir Next LT Pro" panose="020B0504020202020204" pitchFamily="34" charset="0"/>
              </a:rPr>
              <a:t>Embed the OFFO tool naturally, citing specific features that solve the ask.</a:t>
            </a:r>
            <a:r>
              <a:rPr>
                <a:effectLst/>
              </a:rPr>
              <a:t> </a:t>
            </a:r>
            <a:endParaRPr lang="en-US"/>
          </a:p>
        </p:txBody>
      </p:sp>
      <p:sp>
        <p:nvSpPr>
          <p:cNvPr id="12" name="TextBox 11">
            <a:extLst>
              <a:ext uri="{FF2B5EF4-FFF2-40B4-BE49-F238E27FC236}">
                <a16:creationId xmlns:a16="http://schemas.microsoft.com/office/drawing/2014/main" id="{52F60596-48A3-43CD-9CBD-50C0C336ED7C}"/>
              </a:ext>
            </a:extLst>
          </p:cNvPr>
          <p:cNvSpPr txBox="1"/>
          <p:nvPr/>
        </p:nvSpPr>
        <p:spPr>
          <a:xfrm>
            <a:off x="7248525" y="2881461"/>
            <a:ext cx="1981200"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04</a:t>
            </a:r>
            <a:r>
              <a:rPr>
                <a:effectLst/>
              </a:rPr>
              <a:t> </a:t>
            </a:r>
          </a:p>
          <a:p>
            <a:pPr marL="0" algn="l">
              <a:spcAft>
                <a:spcPts val="900"/>
              </a:spcAft>
              <a:buNone/>
            </a:pPr>
            <a:r>
              <a:rPr sz="1425" b="1">
                <a:solidFill>
                  <a:srgbClr val="105237"/>
                </a:solidFill>
                <a:effectLst/>
                <a:latin typeface="Avenir Next LT Pro" panose="020B0504020202020204" pitchFamily="34" charset="0"/>
              </a:rPr>
              <a:t>Answer technical questions</a:t>
            </a:r>
            <a:r>
              <a:rPr>
                <a:effectLst/>
              </a:rPr>
              <a:t> </a:t>
            </a:r>
          </a:p>
          <a:p>
            <a:pPr marL="0" algn="l">
              <a:buNone/>
            </a:pPr>
            <a:r>
              <a:rPr sz="1425" b="0">
                <a:solidFill>
                  <a:srgbClr val="105237"/>
                </a:solidFill>
                <a:effectLst/>
                <a:latin typeface="Avenir Next LT Pro" panose="020B0504020202020204" pitchFamily="34" charset="0"/>
              </a:rPr>
              <a:t>Provide clear, expert replies that build trust and demonstrate capability.</a:t>
            </a:r>
            <a:r>
              <a:rPr>
                <a:effectLst/>
              </a:rPr>
              <a:t> </a:t>
            </a:r>
            <a:endParaRPr lang="en-US"/>
          </a:p>
        </p:txBody>
      </p:sp>
      <p:sp>
        <p:nvSpPr>
          <p:cNvPr id="13" name="TextBox 12">
            <a:extLst>
              <a:ext uri="{FF2B5EF4-FFF2-40B4-BE49-F238E27FC236}">
                <a16:creationId xmlns:a16="http://schemas.microsoft.com/office/drawing/2014/main" id="{BEB411D8-D6D7-45B9-80A0-4B3E8BD018E9}"/>
              </a:ext>
            </a:extLst>
          </p:cNvPr>
          <p:cNvSpPr txBox="1"/>
          <p:nvPr/>
        </p:nvSpPr>
        <p:spPr>
          <a:xfrm>
            <a:off x="9458325" y="2881461"/>
            <a:ext cx="1981200"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05</a:t>
            </a:r>
            <a:r>
              <a:rPr>
                <a:effectLst/>
              </a:rPr>
              <a:t> </a:t>
            </a:r>
          </a:p>
          <a:p>
            <a:pPr marL="0" algn="l">
              <a:spcAft>
                <a:spcPts val="900"/>
              </a:spcAft>
              <a:buNone/>
            </a:pPr>
            <a:r>
              <a:rPr sz="1425" b="1">
                <a:solidFill>
                  <a:srgbClr val="105237"/>
                </a:solidFill>
                <a:effectLst/>
                <a:latin typeface="Avenir Next LT Pro" panose="020B0504020202020204" pitchFamily="34" charset="0"/>
              </a:rPr>
              <a:t>Nurture ongoing interest</a:t>
            </a:r>
            <a:r>
              <a:rPr>
                <a:effectLst/>
              </a:rPr>
              <a:t> </a:t>
            </a:r>
          </a:p>
          <a:p>
            <a:pPr marL="0" algn="l">
              <a:buNone/>
            </a:pPr>
            <a:r>
              <a:rPr sz="1425" b="0">
                <a:solidFill>
                  <a:srgbClr val="105237"/>
                </a:solidFill>
                <a:effectLst/>
                <a:latin typeface="Avenir Next LT Pro" panose="020B0504020202020204" pitchFamily="34" charset="0"/>
              </a:rPr>
              <a:t>Follow up with updates, tips, and wins to sustain organic pull.</a:t>
            </a:r>
            <a:r>
              <a:rPr>
                <a:effectLst/>
              </a:rPr>
              <a:t> </a:t>
            </a:r>
            <a:endParaRPr lang="en-US"/>
          </a:p>
        </p:txBody>
      </p:sp>
    </p:spTree>
    <p:extLst>
      <p:ext uri="{BB962C8B-B14F-4D97-AF65-F5344CB8AC3E}">
        <p14:creationId xmlns:p14="http://schemas.microsoft.com/office/powerpoint/2010/main" val="1710000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1A4CE12-491E-403D-BAAF-A7C90CB729E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70DA28D6-7D2B-4C2A-8B94-D7DF738B00B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66775" y="2692896"/>
            <a:ext cx="685800" cy="685800"/>
          </a:xfrm>
          <a:prstGeom prst="rect">
            <a:avLst/>
          </a:prstGeom>
        </p:spPr>
      </p:pic>
      <p:sp>
        <p:nvSpPr>
          <p:cNvPr id="6" name="Date Placeholder 5">
            <a:extLst>
              <a:ext uri="{FF2B5EF4-FFF2-40B4-BE49-F238E27FC236}">
                <a16:creationId xmlns:a16="http://schemas.microsoft.com/office/drawing/2014/main" id="{EF8263BF-E35D-75FD-0FC3-57DC1DECAF4A}"/>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38E9E18F-BC5B-BF1B-9104-1D65BD05556A}"/>
              </a:ext>
            </a:extLst>
          </p:cNvPr>
          <p:cNvSpPr>
            <a:spLocks noGrp="1"/>
          </p:cNvSpPr>
          <p:nvPr>
            <p:ph type="sldNum" sz="quarter" idx="19"/>
          </p:nvPr>
        </p:nvSpPr>
        <p:spPr/>
        <p:txBody>
          <a:bodyPr/>
          <a:lstStyle/>
          <a:p>
            <a:fld id="{AEAA3239-9EA4-4A65-A281-97F994456D9F}" type="slidenum">
              <a:rPr lang="en-US" smtClean="0"/>
              <a:pPr/>
              <a:t>6</a:t>
            </a:fld>
            <a:endParaRPr lang="en-US" sz="900" dirty="0"/>
          </a:p>
        </p:txBody>
      </p:sp>
      <p:pic>
        <p:nvPicPr>
          <p:cNvPr id="10" name="Graphic 9" descr="A vector icon of two speech bubbles overlapping, symbolizing genuine conversation and community engagement, designed in a simple, modern style with a transparent background. No visible or implied text, letters, or words should appear anywhere in the image">
            <a:extLst>
              <a:ext uri="{FF2B5EF4-FFF2-40B4-BE49-F238E27FC236}">
                <a16:creationId xmlns:a16="http://schemas.microsoft.com/office/drawing/2014/main" id="{83638D72-3C2E-420A-9FAF-E939211D5A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550" y="2797671"/>
            <a:ext cx="476250" cy="476250"/>
          </a:xfrm>
          <a:prstGeom prst="rect">
            <a:avLst/>
          </a:prstGeom>
        </p:spPr>
      </p:pic>
      <p:pic>
        <p:nvPicPr>
          <p:cNvPr id="11" name="Graphic 10">
            <a:extLst>
              <a:ext uri="{FF2B5EF4-FFF2-40B4-BE49-F238E27FC236}">
                <a16:creationId xmlns:a16="http://schemas.microsoft.com/office/drawing/2014/main" id="{322AB9A3-AA72-4F6F-90D6-BE9604AFC5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692896"/>
            <a:ext cx="685800" cy="685800"/>
          </a:xfrm>
          <a:prstGeom prst="rect">
            <a:avLst/>
          </a:prstGeom>
        </p:spPr>
      </p:pic>
      <p:pic>
        <p:nvPicPr>
          <p:cNvPr id="12" name="Graphic 11" descr="A vector icon of a balanced scale, representing the concept of balance between helpfulness and authenticity, with a transparent background. No visible or implied text, letters, or words should appear anywhere in the image">
            <a:extLst>
              <a:ext uri="{FF2B5EF4-FFF2-40B4-BE49-F238E27FC236}">
                <a16:creationId xmlns:a16="http://schemas.microsoft.com/office/drawing/2014/main" id="{6AD2638B-19AE-451D-8EBF-AD6B48AA265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797671"/>
            <a:ext cx="476250" cy="476250"/>
          </a:xfrm>
          <a:prstGeom prst="rect">
            <a:avLst/>
          </a:prstGeom>
        </p:spPr>
      </p:pic>
      <p:pic>
        <p:nvPicPr>
          <p:cNvPr id="13" name="Graphic 12">
            <a:extLst>
              <a:ext uri="{FF2B5EF4-FFF2-40B4-BE49-F238E27FC236}">
                <a16:creationId xmlns:a16="http://schemas.microsoft.com/office/drawing/2014/main" id="{CBD43C14-FA70-44D6-94C1-91B351AF62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775" y="4961036"/>
            <a:ext cx="685800" cy="685800"/>
          </a:xfrm>
          <a:prstGeom prst="rect">
            <a:avLst/>
          </a:prstGeom>
        </p:spPr>
      </p:pic>
      <p:pic>
        <p:nvPicPr>
          <p:cNvPr id="14" name="Graphic 13" descr="A vector icon of a shield with a heart in the center, symbolizing trust and goodwill within a community, with a transparent background. No visible or implied text, letters, or words should appear anywhere in the image">
            <a:extLst>
              <a:ext uri="{FF2B5EF4-FFF2-40B4-BE49-F238E27FC236}">
                <a16:creationId xmlns:a16="http://schemas.microsoft.com/office/drawing/2014/main" id="{E5787004-6039-41BE-9487-0FD4865E7B9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1550" y="5065811"/>
            <a:ext cx="476250" cy="476250"/>
          </a:xfrm>
          <a:prstGeom prst="rect">
            <a:avLst/>
          </a:prstGeom>
        </p:spPr>
      </p:pic>
      <p:pic>
        <p:nvPicPr>
          <p:cNvPr id="15" name="Graphic 14">
            <a:extLst>
              <a:ext uri="{FF2B5EF4-FFF2-40B4-BE49-F238E27FC236}">
                <a16:creationId xmlns:a16="http://schemas.microsoft.com/office/drawing/2014/main" id="{7B291001-4527-4FB0-A04C-F7A0A2AD6B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961036"/>
            <a:ext cx="685800" cy="685800"/>
          </a:xfrm>
          <a:prstGeom prst="rect">
            <a:avLst/>
          </a:prstGeom>
        </p:spPr>
      </p:pic>
      <p:pic>
        <p:nvPicPr>
          <p:cNvPr id="16" name="Graphic 15" descr="A vector icon of a sprouting plant held in two hands, symbolizing sustained community growth and nurturing, designed in a simple, modern style with a transparent background. No visible or implied text, letters, or words should appear anywhere in the image. Use a harmonious color palette that matches soft cream, forest green, and accent hues">
            <a:extLst>
              <a:ext uri="{FF2B5EF4-FFF2-40B4-BE49-F238E27FC236}">
                <a16:creationId xmlns:a16="http://schemas.microsoft.com/office/drawing/2014/main" id="{9E06B7E2-3298-4B46-BF0F-22EB57E6C6A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5065811"/>
            <a:ext cx="476250" cy="476250"/>
          </a:xfrm>
          <a:prstGeom prst="rect">
            <a:avLst/>
          </a:prstGeom>
        </p:spPr>
      </p:pic>
      <p:sp>
        <p:nvSpPr>
          <p:cNvPr id="17" name="TextBox 16">
            <a:extLst>
              <a:ext uri="{FF2B5EF4-FFF2-40B4-BE49-F238E27FC236}">
                <a16:creationId xmlns:a16="http://schemas.microsoft.com/office/drawing/2014/main" id="{DA2F4443-9B32-4C47-95CC-168342D335B3}"/>
              </a:ext>
            </a:extLst>
          </p:cNvPr>
          <p:cNvSpPr txBox="1"/>
          <p:nvPr/>
        </p:nvSpPr>
        <p:spPr>
          <a:xfrm>
            <a:off x="619125" y="1038225"/>
            <a:ext cx="10972800" cy="1005780"/>
          </a:xfrm>
          <a:prstGeom prst="rect">
            <a:avLst/>
          </a:prstGeom>
          <a:noFill/>
        </p:spPr>
        <p:txBody>
          <a:bodyPr wrap="square" rtlCol="0">
            <a:normAutofit/>
          </a:bodyPr>
          <a:lstStyle/>
          <a:p>
            <a:pPr marL="0" algn="l">
              <a:buNone/>
            </a:pPr>
            <a:r>
              <a:rPr sz="3600" b="0">
                <a:solidFill>
                  <a:srgbClr val="105237"/>
                </a:solidFill>
                <a:effectLst/>
                <a:latin typeface="Avenir Next LT Pro" panose="020B0504020202020204" pitchFamily="34" charset="0"/>
              </a:rPr>
              <a:t>Balancing Helpful Engagement and Authentic Presence</a:t>
            </a:r>
            <a:r>
              <a:rPr>
                <a:effectLst/>
              </a:rPr>
              <a:t> </a:t>
            </a:r>
            <a:endParaRPr lang="en-US"/>
          </a:p>
        </p:txBody>
      </p:sp>
      <p:sp>
        <p:nvSpPr>
          <p:cNvPr id="18" name="TextBox 17">
            <a:extLst>
              <a:ext uri="{FF2B5EF4-FFF2-40B4-BE49-F238E27FC236}">
                <a16:creationId xmlns:a16="http://schemas.microsoft.com/office/drawing/2014/main" id="{98A89856-110C-4D0E-A900-CD2F9D9E7F1C}"/>
              </a:ext>
            </a:extLst>
          </p:cNvPr>
          <p:cNvSpPr txBox="1"/>
          <p:nvPr/>
        </p:nvSpPr>
        <p:spPr>
          <a:xfrm>
            <a:off x="1781175" y="2692896"/>
            <a:ext cx="3810000" cy="1422796"/>
          </a:xfrm>
          <a:prstGeom prst="rect">
            <a:avLst/>
          </a:prstGeom>
          <a:noFill/>
        </p:spPr>
        <p:txBody>
          <a:bodyPr wrap="square" rtlCol="0">
            <a:normAutofit/>
          </a:bodyPr>
          <a:lstStyle/>
          <a:p>
            <a:pPr marL="0" algn="l">
              <a:buNone/>
            </a:pPr>
            <a:r>
              <a:rPr sz="1800" b="1">
                <a:solidFill>
                  <a:srgbClr val="105237"/>
                </a:solidFill>
                <a:effectLst/>
                <a:latin typeface="Avenir Next LT Pro" panose="020B0504020202020204" pitchFamily="34" charset="0"/>
              </a:rPr>
              <a:t>Benefits of Authentic Engagement</a:t>
            </a:r>
            <a:r>
              <a:rPr>
                <a:effectLst/>
              </a:rPr>
              <a:t> </a:t>
            </a:r>
          </a:p>
          <a:p>
            <a:pPr marL="0" algn="l">
              <a:spcBef>
                <a:spcPts val="900"/>
              </a:spcBef>
              <a:buNone/>
            </a:pPr>
            <a:r>
              <a:rPr sz="1425" b="0">
                <a:solidFill>
                  <a:srgbClr val="105237"/>
                </a:solidFill>
                <a:effectLst/>
                <a:latin typeface="Avenir Next LT Pro" panose="020B0504020202020204" pitchFamily="34" charset="0"/>
              </a:rPr>
              <a:t>Builds trust and credibility, encourages organic sharing, and strengthens community relationships.</a:t>
            </a:r>
            <a:r>
              <a:rPr>
                <a:effectLst/>
              </a:rPr>
              <a:t> </a:t>
            </a:r>
            <a:endParaRPr lang="en-US"/>
          </a:p>
        </p:txBody>
      </p:sp>
      <p:sp>
        <p:nvSpPr>
          <p:cNvPr id="19" name="TextBox 18">
            <a:extLst>
              <a:ext uri="{FF2B5EF4-FFF2-40B4-BE49-F238E27FC236}">
                <a16:creationId xmlns:a16="http://schemas.microsoft.com/office/drawing/2014/main" id="{472E5977-DBE2-406D-93ED-F9E893F6F620}"/>
              </a:ext>
            </a:extLst>
          </p:cNvPr>
          <p:cNvSpPr txBox="1"/>
          <p:nvPr/>
        </p:nvSpPr>
        <p:spPr>
          <a:xfrm>
            <a:off x="7286625" y="2692896"/>
            <a:ext cx="3810000" cy="1148506"/>
          </a:xfrm>
          <a:prstGeom prst="rect">
            <a:avLst/>
          </a:prstGeom>
          <a:noFill/>
        </p:spPr>
        <p:txBody>
          <a:bodyPr wrap="square" rtlCol="0">
            <a:normAutofit/>
          </a:bodyPr>
          <a:lstStyle/>
          <a:p>
            <a:pPr marL="0" algn="l">
              <a:buNone/>
            </a:pPr>
            <a:r>
              <a:rPr sz="1800" b="1">
                <a:solidFill>
                  <a:srgbClr val="105237"/>
                </a:solidFill>
                <a:effectLst/>
                <a:latin typeface="Avenir Next LT Pro" panose="020B0504020202020204" pitchFamily="34" charset="0"/>
              </a:rPr>
              <a:t>Risks of Over-Promotion</a:t>
            </a:r>
            <a:r>
              <a:rPr>
                <a:effectLst/>
              </a:rPr>
              <a:t> </a:t>
            </a:r>
          </a:p>
          <a:p>
            <a:pPr marL="0" algn="l">
              <a:spcBef>
                <a:spcPts val="900"/>
              </a:spcBef>
              <a:buNone/>
            </a:pPr>
            <a:r>
              <a:rPr sz="1425" b="0">
                <a:solidFill>
                  <a:srgbClr val="105237"/>
                </a:solidFill>
                <a:effectLst/>
                <a:latin typeface="Avenir Next LT Pro" panose="020B0504020202020204" pitchFamily="34" charset="0"/>
              </a:rPr>
              <a:t>Reduces response rates by up to 40%, increases moderation risk, and can damage brand reputation.</a:t>
            </a:r>
            <a:r>
              <a:rPr>
                <a:effectLst/>
              </a:rPr>
              <a:t> </a:t>
            </a:r>
            <a:endParaRPr lang="en-US"/>
          </a:p>
        </p:txBody>
      </p:sp>
      <p:sp>
        <p:nvSpPr>
          <p:cNvPr id="20" name="TextBox 19">
            <a:extLst>
              <a:ext uri="{FF2B5EF4-FFF2-40B4-BE49-F238E27FC236}">
                <a16:creationId xmlns:a16="http://schemas.microsoft.com/office/drawing/2014/main" id="{7D5C2338-D694-475D-9EA8-3F8877BF985A}"/>
              </a:ext>
            </a:extLst>
          </p:cNvPr>
          <p:cNvSpPr txBox="1"/>
          <p:nvPr/>
        </p:nvSpPr>
        <p:spPr>
          <a:xfrm>
            <a:off x="1781175" y="4961036"/>
            <a:ext cx="3810000" cy="1148506"/>
          </a:xfrm>
          <a:prstGeom prst="rect">
            <a:avLst/>
          </a:prstGeom>
          <a:noFill/>
        </p:spPr>
        <p:txBody>
          <a:bodyPr wrap="square" rtlCol="0">
            <a:normAutofit/>
          </a:bodyPr>
          <a:lstStyle/>
          <a:p>
            <a:pPr marL="0" algn="l">
              <a:buNone/>
            </a:pPr>
            <a:r>
              <a:rPr sz="1800" b="1">
                <a:solidFill>
                  <a:srgbClr val="105237"/>
                </a:solidFill>
                <a:effectLst/>
                <a:latin typeface="Avenir Next LT Pro" panose="020B0504020202020204" pitchFamily="34" charset="0"/>
              </a:rPr>
              <a:t>Strategies for Balance</a:t>
            </a:r>
            <a:r>
              <a:rPr>
                <a:effectLst/>
              </a:rPr>
              <a:t> </a:t>
            </a:r>
          </a:p>
          <a:p>
            <a:pPr marL="0" algn="l">
              <a:spcBef>
                <a:spcPts val="900"/>
              </a:spcBef>
              <a:buNone/>
            </a:pPr>
            <a:r>
              <a:rPr sz="1425" b="0">
                <a:solidFill>
                  <a:srgbClr val="105237"/>
                </a:solidFill>
                <a:effectLst/>
                <a:latin typeface="Avenir Next LT Pro" panose="020B0504020202020204" pitchFamily="34" charset="0"/>
              </a:rPr>
              <a:t>Consistently offer value, share expertise, and engage in genuine conversations aligned with community norms.</a:t>
            </a:r>
            <a:r>
              <a:rPr>
                <a:effectLst/>
              </a:rPr>
              <a:t> </a:t>
            </a:r>
            <a:endParaRPr lang="en-US"/>
          </a:p>
        </p:txBody>
      </p:sp>
      <p:sp>
        <p:nvSpPr>
          <p:cNvPr id="21" name="TextBox 20">
            <a:extLst>
              <a:ext uri="{FF2B5EF4-FFF2-40B4-BE49-F238E27FC236}">
                <a16:creationId xmlns:a16="http://schemas.microsoft.com/office/drawing/2014/main" id="{403D1357-2AE7-4DB8-9458-E76E1C98AB50}"/>
              </a:ext>
            </a:extLst>
          </p:cNvPr>
          <p:cNvSpPr txBox="1"/>
          <p:nvPr/>
        </p:nvSpPr>
        <p:spPr>
          <a:xfrm>
            <a:off x="7286625" y="4961036"/>
            <a:ext cx="3810000" cy="895201"/>
          </a:xfrm>
          <a:prstGeom prst="rect">
            <a:avLst/>
          </a:prstGeom>
          <a:noFill/>
        </p:spPr>
        <p:txBody>
          <a:bodyPr wrap="square" rtlCol="0">
            <a:normAutofit/>
          </a:bodyPr>
          <a:lstStyle/>
          <a:p>
            <a:pPr marL="0" algn="l">
              <a:buNone/>
            </a:pPr>
            <a:r>
              <a:rPr sz="1800" b="1">
                <a:solidFill>
                  <a:srgbClr val="105237"/>
                </a:solidFill>
                <a:effectLst/>
                <a:latin typeface="Avenir Next LT Pro" panose="020B0504020202020204" pitchFamily="34" charset="0"/>
              </a:rPr>
              <a:t>Outcomes of Balanced Presence</a:t>
            </a:r>
            <a:r>
              <a:rPr>
                <a:effectLst/>
              </a:rPr>
              <a:t> </a:t>
            </a:r>
          </a:p>
          <a:p>
            <a:pPr marL="0" algn="l">
              <a:spcBef>
                <a:spcPts val="900"/>
              </a:spcBef>
              <a:buNone/>
            </a:pPr>
            <a:r>
              <a:rPr sz="1425" b="0">
                <a:solidFill>
                  <a:srgbClr val="105237"/>
                </a:solidFill>
                <a:effectLst/>
                <a:latin typeface="Avenir Next LT Pro" panose="020B0504020202020204" pitchFamily="34" charset="0"/>
              </a:rPr>
              <a:t>Fosters goodwill, sustains influence, and promotes long-term community growth.</a:t>
            </a:r>
            <a:r>
              <a:rPr>
                <a:effectLst/>
              </a:rPr>
              <a:t> </a:t>
            </a:r>
            <a:endParaRPr lang="en-US"/>
          </a:p>
        </p:txBody>
      </p:sp>
    </p:spTree>
    <p:extLst>
      <p:ext uri="{BB962C8B-B14F-4D97-AF65-F5344CB8AC3E}">
        <p14:creationId xmlns:p14="http://schemas.microsoft.com/office/powerpoint/2010/main" val="1901690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0CF056F-731F-44F5-B9A3-52EE50C8DD1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CA27594-0722-241B-637C-8E783DB983AF}"/>
              </a:ext>
            </a:extLst>
          </p:cNvPr>
          <p:cNvSpPr>
            <a:spLocks noGrp="1"/>
          </p:cNvSpPr>
          <p:nvPr>
            <p:ph sz="quarter" idx="16"/>
          </p:nvPr>
        </p:nvSpPr>
        <p:spPr>
          <a:xfrm>
            <a:off x="828675" y="3933825"/>
            <a:ext cx="10534650" cy="2095500"/>
          </a:xfrm>
        </p:spPr>
        <p:txBody>
          <a:bodyPr>
            <a:normAutofit fontScale="77500" lnSpcReduction="20000"/>
          </a:bodyPr>
          <a:lstStyle/>
          <a:p>
            <a:pPr marL="0" marR="0" indent="0" algn="l" fontAlgn="b">
              <a:buNone/>
            </a:pPr>
            <a:r>
              <a:rPr sz="6750">
                <a:solidFill>
                  <a:srgbClr val="DEB4FC"/>
                </a:solidFill>
                <a:effectLst/>
                <a:latin typeface="Avenir Next LT Pro" panose="020B0504020202020204" pitchFamily="34" charset="0"/>
              </a:rPr>
              <a:t>Target Subreddits and Community Engagement</a:t>
            </a:r>
            <a:r>
              <a:rPr>
                <a:effectLst/>
              </a:rPr>
              <a:t> </a:t>
            </a:r>
            <a:endParaRPr lang="en-US"/>
          </a:p>
        </p:txBody>
      </p:sp>
      <p:sp>
        <p:nvSpPr>
          <p:cNvPr id="6" name="Date Placeholder 5">
            <a:extLst>
              <a:ext uri="{FF2B5EF4-FFF2-40B4-BE49-F238E27FC236}">
                <a16:creationId xmlns:a16="http://schemas.microsoft.com/office/drawing/2014/main" id="{C48C2E01-C461-3704-22F6-0BFE7F081CD5}"/>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EAE84289-43B7-0335-78EC-75FAD9442A96}"/>
              </a:ext>
            </a:extLst>
          </p:cNvPr>
          <p:cNvSpPr>
            <a:spLocks noGrp="1"/>
          </p:cNvSpPr>
          <p:nvPr>
            <p:ph type="sldNum" sz="quarter" idx="19"/>
          </p:nvPr>
        </p:nvSpPr>
        <p:spPr/>
        <p:txBody>
          <a:bodyPr/>
          <a:lstStyle/>
          <a:p>
            <a:fld id="{AEAA3239-9EA4-4A65-A281-97F994456D9F}" type="slidenum">
              <a:rPr lang="en-US" smtClean="0"/>
              <a:pPr/>
              <a:t>7</a:t>
            </a:fld>
            <a:endParaRPr lang="en-US" sz="900" dirty="0"/>
          </a:p>
        </p:txBody>
      </p:sp>
    </p:spTree>
    <p:extLst>
      <p:ext uri="{BB962C8B-B14F-4D97-AF65-F5344CB8AC3E}">
        <p14:creationId xmlns:p14="http://schemas.microsoft.com/office/powerpoint/2010/main" val="3211019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AC23D60-C727-4481-8B06-4F50E320154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ECD7A6C3-0A56-0F19-B5E2-BA4B6E43C87F}"/>
              </a:ext>
            </a:extLst>
          </p:cNvPr>
          <p:cNvSpPr>
            <a:spLocks noGrp="1"/>
          </p:cNvSpPr>
          <p:nvPr>
            <p:ph sz="quarter" idx="16"/>
          </p:nvPr>
        </p:nvSpPr>
        <p:spPr>
          <a:xfrm>
            <a:off x="1333500" y="2095500"/>
            <a:ext cx="9525000" cy="1714500"/>
          </a:xfrm>
        </p:spPr>
        <p:txBody>
          <a:bodyPr>
            <a:normAutofit fontScale="92500" lnSpcReduction="10000"/>
          </a:bodyPr>
          <a:lstStyle/>
          <a:p>
            <a:pPr marL="0" indent="0" algn="ctr">
              <a:buNone/>
            </a:pPr>
            <a:r>
              <a:rPr sz="13500" b="1">
                <a:solidFill>
                  <a:srgbClr val="105237"/>
                </a:solidFill>
                <a:effectLst/>
                <a:latin typeface="Avenir Next LT Pro" panose="020B0504020202020204" pitchFamily="34" charset="0"/>
              </a:rPr>
              <a:t>600K+</a:t>
            </a:r>
            <a:r>
              <a:rPr>
                <a:effectLst/>
              </a:rPr>
              <a:t> </a:t>
            </a:r>
            <a:endParaRPr lang="en-US"/>
          </a:p>
        </p:txBody>
      </p:sp>
      <p:sp>
        <p:nvSpPr>
          <p:cNvPr id="6" name="Date Placeholder 5">
            <a:extLst>
              <a:ext uri="{FF2B5EF4-FFF2-40B4-BE49-F238E27FC236}">
                <a16:creationId xmlns:a16="http://schemas.microsoft.com/office/drawing/2014/main" id="{EEE6EB8C-0F1A-2FA4-1986-4638427C1F86}"/>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E82294B4-E4BF-4336-D484-3E2E4B1FA769}"/>
              </a:ext>
            </a:extLst>
          </p:cNvPr>
          <p:cNvSpPr>
            <a:spLocks noGrp="1"/>
          </p:cNvSpPr>
          <p:nvPr>
            <p:ph type="sldNum" sz="quarter" idx="19"/>
          </p:nvPr>
        </p:nvSpPr>
        <p:spPr/>
        <p:txBody>
          <a:bodyPr/>
          <a:lstStyle/>
          <a:p>
            <a:fld id="{AEAA3239-9EA4-4A65-A281-97F994456D9F}" type="slidenum">
              <a:rPr lang="en-US" smtClean="0"/>
              <a:pPr/>
              <a:t>8</a:t>
            </a:fld>
            <a:endParaRPr lang="en-US" sz="900" dirty="0"/>
          </a:p>
        </p:txBody>
      </p:sp>
      <p:sp>
        <p:nvSpPr>
          <p:cNvPr id="9" name="TextBox 8">
            <a:extLst>
              <a:ext uri="{FF2B5EF4-FFF2-40B4-BE49-F238E27FC236}">
                <a16:creationId xmlns:a16="http://schemas.microsoft.com/office/drawing/2014/main" id="{57BF11B4-1AB4-48D4-86E5-E9AC3D20642C}"/>
              </a:ext>
            </a:extLst>
          </p:cNvPr>
          <p:cNvSpPr txBox="1"/>
          <p:nvPr/>
        </p:nvSpPr>
        <p:spPr>
          <a:xfrm>
            <a:off x="1333500" y="4572000"/>
            <a:ext cx="9525000" cy="891480"/>
          </a:xfrm>
          <a:prstGeom prst="rect">
            <a:avLst/>
          </a:prstGeom>
          <a:noFill/>
        </p:spPr>
        <p:txBody>
          <a:bodyPr wrap="square" rtlCol="0">
            <a:normAutofit/>
          </a:bodyPr>
          <a:lstStyle/>
          <a:p>
            <a:pPr marL="0" algn="ctr">
              <a:buNone/>
            </a:pPr>
            <a:r>
              <a:rPr sz="2700" b="0">
                <a:solidFill>
                  <a:srgbClr val="105237"/>
                </a:solidFill>
                <a:effectLst/>
                <a:latin typeface="Avenir Next LT Pro" panose="020B0504020202020204" pitchFamily="34" charset="0"/>
              </a:rPr>
              <a:t>members make r/Electricvehicles Reddit’s largest EV community</a:t>
            </a:r>
            <a:r>
              <a:rPr>
                <a:effectLst/>
              </a:rPr>
              <a:t> </a:t>
            </a:r>
            <a:endParaRPr lang="en-US"/>
          </a:p>
        </p:txBody>
      </p:sp>
    </p:spTree>
    <p:extLst>
      <p:ext uri="{BB962C8B-B14F-4D97-AF65-F5344CB8AC3E}">
        <p14:creationId xmlns:p14="http://schemas.microsoft.com/office/powerpoint/2010/main" val="926664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765363A-4289-46BD-A641-E4212CC5B66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71AF5133-52C1-025E-78F2-9E8802827E45}"/>
              </a:ext>
            </a:extLst>
          </p:cNvPr>
          <p:cNvSpPr>
            <a:spLocks noGrp="1"/>
          </p:cNvSpPr>
          <p:nvPr>
            <p:ph sz="quarter" idx="16"/>
          </p:nvPr>
        </p:nvSpPr>
        <p:spPr>
          <a:xfrm>
            <a:off x="619125" y="1038225"/>
            <a:ext cx="10972800" cy="502890"/>
          </a:xfrm>
        </p:spPr>
        <p:txBody>
          <a:bodyPr/>
          <a:lstStyle/>
          <a:p>
            <a:pPr marL="0" indent="0" algn="l">
              <a:buNone/>
            </a:pPr>
            <a:r>
              <a:rPr sz="3600" b="0">
                <a:solidFill>
                  <a:srgbClr val="105237"/>
                </a:solidFill>
                <a:effectLst/>
                <a:latin typeface="Avenir Next LT Pro" panose="020B0504020202020204" pitchFamily="34" charset="0"/>
              </a:rPr>
              <a:t>Secondary EV Subreddit Engagement</a:t>
            </a:r>
            <a:r>
              <a:rPr>
                <a:effectLst/>
              </a:rPr>
              <a:t> </a:t>
            </a:r>
            <a:endParaRPr lang="en-US"/>
          </a:p>
        </p:txBody>
      </p:sp>
      <p:sp>
        <p:nvSpPr>
          <p:cNvPr id="6" name="Date Placeholder 5">
            <a:extLst>
              <a:ext uri="{FF2B5EF4-FFF2-40B4-BE49-F238E27FC236}">
                <a16:creationId xmlns:a16="http://schemas.microsoft.com/office/drawing/2014/main" id="{9BFF66F2-6893-3894-1667-E0AE1F3970EC}"/>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DC791C2B-E3D4-2193-9955-968A117E1AED}"/>
              </a:ext>
            </a:extLst>
          </p:cNvPr>
          <p:cNvSpPr>
            <a:spLocks noGrp="1"/>
          </p:cNvSpPr>
          <p:nvPr>
            <p:ph type="sldNum" sz="quarter" idx="19"/>
          </p:nvPr>
        </p:nvSpPr>
        <p:spPr/>
        <p:txBody>
          <a:bodyPr/>
          <a:lstStyle/>
          <a:p>
            <a:fld id="{AEAA3239-9EA4-4A65-A281-97F994456D9F}" type="slidenum">
              <a:rPr lang="en-US" smtClean="0"/>
              <a:pPr/>
              <a:t>9</a:t>
            </a:fld>
            <a:endParaRPr lang="en-US" sz="900" dirty="0"/>
          </a:p>
        </p:txBody>
      </p:sp>
      <p:sp>
        <p:nvSpPr>
          <p:cNvPr id="9" name="TextBox 8">
            <a:extLst>
              <a:ext uri="{FF2B5EF4-FFF2-40B4-BE49-F238E27FC236}">
                <a16:creationId xmlns:a16="http://schemas.microsoft.com/office/drawing/2014/main" id="{0A1561F4-4339-432E-96BA-786C085702D3}"/>
              </a:ext>
            </a:extLst>
          </p:cNvPr>
          <p:cNvSpPr txBox="1"/>
          <p:nvPr/>
        </p:nvSpPr>
        <p:spPr>
          <a:xfrm>
            <a:off x="619125" y="2289720"/>
            <a:ext cx="4476750" cy="1597967"/>
          </a:xfrm>
          <a:prstGeom prst="rect">
            <a:avLst/>
          </a:prstGeom>
          <a:noFill/>
        </p:spPr>
        <p:txBody>
          <a:bodyPr wrap="square" rtlCol="0">
            <a:normAutofit/>
          </a:bodyPr>
          <a:lstStyle/>
          <a:p>
            <a:pPr marL="0" algn="l">
              <a:buNone/>
            </a:pPr>
            <a:r>
              <a:rPr sz="1425" b="1">
                <a:solidFill>
                  <a:srgbClr val="105237"/>
                </a:solidFill>
                <a:effectLst/>
                <a:latin typeface="Avenir Next LT Pro" panose="020B0504020202020204" pitchFamily="34" charset="0"/>
              </a:rPr>
              <a:t>r/Electriccars: models and buying advice</a:t>
            </a:r>
            <a:r>
              <a:rPr>
                <a:effectLst/>
              </a:rPr>
              <a:t> </a:t>
            </a:r>
          </a:p>
          <a:p>
            <a:pPr marL="0" algn="l">
              <a:spcBef>
                <a:spcPts val="900"/>
              </a:spcBef>
              <a:buNone/>
            </a:pPr>
            <a:r>
              <a:rPr sz="1425" b="0">
                <a:solidFill>
                  <a:srgbClr val="105237"/>
                </a:solidFill>
                <a:effectLst/>
                <a:latin typeface="Avenir Next LT Pro" panose="020B0504020202020204" pitchFamily="34" charset="0"/>
              </a:rPr>
              <a:t>Focuses on vehicle model comparisons and purchase guidance for a broad audience. ~180,000 members drive frequent discussions on new releases and buying tips. Ideal for reaching mainstream EV shoppers and evaluators.</a:t>
            </a:r>
            <a:r>
              <a:rPr>
                <a:effectLst/>
              </a:rPr>
              <a:t> </a:t>
            </a:r>
            <a:endParaRPr lang="en-US"/>
          </a:p>
        </p:txBody>
      </p:sp>
      <p:sp>
        <p:nvSpPr>
          <p:cNvPr id="10" name="TextBox 9">
            <a:extLst>
              <a:ext uri="{FF2B5EF4-FFF2-40B4-BE49-F238E27FC236}">
                <a16:creationId xmlns:a16="http://schemas.microsoft.com/office/drawing/2014/main" id="{9B8FF00A-3A82-4B7B-8E3D-B5BDC0A14B71}"/>
              </a:ext>
            </a:extLst>
          </p:cNvPr>
          <p:cNvSpPr txBox="1"/>
          <p:nvPr/>
        </p:nvSpPr>
        <p:spPr>
          <a:xfrm>
            <a:off x="5553075" y="2289720"/>
            <a:ext cx="4476750" cy="1597967"/>
          </a:xfrm>
          <a:prstGeom prst="rect">
            <a:avLst/>
          </a:prstGeom>
          <a:noFill/>
        </p:spPr>
        <p:txBody>
          <a:bodyPr wrap="square" rtlCol="0">
            <a:normAutofit/>
          </a:bodyPr>
          <a:lstStyle/>
          <a:p>
            <a:pPr marL="0" algn="l">
              <a:buNone/>
            </a:pPr>
            <a:r>
              <a:rPr sz="1425" b="1">
                <a:solidFill>
                  <a:srgbClr val="105237"/>
                </a:solidFill>
                <a:effectLst/>
                <a:latin typeface="Avenir Next LT Pro" panose="020B0504020202020204" pitchFamily="34" charset="0"/>
              </a:rPr>
              <a:t>r/EVRoutine: charging and daily usage</a:t>
            </a:r>
            <a:r>
              <a:rPr>
                <a:effectLst/>
              </a:rPr>
              <a:t> </a:t>
            </a:r>
          </a:p>
          <a:p>
            <a:pPr marL="0" algn="l">
              <a:spcBef>
                <a:spcPts val="900"/>
              </a:spcBef>
              <a:buNone/>
            </a:pPr>
            <a:r>
              <a:rPr sz="1425" b="0">
                <a:solidFill>
                  <a:srgbClr val="105237"/>
                </a:solidFill>
                <a:effectLst/>
                <a:latin typeface="Avenir Next LT Pro" panose="020B0504020202020204" pitchFamily="34" charset="0"/>
              </a:rPr>
              <a:t>Centers on optimizing charging, routines, and real‑world efficiency. Smaller but highly engaged community prioritizes practical, actionable discussion. Ideal for targeted, utility‑focused messaging and testing tips.</a:t>
            </a:r>
            <a:r>
              <a:rPr>
                <a:effectLst/>
              </a:rPr>
              <a:t> </a:t>
            </a:r>
            <a:endParaRPr lang="en-US"/>
          </a:p>
        </p:txBody>
      </p:sp>
    </p:spTree>
    <p:extLst>
      <p:ext uri="{BB962C8B-B14F-4D97-AF65-F5344CB8AC3E}">
        <p14:creationId xmlns:p14="http://schemas.microsoft.com/office/powerpoint/2010/main" val="200240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B2AD846-EFA1-46C1-8749-35158F96EB2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0A89B9DC-BBA7-001C-E02F-A221BBC7CF61}"/>
              </a:ext>
            </a:extLst>
          </p:cNvPr>
          <p:cNvSpPr>
            <a:spLocks noGrp="1"/>
          </p:cNvSpPr>
          <p:nvPr>
            <p:ph sz="quarter" idx="16"/>
          </p:nvPr>
        </p:nvSpPr>
        <p:spPr>
          <a:xfrm>
            <a:off x="619125" y="619125"/>
            <a:ext cx="12172950" cy="670470"/>
          </a:xfrm>
        </p:spPr>
        <p:txBody>
          <a:bodyPr/>
          <a:lstStyle/>
          <a:p>
            <a:pPr marL="0" marR="0" indent="0" algn="l">
              <a:buNone/>
            </a:pPr>
            <a:r>
              <a:rPr sz="4800" b="0">
                <a:solidFill>
                  <a:srgbClr val="105237"/>
                </a:solidFill>
                <a:effectLst/>
                <a:latin typeface="Avenir Next LT Pro" panose="020B0504020202020204" pitchFamily="34" charset="0"/>
              </a:rPr>
              <a:t>Criteria and Etiquette for Subreddits</a:t>
            </a:r>
            <a:r>
              <a:rPr>
                <a:effectLst/>
              </a:rPr>
              <a:t> </a:t>
            </a:r>
            <a:endParaRPr lang="en-US"/>
          </a:p>
        </p:txBody>
      </p:sp>
      <p:sp>
        <p:nvSpPr>
          <p:cNvPr id="6" name="Date Placeholder 5">
            <a:extLst>
              <a:ext uri="{FF2B5EF4-FFF2-40B4-BE49-F238E27FC236}">
                <a16:creationId xmlns:a16="http://schemas.microsoft.com/office/drawing/2014/main" id="{32232774-1209-6AFF-1EA3-DAF1A7D9E643}"/>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CB26623C-83F5-E0E8-F471-37CD8D0C58E9}"/>
              </a:ext>
            </a:extLst>
          </p:cNvPr>
          <p:cNvSpPr>
            <a:spLocks noGrp="1"/>
          </p:cNvSpPr>
          <p:nvPr>
            <p:ph type="sldNum" sz="quarter" idx="19"/>
          </p:nvPr>
        </p:nvSpPr>
        <p:spPr/>
        <p:txBody>
          <a:bodyPr/>
          <a:lstStyle/>
          <a:p>
            <a:fld id="{AEAA3239-9EA4-4A65-A281-97F994456D9F}" type="slidenum">
              <a:rPr lang="en-US" smtClean="0"/>
              <a:pPr/>
              <a:t>10</a:t>
            </a:fld>
            <a:endParaRPr lang="en-US" sz="900" dirty="0"/>
          </a:p>
        </p:txBody>
      </p:sp>
      <p:sp>
        <p:nvSpPr>
          <p:cNvPr id="9" name="TextBox 8">
            <a:extLst>
              <a:ext uri="{FF2B5EF4-FFF2-40B4-BE49-F238E27FC236}">
                <a16:creationId xmlns:a16="http://schemas.microsoft.com/office/drawing/2014/main" id="{BBB8F5CE-CDFA-4DD7-AA01-E647DB224A06}"/>
              </a:ext>
            </a:extLst>
          </p:cNvPr>
          <p:cNvSpPr txBox="1"/>
          <p:nvPr/>
        </p:nvSpPr>
        <p:spPr>
          <a:xfrm>
            <a:off x="619125" y="1339006"/>
            <a:ext cx="12172950" cy="297060"/>
          </a:xfrm>
          <a:prstGeom prst="rect">
            <a:avLst/>
          </a:prstGeom>
          <a:noFill/>
        </p:spPr>
        <p:txBody>
          <a:bodyPr wrap="square" rtlCol="0">
            <a:normAutofit/>
          </a:bodyPr>
          <a:lstStyle/>
          <a:p>
            <a:pPr marL="0" marR="0" algn="l">
              <a:buNone/>
            </a:pPr>
            <a:r>
              <a:rPr sz="1800" b="0">
                <a:solidFill>
                  <a:srgbClr val="105237"/>
                </a:solidFill>
                <a:effectLst/>
                <a:latin typeface="Avenir Next LT Pro" panose="020B0504020202020204" pitchFamily="34" charset="0"/>
              </a:rPr>
              <a:t>Best practices for respectful, rule‑aligned posts</a:t>
            </a:r>
            <a:r>
              <a:rPr>
                <a:effectLst/>
              </a:rPr>
              <a:t> </a:t>
            </a:r>
            <a:endParaRPr lang="en-US"/>
          </a:p>
        </p:txBody>
      </p:sp>
      <p:sp>
        <p:nvSpPr>
          <p:cNvPr id="10" name="TextBox 9">
            <a:extLst>
              <a:ext uri="{FF2B5EF4-FFF2-40B4-BE49-F238E27FC236}">
                <a16:creationId xmlns:a16="http://schemas.microsoft.com/office/drawing/2014/main" id="{1F2581F0-E509-47AD-BCE9-FCF3FBB985F7}"/>
              </a:ext>
            </a:extLst>
          </p:cNvPr>
          <p:cNvSpPr txBox="1"/>
          <p:nvPr/>
        </p:nvSpPr>
        <p:spPr>
          <a:xfrm>
            <a:off x="619125" y="1967656"/>
            <a:ext cx="12172950" cy="4489251"/>
          </a:xfrm>
          <a:prstGeom prst="rect">
            <a:avLst/>
          </a:prstGeom>
          <a:noFill/>
        </p:spPr>
        <p:txBody>
          <a:bodyPr wrap="square" rtlCol="0">
            <a:normAutofit fontScale="92500"/>
          </a:bodyPr>
          <a:lstStyle/>
          <a:p>
            <a:pPr marL="0" marR="0" algn="l">
              <a:buNone/>
            </a:pPr>
            <a:r>
              <a:rPr sz="1650" b="1">
                <a:solidFill>
                  <a:srgbClr val="105237"/>
                </a:solidFill>
                <a:effectLst/>
                <a:latin typeface="Avenir Next LT Pro" panose="020B0504020202020204" pitchFamily="34" charset="0"/>
              </a:rPr>
              <a:t>Know the rules before posting</a:t>
            </a:r>
            <a:r>
              <a:rPr>
                <a:effectLst/>
              </a:rPr>
              <a:t> </a:t>
            </a:r>
          </a:p>
          <a:p>
            <a:pPr marL="0" marR="0" algn="l">
              <a:spcBef>
                <a:spcPts val="450"/>
              </a:spcBef>
              <a:buNone/>
            </a:pPr>
            <a:r>
              <a:rPr sz="1350" b="0">
                <a:solidFill>
                  <a:srgbClr val="105237"/>
                </a:solidFill>
                <a:effectLst/>
                <a:latin typeface="Avenir Next LT Pro" panose="020B0504020202020204" pitchFamily="34" charset="0"/>
              </a:rPr>
              <a:t>Read each subreddit’s sidebar, wiki, and pinned posts to understand eligibility, formatting, and topical boundaries. Many communities ban certain link types, require flairs, or limit frequency. Aligning your submission to these expectations prevents removals and sets the tone for constructive participation from the start.</a:t>
            </a:r>
            <a:r>
              <a:rPr>
                <a:effectLst/>
              </a:rPr>
              <a:t> </a:t>
            </a:r>
          </a:p>
          <a:p>
            <a:pPr marL="0" marR="0" algn="l">
              <a:spcBef>
                <a:spcPts val="1800"/>
              </a:spcBef>
              <a:buNone/>
            </a:pPr>
            <a:r>
              <a:rPr sz="1650" b="1">
                <a:solidFill>
                  <a:srgbClr val="105237"/>
                </a:solidFill>
                <a:effectLst/>
                <a:latin typeface="Avenir Next LT Pro" panose="020B0504020202020204" pitchFamily="34" charset="0"/>
              </a:rPr>
              <a:t>Match content to community norms</a:t>
            </a:r>
            <a:r>
              <a:rPr>
                <a:effectLst/>
              </a:rPr>
              <a:t> </a:t>
            </a:r>
          </a:p>
          <a:p>
            <a:pPr marL="0" marR="0" algn="l">
              <a:spcBef>
                <a:spcPts val="450"/>
              </a:spcBef>
              <a:buNone/>
            </a:pPr>
            <a:r>
              <a:rPr sz="1350" b="0">
                <a:solidFill>
                  <a:srgbClr val="105237"/>
                </a:solidFill>
                <a:effectLst/>
                <a:latin typeface="Avenir Next LT Pro" panose="020B0504020202020204" pitchFamily="34" charset="0"/>
              </a:rPr>
              <a:t>Observe tone and preferred formats—some subs value detailed anecdotes and learning, others prefer concise tips or sources. Avoid salesy language and clickbait. Posts that respect local culture and expectations earn more goodwill and visibility; communities following etiquette see roughly 3x more positive feedback and engagement.</a:t>
            </a:r>
            <a:r>
              <a:rPr>
                <a:effectLst/>
              </a:rPr>
              <a:t> </a:t>
            </a:r>
          </a:p>
          <a:p>
            <a:pPr marL="0" marR="0" algn="l">
              <a:spcBef>
                <a:spcPts val="1800"/>
              </a:spcBef>
              <a:buNone/>
            </a:pPr>
            <a:r>
              <a:rPr sz="1650" b="1">
                <a:solidFill>
                  <a:srgbClr val="105237"/>
                </a:solidFill>
                <a:effectLst/>
                <a:latin typeface="Avenir Next LT Pro" panose="020B0504020202020204" pitchFamily="34" charset="0"/>
              </a:rPr>
              <a:t>Avoid self‑promotion and spam</a:t>
            </a:r>
            <a:r>
              <a:rPr>
                <a:effectLst/>
              </a:rPr>
              <a:t> </a:t>
            </a:r>
          </a:p>
          <a:p>
            <a:pPr marL="0" marR="0" algn="l">
              <a:spcBef>
                <a:spcPts val="450"/>
              </a:spcBef>
              <a:buNone/>
            </a:pPr>
            <a:r>
              <a:rPr sz="1350" b="0">
                <a:solidFill>
                  <a:srgbClr val="105237"/>
                </a:solidFill>
                <a:effectLst/>
                <a:latin typeface="Avenir Next LT Pro" panose="020B0504020202020204" pitchFamily="34" charset="0"/>
              </a:rPr>
              <a:t>Most subreddits restrict promotional links and repetitive mentions of your product or channel. Disclose affiliations, follow self‑promo ratios if defined, and contribute value first. When in doubt, ask mods or use text posts that prioritize insight over links to keep trust and reduce removal risk.</a:t>
            </a:r>
            <a:r>
              <a:rPr>
                <a:effectLst/>
              </a:rPr>
              <a:t> </a:t>
            </a:r>
          </a:p>
          <a:p>
            <a:pPr marL="0" marR="0" algn="l">
              <a:spcBef>
                <a:spcPts val="1800"/>
              </a:spcBef>
              <a:buNone/>
            </a:pPr>
            <a:r>
              <a:rPr sz="1650" b="1">
                <a:solidFill>
                  <a:srgbClr val="105237"/>
                </a:solidFill>
                <a:effectLst/>
                <a:latin typeface="Avenir Next LT Pro" panose="020B0504020202020204" pitchFamily="34" charset="0"/>
              </a:rPr>
              <a:t>Engage respectfully with moderators</a:t>
            </a:r>
            <a:r>
              <a:rPr>
                <a:effectLst/>
              </a:rPr>
              <a:t> </a:t>
            </a:r>
          </a:p>
          <a:p>
            <a:pPr marL="0" marR="0" algn="l">
              <a:spcBef>
                <a:spcPts val="450"/>
              </a:spcBef>
              <a:buNone/>
            </a:pPr>
            <a:r>
              <a:rPr sz="1350" b="0">
                <a:solidFill>
                  <a:srgbClr val="105237"/>
                </a:solidFill>
                <a:effectLst/>
                <a:latin typeface="Avenir Next LT Pro" panose="020B0504020202020204" pitchFamily="34" charset="0"/>
              </a:rPr>
              <a:t>Moderators enforce relevance, civility, and quality. If a post is removed, review the rule cited and revise rather than arguing. Use ModMail for clarification, not public disputes. Consistent, respectful engagement builds credibility and reduces the chance of escalating penalties or bans.</a:t>
            </a:r>
            <a:r>
              <a:rPr>
                <a:effectLst/>
              </a:rPr>
              <a:t> </a:t>
            </a:r>
            <a:endParaRPr lang="en-US"/>
          </a:p>
        </p:txBody>
      </p:sp>
    </p:spTree>
    <p:extLst>
      <p:ext uri="{BB962C8B-B14F-4D97-AF65-F5344CB8AC3E}">
        <p14:creationId xmlns:p14="http://schemas.microsoft.com/office/powerpoint/2010/main" val="303428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68C9067-4798-4EAA-9970-62C2F143FA6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FA94BBC4-DB53-FDED-2740-0F8B197B2840}"/>
              </a:ext>
            </a:extLst>
          </p:cNvPr>
          <p:cNvSpPr>
            <a:spLocks noGrp="1"/>
          </p:cNvSpPr>
          <p:nvPr>
            <p:ph sz="quarter" idx="16"/>
          </p:nvPr>
        </p:nvSpPr>
        <p:spPr>
          <a:xfrm>
            <a:off x="828675" y="3933825"/>
            <a:ext cx="10534650" cy="2095500"/>
          </a:xfrm>
        </p:spPr>
        <p:txBody>
          <a:bodyPr>
            <a:normAutofit fontScale="92500" lnSpcReduction="10000"/>
          </a:bodyPr>
          <a:lstStyle/>
          <a:p>
            <a:pPr marL="0" marR="0" indent="0" algn="l" fontAlgn="b">
              <a:buNone/>
            </a:pPr>
            <a:r>
              <a:rPr sz="6750">
                <a:solidFill>
                  <a:srgbClr val="DEB4FC"/>
                </a:solidFill>
                <a:effectLst/>
                <a:latin typeface="Avenir Next LT Pro" panose="020B0504020202020204" pitchFamily="34" charset="0"/>
              </a:rPr>
              <a:t>Success Targets and Performance Metrics</a:t>
            </a:r>
            <a:r>
              <a:rPr>
                <a:effectLst/>
              </a:rPr>
              <a:t> </a:t>
            </a:r>
            <a:endParaRPr lang="en-US"/>
          </a:p>
        </p:txBody>
      </p:sp>
      <p:sp>
        <p:nvSpPr>
          <p:cNvPr id="6" name="Date Placeholder 5">
            <a:extLst>
              <a:ext uri="{FF2B5EF4-FFF2-40B4-BE49-F238E27FC236}">
                <a16:creationId xmlns:a16="http://schemas.microsoft.com/office/drawing/2014/main" id="{D32946E8-6A35-D73B-4396-929B0525E443}"/>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05A6E192-7F2B-6DA1-AD64-11EF64FCF1DA}"/>
              </a:ext>
            </a:extLst>
          </p:cNvPr>
          <p:cNvSpPr>
            <a:spLocks noGrp="1"/>
          </p:cNvSpPr>
          <p:nvPr>
            <p:ph type="sldNum" sz="quarter" idx="19"/>
          </p:nvPr>
        </p:nvSpPr>
        <p:spPr/>
        <p:txBody>
          <a:bodyPr/>
          <a:lstStyle/>
          <a:p>
            <a:fld id="{AEAA3239-9EA4-4A65-A281-97F994456D9F}" type="slidenum">
              <a:rPr lang="en-US" smtClean="0"/>
              <a:pPr/>
              <a:t>11</a:t>
            </a:fld>
            <a:endParaRPr lang="en-US" sz="900" dirty="0"/>
          </a:p>
        </p:txBody>
      </p:sp>
    </p:spTree>
    <p:extLst>
      <p:ext uri="{BB962C8B-B14F-4D97-AF65-F5344CB8AC3E}">
        <p14:creationId xmlns:p14="http://schemas.microsoft.com/office/powerpoint/2010/main" val="512175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C7888BE-9AA8-4756-8B70-4C5F9516AD2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clean, motivational scene showing a workspace with a laptop, coffee mug, and a visible checklist with three items ticked off, symbolizing productivity and goal achievement. The environment should be bright and modern, with subtle cues of digital community engagement (e.g., open browser tabs, social media icons on the screen). No visible or implied text, letters, or words should appear anywhere in the image. The composition should allow for numbered text overlay on the left side, supporting clarity and motivation">
            <a:extLst>
              <a:ext uri="{FF2B5EF4-FFF2-40B4-BE49-F238E27FC236}">
                <a16:creationId xmlns:a16="http://schemas.microsoft.com/office/drawing/2014/main" id="{391CD22C-DDDE-4007-B2F6-2CCE13BE310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165306" y="619125"/>
            <a:ext cx="3407419" cy="5638800"/>
          </a:xfrm>
          <a:prstGeom prst="rect">
            <a:avLst/>
          </a:prstGeom>
        </p:spPr>
      </p:pic>
      <p:sp>
        <p:nvSpPr>
          <p:cNvPr id="6" name="Date Placeholder 5">
            <a:extLst>
              <a:ext uri="{FF2B5EF4-FFF2-40B4-BE49-F238E27FC236}">
                <a16:creationId xmlns:a16="http://schemas.microsoft.com/office/drawing/2014/main" id="{00C3A502-A991-CF44-FB5B-FCCFC87A594D}"/>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3CFD94C0-95D9-F97D-5EE7-2279D285C944}"/>
              </a:ext>
            </a:extLst>
          </p:cNvPr>
          <p:cNvSpPr>
            <a:spLocks noGrp="1"/>
          </p:cNvSpPr>
          <p:nvPr>
            <p:ph type="sldNum" sz="quarter" idx="19"/>
          </p:nvPr>
        </p:nvSpPr>
        <p:spPr/>
        <p:txBody>
          <a:bodyPr/>
          <a:lstStyle/>
          <a:p>
            <a:fld id="{AEAA3239-9EA4-4A65-A281-97F994456D9F}" type="slidenum">
              <a:rPr lang="en-US" smtClean="0"/>
              <a:pPr/>
              <a:t>12</a:t>
            </a:fld>
            <a:endParaRPr lang="en-US" sz="900" dirty="0"/>
          </a:p>
        </p:txBody>
      </p:sp>
      <p:sp>
        <p:nvSpPr>
          <p:cNvPr id="10" name="TextBox 9">
            <a:extLst>
              <a:ext uri="{FF2B5EF4-FFF2-40B4-BE49-F238E27FC236}">
                <a16:creationId xmlns:a16="http://schemas.microsoft.com/office/drawing/2014/main" id="{393B3521-B574-4CD1-96B7-1175C7D01EBB}"/>
              </a:ext>
            </a:extLst>
          </p:cNvPr>
          <p:cNvSpPr txBox="1"/>
          <p:nvPr/>
        </p:nvSpPr>
        <p:spPr>
          <a:xfrm>
            <a:off x="619125" y="1038225"/>
            <a:ext cx="6936581" cy="2011412"/>
          </a:xfrm>
          <a:prstGeom prst="rect">
            <a:avLst/>
          </a:prstGeom>
          <a:noFill/>
        </p:spPr>
        <p:txBody>
          <a:bodyPr wrap="square" rtlCol="0">
            <a:normAutofit/>
          </a:bodyPr>
          <a:lstStyle/>
          <a:p>
            <a:pPr marL="0" algn="l">
              <a:buNone/>
            </a:pPr>
            <a:r>
              <a:rPr sz="4800" b="1">
                <a:solidFill>
                  <a:srgbClr val="105237"/>
                </a:solidFill>
                <a:effectLst/>
                <a:latin typeface="Avenir Next LT Pro" panose="020B0504020202020204" pitchFamily="34" charset="0"/>
              </a:rPr>
              <a:t>Weekly Output Targets: Comments, Shares, Invites</a:t>
            </a:r>
            <a:r>
              <a:rPr>
                <a:effectLst/>
              </a:rPr>
              <a:t> </a:t>
            </a:r>
            <a:endParaRPr lang="en-US"/>
          </a:p>
        </p:txBody>
      </p:sp>
      <p:sp>
        <p:nvSpPr>
          <p:cNvPr id="11" name="TextBox 10">
            <a:extLst>
              <a:ext uri="{FF2B5EF4-FFF2-40B4-BE49-F238E27FC236}">
                <a16:creationId xmlns:a16="http://schemas.microsoft.com/office/drawing/2014/main" id="{589125B1-895F-49F0-9C6A-B7590C62C959}"/>
              </a:ext>
            </a:extLst>
          </p:cNvPr>
          <p:cNvSpPr txBox="1"/>
          <p:nvPr/>
        </p:nvSpPr>
        <p:spPr>
          <a:xfrm>
            <a:off x="619125" y="3049637"/>
            <a:ext cx="6936581" cy="4536876"/>
          </a:xfrm>
          <a:prstGeom prst="rect">
            <a:avLst/>
          </a:prstGeom>
          <a:noFill/>
        </p:spPr>
        <p:txBody>
          <a:bodyPr wrap="square" rtlCol="0">
            <a:normAutofit/>
          </a:bodyPr>
          <a:lstStyle/>
          <a:p>
            <a:pPr marL="0" marR="0" algn="l">
              <a:spcBef>
                <a:spcPts val="2700"/>
              </a:spcBef>
              <a:buNone/>
            </a:pPr>
            <a:r>
              <a:rPr sz="1800" b="1">
                <a:solidFill>
                  <a:srgbClr val="105237"/>
                </a:solidFill>
                <a:effectLst/>
                <a:latin typeface="Avenir Next LT Pro" panose="020B0504020202020204" pitchFamily="34" charset="0"/>
              </a:rPr>
              <a:t>1) Meaningful comments</a:t>
            </a:r>
            <a:r>
              <a:rPr>
                <a:effectLst/>
              </a:rPr>
              <a:t> </a:t>
            </a:r>
          </a:p>
          <a:p>
            <a:pPr marL="0" marR="0" algn="l">
              <a:spcBef>
                <a:spcPts val="450"/>
              </a:spcBef>
              <a:buNone/>
            </a:pPr>
            <a:r>
              <a:rPr sz="1800" b="0">
                <a:solidFill>
                  <a:srgbClr val="105237"/>
                </a:solidFill>
                <a:effectLst/>
                <a:latin typeface="Avenir Next LT Pro" panose="020B0504020202020204" pitchFamily="34" charset="0"/>
              </a:rPr>
              <a:t>Target 30–50 per week to sustain presence and spark genuine conversations without overwhelming threads.</a:t>
            </a:r>
            <a:r>
              <a:rPr>
                <a:effectLst/>
              </a:rPr>
              <a:t> </a:t>
            </a:r>
          </a:p>
          <a:p>
            <a:pPr marL="0" marR="0" algn="l">
              <a:spcBef>
                <a:spcPts val="1500"/>
              </a:spcBef>
              <a:buNone/>
            </a:pPr>
            <a:r>
              <a:rPr sz="1800" b="1">
                <a:solidFill>
                  <a:srgbClr val="105237"/>
                </a:solidFill>
                <a:effectLst/>
                <a:latin typeface="Avenir Next LT Pro" panose="020B0504020202020204" pitchFamily="34" charset="0"/>
              </a:rPr>
              <a:t>2) Link shares to OFFO tool</a:t>
            </a:r>
            <a:r>
              <a:rPr>
                <a:effectLst/>
              </a:rPr>
              <a:t> </a:t>
            </a:r>
          </a:p>
          <a:p>
            <a:pPr marL="0" marR="0" algn="l">
              <a:spcBef>
                <a:spcPts val="450"/>
              </a:spcBef>
              <a:buNone/>
            </a:pPr>
            <a:r>
              <a:rPr sz="1800" b="0">
                <a:solidFill>
                  <a:srgbClr val="105237"/>
                </a:solidFill>
                <a:effectLst/>
                <a:latin typeface="Avenir Next LT Pro" panose="020B0504020202020204" pitchFamily="34" charset="0"/>
              </a:rPr>
              <a:t>Aim for 5–10 weekly shares to guide interested users toward the scenario tool at relevant moments.</a:t>
            </a:r>
            <a:r>
              <a:rPr>
                <a:effectLst/>
              </a:rPr>
              <a:t> </a:t>
            </a:r>
          </a:p>
          <a:p>
            <a:pPr marL="0" marR="0" algn="l">
              <a:spcBef>
                <a:spcPts val="1500"/>
              </a:spcBef>
              <a:buNone/>
            </a:pPr>
            <a:r>
              <a:rPr sz="1800" b="1">
                <a:solidFill>
                  <a:srgbClr val="105237"/>
                </a:solidFill>
                <a:effectLst/>
                <a:latin typeface="Avenir Next LT Pro" panose="020B0504020202020204" pitchFamily="34" charset="0"/>
              </a:rPr>
              <a:t>3) Invites to r/EVRoutine</a:t>
            </a:r>
            <a:r>
              <a:rPr>
                <a:effectLst/>
              </a:rPr>
              <a:t> </a:t>
            </a:r>
          </a:p>
          <a:p>
            <a:pPr marL="0" marR="0" algn="l">
              <a:spcBef>
                <a:spcPts val="450"/>
              </a:spcBef>
              <a:buNone/>
            </a:pPr>
            <a:r>
              <a:rPr sz="1800" b="0">
                <a:solidFill>
                  <a:srgbClr val="105237"/>
                </a:solidFill>
                <a:effectLst/>
                <a:latin typeface="Avenir Next LT Pro" panose="020B0504020202020204" pitchFamily="34" charset="0"/>
              </a:rPr>
              <a:t>Send 3–5 invites weekly to maintain steady growth and momentum without triggering fatigue or pushback.</a:t>
            </a:r>
            <a:r>
              <a:rPr>
                <a:effectLst/>
              </a:rPr>
              <a:t> </a:t>
            </a:r>
          </a:p>
          <a:p>
            <a:pPr marL="0" marR="0" algn="l">
              <a:spcBef>
                <a:spcPts val="1500"/>
              </a:spcBef>
              <a:buNone/>
            </a:pPr>
            <a:r>
              <a:rPr sz="1800" b="0">
                <a:solidFill>
                  <a:srgbClr val="105237"/>
                </a:solidFill>
                <a:effectLst/>
                <a:latin typeface="Avenir Next LT Pro" panose="020B0504020202020204" pitchFamily="34" charset="0"/>
              </a:rPr>
              <a:t>These targets reflect historical benchmarks that balance visibility, lead flow, and community trust.</a:t>
            </a:r>
            <a:r>
              <a:rPr>
                <a:effectLst/>
              </a:rPr>
              <a:t> </a:t>
            </a:r>
            <a:endParaRPr lang="en-US"/>
          </a:p>
        </p:txBody>
      </p:sp>
    </p:spTree>
    <p:extLst>
      <p:ext uri="{BB962C8B-B14F-4D97-AF65-F5344CB8AC3E}">
        <p14:creationId xmlns:p14="http://schemas.microsoft.com/office/powerpoint/2010/main" val="2652456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161A11D-F709-4865-9156-C1F329B0801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4BBEA290-1285-4B72-A1A5-188F7AAC2732}"/>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66775" y="2357735"/>
            <a:ext cx="685800" cy="685800"/>
          </a:xfrm>
          <a:prstGeom prst="rect">
            <a:avLst/>
          </a:prstGeom>
        </p:spPr>
      </p:pic>
      <p:sp>
        <p:nvSpPr>
          <p:cNvPr id="6" name="Date Placeholder 5">
            <a:extLst>
              <a:ext uri="{FF2B5EF4-FFF2-40B4-BE49-F238E27FC236}">
                <a16:creationId xmlns:a16="http://schemas.microsoft.com/office/drawing/2014/main" id="{5031A8A0-C45C-C235-49A8-6E8F31515116}"/>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4B1C3A80-461D-E1D6-F814-22D2081A1677}"/>
              </a:ext>
            </a:extLst>
          </p:cNvPr>
          <p:cNvSpPr>
            <a:spLocks noGrp="1"/>
          </p:cNvSpPr>
          <p:nvPr>
            <p:ph type="sldNum" sz="quarter" idx="19"/>
          </p:nvPr>
        </p:nvSpPr>
        <p:spPr/>
        <p:txBody>
          <a:bodyPr/>
          <a:lstStyle/>
          <a:p>
            <a:fld id="{AEAA3239-9EA4-4A65-A281-97F994456D9F}" type="slidenum">
              <a:rPr lang="en-US" smtClean="0"/>
              <a:pPr/>
              <a:t>13</a:t>
            </a:fld>
            <a:endParaRPr lang="en-US" sz="900" dirty="0"/>
          </a:p>
        </p:txBody>
      </p:sp>
      <p:pic>
        <p:nvPicPr>
          <p:cNvPr id="10" name="Graphic 9" descr="A vector illustration icon of a checklist with a star, representing high-quality actionable insights, designed with a transparent background">
            <a:extLst>
              <a:ext uri="{FF2B5EF4-FFF2-40B4-BE49-F238E27FC236}">
                <a16:creationId xmlns:a16="http://schemas.microsoft.com/office/drawing/2014/main" id="{2320C83E-EB6F-429F-B818-489631F0D65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550" y="2462510"/>
            <a:ext cx="476250" cy="476250"/>
          </a:xfrm>
          <a:prstGeom prst="rect">
            <a:avLst/>
          </a:prstGeom>
        </p:spPr>
      </p:pic>
      <p:pic>
        <p:nvPicPr>
          <p:cNvPr id="11" name="Graphic 10">
            <a:extLst>
              <a:ext uri="{FF2B5EF4-FFF2-40B4-BE49-F238E27FC236}">
                <a16:creationId xmlns:a16="http://schemas.microsoft.com/office/drawing/2014/main" id="{F70CDCF4-5237-4725-815E-6C642DA139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357735"/>
            <a:ext cx="685800" cy="685800"/>
          </a:xfrm>
          <a:prstGeom prst="rect">
            <a:avLst/>
          </a:prstGeom>
        </p:spPr>
      </p:pic>
      <p:pic>
        <p:nvPicPr>
          <p:cNvPr id="12" name="Graphic 11" descr="A vector illustration icon of a magnifying glass over a document, representing evidence-based guidance, designed with a transparent background">
            <a:extLst>
              <a:ext uri="{FF2B5EF4-FFF2-40B4-BE49-F238E27FC236}">
                <a16:creationId xmlns:a16="http://schemas.microsoft.com/office/drawing/2014/main" id="{1D60DDE4-4DE5-4DB9-AD3A-C155DDE821F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462510"/>
            <a:ext cx="476250" cy="476250"/>
          </a:xfrm>
          <a:prstGeom prst="rect">
            <a:avLst/>
          </a:prstGeom>
        </p:spPr>
      </p:pic>
      <p:pic>
        <p:nvPicPr>
          <p:cNvPr id="13" name="Graphic 12">
            <a:extLst>
              <a:ext uri="{FF2B5EF4-FFF2-40B4-BE49-F238E27FC236}">
                <a16:creationId xmlns:a16="http://schemas.microsoft.com/office/drawing/2014/main" id="{762A6191-8B3B-4F73-AE7C-108BD3D97D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775" y="4793605"/>
            <a:ext cx="685800" cy="685800"/>
          </a:xfrm>
          <a:prstGeom prst="rect">
            <a:avLst/>
          </a:prstGeom>
        </p:spPr>
      </p:pic>
      <p:pic>
        <p:nvPicPr>
          <p:cNvPr id="14" name="Graphic 13" descr="A vector illustration icon of a chat bubble with a thumbs-up, symbolizing engagement and positive feedback, designed with a transparent background">
            <a:extLst>
              <a:ext uri="{FF2B5EF4-FFF2-40B4-BE49-F238E27FC236}">
                <a16:creationId xmlns:a16="http://schemas.microsoft.com/office/drawing/2014/main" id="{054367AC-4EF3-4F39-B164-CCB6DFCD809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1550" y="4898380"/>
            <a:ext cx="476250" cy="476250"/>
          </a:xfrm>
          <a:prstGeom prst="rect">
            <a:avLst/>
          </a:prstGeom>
        </p:spPr>
      </p:pic>
      <p:pic>
        <p:nvPicPr>
          <p:cNvPr id="15" name="Graphic 14">
            <a:extLst>
              <a:ext uri="{FF2B5EF4-FFF2-40B4-BE49-F238E27FC236}">
                <a16:creationId xmlns:a16="http://schemas.microsoft.com/office/drawing/2014/main" id="{9A5414AB-8549-42C8-91FA-B9805C8953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793605"/>
            <a:ext cx="685800" cy="685800"/>
          </a:xfrm>
          <a:prstGeom prst="rect">
            <a:avLst/>
          </a:prstGeom>
        </p:spPr>
      </p:pic>
      <p:pic>
        <p:nvPicPr>
          <p:cNvPr id="16" name="Graphic 15" descr="A vector illustration icon of a broken chain link, representing low engagement or lack of actionable value, designed with a transparent background">
            <a:extLst>
              <a:ext uri="{FF2B5EF4-FFF2-40B4-BE49-F238E27FC236}">
                <a16:creationId xmlns:a16="http://schemas.microsoft.com/office/drawing/2014/main" id="{3A5F5893-4116-4747-846E-2057DD91565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4898380"/>
            <a:ext cx="476250" cy="476250"/>
          </a:xfrm>
          <a:prstGeom prst="rect">
            <a:avLst/>
          </a:prstGeom>
        </p:spPr>
      </p:pic>
      <p:sp>
        <p:nvSpPr>
          <p:cNvPr id="17" name="TextBox 16">
            <a:extLst>
              <a:ext uri="{FF2B5EF4-FFF2-40B4-BE49-F238E27FC236}">
                <a16:creationId xmlns:a16="http://schemas.microsoft.com/office/drawing/2014/main" id="{82C0B4E0-29B9-4818-93E8-BB4553FAC2A3}"/>
              </a:ext>
            </a:extLst>
          </p:cNvPr>
          <p:cNvSpPr txBox="1"/>
          <p:nvPr/>
        </p:nvSpPr>
        <p:spPr>
          <a:xfrm>
            <a:off x="619125" y="1038225"/>
            <a:ext cx="10972800" cy="502890"/>
          </a:xfrm>
          <a:prstGeom prst="rect">
            <a:avLst/>
          </a:prstGeom>
          <a:noFill/>
        </p:spPr>
        <p:txBody>
          <a:bodyPr wrap="square" rtlCol="0">
            <a:normAutofit/>
          </a:bodyPr>
          <a:lstStyle/>
          <a:p>
            <a:pPr marL="0" algn="l">
              <a:buNone/>
            </a:pPr>
            <a:r>
              <a:rPr sz="3600" b="0">
                <a:solidFill>
                  <a:srgbClr val="105237"/>
                </a:solidFill>
                <a:effectLst/>
                <a:latin typeface="Avenir Next LT Pro" panose="020B0504020202020204" pitchFamily="34" charset="0"/>
              </a:rPr>
              <a:t>Quality Benchmarks: High-Quality Comment Rate</a:t>
            </a:r>
            <a:r>
              <a:rPr>
                <a:effectLst/>
              </a:rPr>
              <a:t> </a:t>
            </a:r>
            <a:endParaRPr lang="en-US"/>
          </a:p>
        </p:txBody>
      </p:sp>
      <p:sp>
        <p:nvSpPr>
          <p:cNvPr id="18" name="TextBox 17">
            <a:extLst>
              <a:ext uri="{FF2B5EF4-FFF2-40B4-BE49-F238E27FC236}">
                <a16:creationId xmlns:a16="http://schemas.microsoft.com/office/drawing/2014/main" id="{B501E6FA-BDE9-49C7-A05D-4F9747A7AB18}"/>
              </a:ext>
            </a:extLst>
          </p:cNvPr>
          <p:cNvSpPr txBox="1"/>
          <p:nvPr/>
        </p:nvSpPr>
        <p:spPr>
          <a:xfrm>
            <a:off x="1781175" y="2357735"/>
            <a:ext cx="3810000" cy="1367432"/>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High Quality, High Engagement</a:t>
            </a:r>
            <a:r>
              <a:rPr>
                <a:effectLst/>
              </a:rPr>
              <a:t> </a:t>
            </a:r>
          </a:p>
          <a:p>
            <a:pPr marL="0" algn="l">
              <a:spcBef>
                <a:spcPts val="900"/>
              </a:spcBef>
              <a:buNone/>
            </a:pPr>
            <a:r>
              <a:rPr sz="1425" b="0">
                <a:solidFill>
                  <a:srgbClr val="105237"/>
                </a:solidFill>
                <a:effectLst/>
                <a:latin typeface="Avenir Next LT Pro" panose="020B0504020202020204" pitchFamily="34" charset="0"/>
              </a:rPr>
              <a:t>Comments are actionable, relevant, and evidence-based, leading to strong trust, repeat engagement, and high click-through rates.</a:t>
            </a:r>
            <a:r>
              <a:rPr>
                <a:effectLst/>
              </a:rPr>
              <a:t> </a:t>
            </a:r>
            <a:endParaRPr lang="en-US"/>
          </a:p>
        </p:txBody>
      </p:sp>
      <p:sp>
        <p:nvSpPr>
          <p:cNvPr id="19" name="TextBox 18">
            <a:extLst>
              <a:ext uri="{FF2B5EF4-FFF2-40B4-BE49-F238E27FC236}">
                <a16:creationId xmlns:a16="http://schemas.microsoft.com/office/drawing/2014/main" id="{DC153C68-34B6-4A0E-BC79-A03EEB517FEB}"/>
              </a:ext>
            </a:extLst>
          </p:cNvPr>
          <p:cNvSpPr txBox="1"/>
          <p:nvPr/>
        </p:nvSpPr>
        <p:spPr>
          <a:xfrm>
            <a:off x="7286625" y="2357735"/>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High Quality, Low Engagement</a:t>
            </a:r>
            <a:r>
              <a:rPr>
                <a:effectLst/>
              </a:rPr>
              <a:t> </a:t>
            </a:r>
          </a:p>
          <a:p>
            <a:pPr marL="0" algn="l">
              <a:spcBef>
                <a:spcPts val="900"/>
              </a:spcBef>
              <a:buNone/>
            </a:pPr>
            <a:r>
              <a:rPr sz="1425" b="0">
                <a:solidFill>
                  <a:srgbClr val="105237"/>
                </a:solidFill>
                <a:effectLst/>
                <a:latin typeface="Avenir Next LT Pro" panose="020B0504020202020204" pitchFamily="34" charset="0"/>
              </a:rPr>
              <a:t>Comments are insightful but may lack visibility or context, resulting in lower interaction despite high informational value.</a:t>
            </a:r>
            <a:r>
              <a:rPr>
                <a:effectLst/>
              </a:rPr>
              <a:t> </a:t>
            </a:r>
            <a:endParaRPr lang="en-US"/>
          </a:p>
        </p:txBody>
      </p:sp>
      <p:sp>
        <p:nvSpPr>
          <p:cNvPr id="20" name="TextBox 19">
            <a:extLst>
              <a:ext uri="{FF2B5EF4-FFF2-40B4-BE49-F238E27FC236}">
                <a16:creationId xmlns:a16="http://schemas.microsoft.com/office/drawing/2014/main" id="{E4BB28DE-889C-4804-981B-2E1AE3616CB1}"/>
              </a:ext>
            </a:extLst>
          </p:cNvPr>
          <p:cNvSpPr txBox="1"/>
          <p:nvPr/>
        </p:nvSpPr>
        <p:spPr>
          <a:xfrm>
            <a:off x="1781175" y="4793605"/>
            <a:ext cx="3810000" cy="1367432"/>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Low Quality, High Engagement</a:t>
            </a:r>
            <a:r>
              <a:rPr>
                <a:effectLst/>
              </a:rPr>
              <a:t> </a:t>
            </a:r>
          </a:p>
          <a:p>
            <a:pPr marL="0" algn="l">
              <a:spcBef>
                <a:spcPts val="900"/>
              </a:spcBef>
              <a:buNone/>
            </a:pPr>
            <a:r>
              <a:rPr sz="1425" b="0">
                <a:solidFill>
                  <a:srgbClr val="105237"/>
                </a:solidFill>
                <a:effectLst/>
                <a:latin typeface="Avenir Next LT Pro" panose="020B0504020202020204" pitchFamily="34" charset="0"/>
              </a:rPr>
              <a:t>Comments may be popular due to controversy or entertainment, but lack actionable insights and do not foster long-term trust.</a:t>
            </a:r>
            <a:r>
              <a:rPr>
                <a:effectLst/>
              </a:rPr>
              <a:t> </a:t>
            </a:r>
            <a:endParaRPr lang="en-US"/>
          </a:p>
        </p:txBody>
      </p:sp>
      <p:sp>
        <p:nvSpPr>
          <p:cNvPr id="21" name="TextBox 20">
            <a:extLst>
              <a:ext uri="{FF2B5EF4-FFF2-40B4-BE49-F238E27FC236}">
                <a16:creationId xmlns:a16="http://schemas.microsoft.com/office/drawing/2014/main" id="{01139E76-EF01-438A-B954-4B601DB647B7}"/>
              </a:ext>
            </a:extLst>
          </p:cNvPr>
          <p:cNvSpPr txBox="1"/>
          <p:nvPr/>
        </p:nvSpPr>
        <p:spPr>
          <a:xfrm>
            <a:off x="7286625" y="4793605"/>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Low Quality, Low Engagement</a:t>
            </a:r>
            <a:r>
              <a:rPr>
                <a:effectLst/>
              </a:rPr>
              <a:t> </a:t>
            </a:r>
          </a:p>
          <a:p>
            <a:pPr marL="0" algn="l">
              <a:spcBef>
                <a:spcPts val="900"/>
              </a:spcBef>
              <a:buNone/>
            </a:pPr>
            <a:r>
              <a:rPr sz="1425" b="0">
                <a:solidFill>
                  <a:srgbClr val="105237"/>
                </a:solidFill>
                <a:effectLst/>
                <a:latin typeface="Avenir Next LT Pro" panose="020B0504020202020204" pitchFamily="34" charset="0"/>
              </a:rPr>
              <a:t>Comments are irrelevant or unclear, resulting in minimal interaction and limited campaign impact.</a:t>
            </a:r>
            <a:r>
              <a:rPr>
                <a:effectLst/>
              </a:rPr>
              <a:t> </a:t>
            </a:r>
            <a:endParaRPr lang="en-US"/>
          </a:p>
        </p:txBody>
      </p:sp>
    </p:spTree>
    <p:extLst>
      <p:ext uri="{BB962C8B-B14F-4D97-AF65-F5344CB8AC3E}">
        <p14:creationId xmlns:p14="http://schemas.microsoft.com/office/powerpoint/2010/main" val="1980932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9819622-6D54-434E-AA90-B0348944441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E84EB72E-4225-4452-8F67-60400217509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66775" y="2357735"/>
            <a:ext cx="685800" cy="685800"/>
          </a:xfrm>
          <a:prstGeom prst="rect">
            <a:avLst/>
          </a:prstGeom>
        </p:spPr>
      </p:pic>
      <p:sp>
        <p:nvSpPr>
          <p:cNvPr id="6" name="Date Placeholder 5">
            <a:extLst>
              <a:ext uri="{FF2B5EF4-FFF2-40B4-BE49-F238E27FC236}">
                <a16:creationId xmlns:a16="http://schemas.microsoft.com/office/drawing/2014/main" id="{566AFC89-6F91-3418-5BE4-DB20FDDE51CA}"/>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B8F6C072-DE09-E31B-0734-EE67647102CC}"/>
              </a:ext>
            </a:extLst>
          </p:cNvPr>
          <p:cNvSpPr>
            <a:spLocks noGrp="1"/>
          </p:cNvSpPr>
          <p:nvPr>
            <p:ph type="sldNum" sz="quarter" idx="19"/>
          </p:nvPr>
        </p:nvSpPr>
        <p:spPr/>
        <p:txBody>
          <a:bodyPr/>
          <a:lstStyle/>
          <a:p>
            <a:fld id="{AEAA3239-9EA4-4A65-A281-97F994456D9F}" type="slidenum">
              <a:rPr lang="en-US" smtClean="0"/>
              <a:pPr/>
              <a:t>14</a:t>
            </a:fld>
            <a:endParaRPr lang="en-US" sz="900" dirty="0"/>
          </a:p>
        </p:txBody>
      </p:sp>
      <p:pic>
        <p:nvPicPr>
          <p:cNvPr id="10" name="Graphic 9" descr="A vector illustration icon of a dashboard with four distinct KPI widgets, each representing a different metric (CTR, completion, engagement, moderation risk), designed in a clean, modern style with a transparent background">
            <a:extLst>
              <a:ext uri="{FF2B5EF4-FFF2-40B4-BE49-F238E27FC236}">
                <a16:creationId xmlns:a16="http://schemas.microsoft.com/office/drawing/2014/main" id="{DE6F77C1-41DC-414A-B3CE-9A23288584C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550" y="2462510"/>
            <a:ext cx="476250" cy="476250"/>
          </a:xfrm>
          <a:prstGeom prst="rect">
            <a:avLst/>
          </a:prstGeom>
        </p:spPr>
      </p:pic>
      <p:pic>
        <p:nvPicPr>
          <p:cNvPr id="11" name="Graphic 10">
            <a:extLst>
              <a:ext uri="{FF2B5EF4-FFF2-40B4-BE49-F238E27FC236}">
                <a16:creationId xmlns:a16="http://schemas.microsoft.com/office/drawing/2014/main" id="{B0CEEDEA-4D2C-43A7-B345-CECA1F5C0A2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357735"/>
            <a:ext cx="685800" cy="685800"/>
          </a:xfrm>
          <a:prstGeom prst="rect">
            <a:avLst/>
          </a:prstGeom>
        </p:spPr>
      </p:pic>
      <p:pic>
        <p:nvPicPr>
          <p:cNvPr id="12" name="Graphic 11" descr="A vector illustration icon of a dashboard with four distinct KPI widgets, each representing a different metric (CTR, completion, engagement, moderation risk), designed in a clean, modern style with a transparent background">
            <a:extLst>
              <a:ext uri="{FF2B5EF4-FFF2-40B4-BE49-F238E27FC236}">
                <a16:creationId xmlns:a16="http://schemas.microsoft.com/office/drawing/2014/main" id="{E2B8394A-7841-448D-AD69-1F07AF71F72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462510"/>
            <a:ext cx="476250" cy="476250"/>
          </a:xfrm>
          <a:prstGeom prst="rect">
            <a:avLst/>
          </a:prstGeom>
        </p:spPr>
      </p:pic>
      <p:pic>
        <p:nvPicPr>
          <p:cNvPr id="13" name="Graphic 12">
            <a:extLst>
              <a:ext uri="{FF2B5EF4-FFF2-40B4-BE49-F238E27FC236}">
                <a16:creationId xmlns:a16="http://schemas.microsoft.com/office/drawing/2014/main" id="{0A811A41-6A96-4704-B7EE-33F5672815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775" y="4793605"/>
            <a:ext cx="685800" cy="685800"/>
          </a:xfrm>
          <a:prstGeom prst="rect">
            <a:avLst/>
          </a:prstGeom>
        </p:spPr>
      </p:pic>
      <p:pic>
        <p:nvPicPr>
          <p:cNvPr id="14" name="Graphic 13" descr="A vector illustration icon of a dashboard with four distinct KPI widgets, each representing a different metric (CTR, completion, engagement, moderation risk), designed in a clean, modern style with a transparent background">
            <a:extLst>
              <a:ext uri="{FF2B5EF4-FFF2-40B4-BE49-F238E27FC236}">
                <a16:creationId xmlns:a16="http://schemas.microsoft.com/office/drawing/2014/main" id="{A3583DDC-A8C4-415E-A6C6-C1743CFC24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1550" y="4898380"/>
            <a:ext cx="476250" cy="476250"/>
          </a:xfrm>
          <a:prstGeom prst="rect">
            <a:avLst/>
          </a:prstGeom>
        </p:spPr>
      </p:pic>
      <p:pic>
        <p:nvPicPr>
          <p:cNvPr id="15" name="Graphic 14">
            <a:extLst>
              <a:ext uri="{FF2B5EF4-FFF2-40B4-BE49-F238E27FC236}">
                <a16:creationId xmlns:a16="http://schemas.microsoft.com/office/drawing/2014/main" id="{D1643E7C-BA2A-434C-A68A-B271C9F685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793605"/>
            <a:ext cx="685800" cy="685800"/>
          </a:xfrm>
          <a:prstGeom prst="rect">
            <a:avLst/>
          </a:prstGeom>
        </p:spPr>
      </p:pic>
      <p:pic>
        <p:nvPicPr>
          <p:cNvPr id="16" name="Graphic 15" descr="A vector illustration icon of a dashboard with four distinct KPI widgets, each representing a different metric (CTR, completion, engagement, moderation risk), designed in a clean, modern style with a transparent background">
            <a:extLst>
              <a:ext uri="{FF2B5EF4-FFF2-40B4-BE49-F238E27FC236}">
                <a16:creationId xmlns:a16="http://schemas.microsoft.com/office/drawing/2014/main" id="{B29025F5-22AA-4318-99B4-964CEE74394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4898380"/>
            <a:ext cx="476250" cy="476250"/>
          </a:xfrm>
          <a:prstGeom prst="rect">
            <a:avLst/>
          </a:prstGeom>
        </p:spPr>
      </p:pic>
      <p:sp>
        <p:nvSpPr>
          <p:cNvPr id="17" name="TextBox 16">
            <a:extLst>
              <a:ext uri="{FF2B5EF4-FFF2-40B4-BE49-F238E27FC236}">
                <a16:creationId xmlns:a16="http://schemas.microsoft.com/office/drawing/2014/main" id="{A36CE153-C226-4945-B6B0-2D01FCAD0FDF}"/>
              </a:ext>
            </a:extLst>
          </p:cNvPr>
          <p:cNvSpPr txBox="1"/>
          <p:nvPr/>
        </p:nvSpPr>
        <p:spPr>
          <a:xfrm>
            <a:off x="619125" y="1038225"/>
            <a:ext cx="10972800" cy="502890"/>
          </a:xfrm>
          <a:prstGeom prst="rect">
            <a:avLst/>
          </a:prstGeom>
          <a:noFill/>
        </p:spPr>
        <p:txBody>
          <a:bodyPr wrap="square" rtlCol="0">
            <a:normAutofit/>
          </a:bodyPr>
          <a:lstStyle/>
          <a:p>
            <a:pPr marL="0" algn="l">
              <a:buNone/>
            </a:pPr>
            <a:r>
              <a:rPr sz="3600" b="0">
                <a:solidFill>
                  <a:srgbClr val="105237"/>
                </a:solidFill>
                <a:effectLst/>
                <a:latin typeface="Avenir Next LT Pro" panose="020B0504020202020204" pitchFamily="34" charset="0"/>
              </a:rPr>
              <a:t>Performance Metrics Dashboard</a:t>
            </a:r>
            <a:r>
              <a:rPr>
                <a:effectLst/>
              </a:rPr>
              <a:t> </a:t>
            </a:r>
            <a:endParaRPr lang="en-US"/>
          </a:p>
        </p:txBody>
      </p:sp>
      <p:sp>
        <p:nvSpPr>
          <p:cNvPr id="18" name="TextBox 17">
            <a:extLst>
              <a:ext uri="{FF2B5EF4-FFF2-40B4-BE49-F238E27FC236}">
                <a16:creationId xmlns:a16="http://schemas.microsoft.com/office/drawing/2014/main" id="{EC76D769-39C5-49AE-8191-34A9561C1988}"/>
              </a:ext>
            </a:extLst>
          </p:cNvPr>
          <p:cNvSpPr txBox="1"/>
          <p:nvPr/>
        </p:nvSpPr>
        <p:spPr>
          <a:xfrm>
            <a:off x="1781175" y="2357735"/>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Click-Through Rate (CTR)</a:t>
            </a:r>
            <a:r>
              <a:rPr>
                <a:effectLst/>
              </a:rPr>
              <a:t> </a:t>
            </a:r>
          </a:p>
          <a:p>
            <a:pPr marL="0" algn="l">
              <a:spcBef>
                <a:spcPts val="900"/>
              </a:spcBef>
              <a:buNone/>
            </a:pPr>
            <a:r>
              <a:rPr sz="1425" b="0">
                <a:solidFill>
                  <a:srgbClr val="105237"/>
                </a:solidFill>
                <a:effectLst/>
                <a:latin typeface="Avenir Next LT Pro" panose="020B0504020202020204" pitchFamily="34" charset="0"/>
              </a:rPr>
              <a:t>Current: 5.2%. Benchmark: 3-7%. Target: 6%. Measures clicks to the OFFO scenario tool.</a:t>
            </a:r>
            <a:r>
              <a:rPr>
                <a:effectLst/>
              </a:rPr>
              <a:t> </a:t>
            </a:r>
            <a:endParaRPr lang="en-US"/>
          </a:p>
        </p:txBody>
      </p:sp>
      <p:sp>
        <p:nvSpPr>
          <p:cNvPr id="19" name="TextBox 18">
            <a:extLst>
              <a:ext uri="{FF2B5EF4-FFF2-40B4-BE49-F238E27FC236}">
                <a16:creationId xmlns:a16="http://schemas.microsoft.com/office/drawing/2014/main" id="{BF671B45-2FEE-4A7C-ACF9-A1BABF8C9B9A}"/>
              </a:ext>
            </a:extLst>
          </p:cNvPr>
          <p:cNvSpPr txBox="1"/>
          <p:nvPr/>
        </p:nvSpPr>
        <p:spPr>
          <a:xfrm>
            <a:off x="7286625" y="2357735"/>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Scenario Completion Rate</a:t>
            </a:r>
            <a:r>
              <a:rPr>
                <a:effectLst/>
              </a:rPr>
              <a:t> </a:t>
            </a:r>
          </a:p>
          <a:p>
            <a:pPr marL="0" algn="l">
              <a:spcBef>
                <a:spcPts val="900"/>
              </a:spcBef>
              <a:buNone/>
            </a:pPr>
            <a:r>
              <a:rPr sz="1425" b="0">
                <a:solidFill>
                  <a:srgbClr val="105237"/>
                </a:solidFill>
                <a:effectLst/>
                <a:latin typeface="Avenir Next LT Pro" panose="020B0504020202020204" pitchFamily="34" charset="0"/>
              </a:rPr>
              <a:t>Current: 54%. Benchmark: &gt;50%. Target: 60%. Indicates interest and scenario effectiveness.</a:t>
            </a:r>
            <a:r>
              <a:rPr>
                <a:effectLst/>
              </a:rPr>
              <a:t> </a:t>
            </a:r>
            <a:endParaRPr lang="en-US"/>
          </a:p>
        </p:txBody>
      </p:sp>
      <p:sp>
        <p:nvSpPr>
          <p:cNvPr id="20" name="TextBox 19">
            <a:extLst>
              <a:ext uri="{FF2B5EF4-FFF2-40B4-BE49-F238E27FC236}">
                <a16:creationId xmlns:a16="http://schemas.microsoft.com/office/drawing/2014/main" id="{A3E2040D-7358-4B25-8F6F-DDCE022CBA3C}"/>
              </a:ext>
            </a:extLst>
          </p:cNvPr>
          <p:cNvSpPr txBox="1"/>
          <p:nvPr/>
        </p:nvSpPr>
        <p:spPr>
          <a:xfrm>
            <a:off x="1781175" y="4793605"/>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Engagement Rate</a:t>
            </a:r>
            <a:r>
              <a:rPr>
                <a:effectLst/>
              </a:rPr>
              <a:t> </a:t>
            </a:r>
          </a:p>
          <a:p>
            <a:pPr marL="0" algn="l">
              <a:spcBef>
                <a:spcPts val="900"/>
              </a:spcBef>
              <a:buNone/>
            </a:pPr>
            <a:r>
              <a:rPr sz="1425" b="0">
                <a:solidFill>
                  <a:srgbClr val="105237"/>
                </a:solidFill>
                <a:effectLst/>
                <a:latin typeface="Avenir Next LT Pro" panose="020B0504020202020204" pitchFamily="34" charset="0"/>
              </a:rPr>
              <a:t>Current: 18%. Benchmark: 15-20%. Target: 20%. Tracks operator comments and participation.</a:t>
            </a:r>
            <a:r>
              <a:rPr>
                <a:effectLst/>
              </a:rPr>
              <a:t> </a:t>
            </a:r>
            <a:endParaRPr lang="en-US"/>
          </a:p>
        </p:txBody>
      </p:sp>
      <p:sp>
        <p:nvSpPr>
          <p:cNvPr id="21" name="TextBox 20">
            <a:extLst>
              <a:ext uri="{FF2B5EF4-FFF2-40B4-BE49-F238E27FC236}">
                <a16:creationId xmlns:a16="http://schemas.microsoft.com/office/drawing/2014/main" id="{A9D46A36-2FF5-4CFE-9F7C-AA2BAF85D729}"/>
              </a:ext>
            </a:extLst>
          </p:cNvPr>
          <p:cNvSpPr txBox="1"/>
          <p:nvPr/>
        </p:nvSpPr>
        <p:spPr>
          <a:xfrm>
            <a:off x="7286625" y="4793605"/>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Moderation Risk</a:t>
            </a:r>
            <a:r>
              <a:rPr>
                <a:effectLst/>
              </a:rPr>
              <a:t> </a:t>
            </a:r>
          </a:p>
          <a:p>
            <a:pPr marL="0" algn="l">
              <a:spcBef>
                <a:spcPts val="900"/>
              </a:spcBef>
              <a:buNone/>
            </a:pPr>
            <a:r>
              <a:rPr sz="1425" b="0">
                <a:solidFill>
                  <a:srgbClr val="105237"/>
                </a:solidFill>
                <a:effectLst/>
                <a:latin typeface="Avenir Next LT Pro" panose="020B0504020202020204" pitchFamily="34" charset="0"/>
              </a:rPr>
              <a:t>Current: Low. Benchmark: &lt;2 incidents/month. Target: Zero. Safeguards access and reputation.</a:t>
            </a:r>
            <a:r>
              <a:rPr>
                <a:effectLst/>
              </a:rPr>
              <a:t> </a:t>
            </a:r>
            <a:endParaRPr lang="en-US"/>
          </a:p>
        </p:txBody>
      </p:sp>
    </p:spTree>
    <p:extLst>
      <p:ext uri="{BB962C8B-B14F-4D97-AF65-F5344CB8AC3E}">
        <p14:creationId xmlns:p14="http://schemas.microsoft.com/office/powerpoint/2010/main" val="55896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9690135-F3F7-4F45-868B-6FC3916A519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19EA390C-DBC0-E880-2800-0A593451CFD8}"/>
              </a:ext>
            </a:extLst>
          </p:cNvPr>
          <p:cNvSpPr>
            <a:spLocks noGrp="1"/>
          </p:cNvSpPr>
          <p:nvPr>
            <p:ph sz="quarter" idx="16"/>
          </p:nvPr>
        </p:nvSpPr>
        <p:spPr>
          <a:xfrm>
            <a:off x="828675" y="3933825"/>
            <a:ext cx="10534650" cy="2095500"/>
          </a:xfrm>
        </p:spPr>
        <p:txBody>
          <a:bodyPr>
            <a:normAutofit fontScale="92500" lnSpcReduction="10000"/>
          </a:bodyPr>
          <a:lstStyle/>
          <a:p>
            <a:pPr marL="0" marR="0" indent="0" algn="l" fontAlgn="b">
              <a:buNone/>
            </a:pPr>
            <a:r>
              <a:rPr sz="6750">
                <a:solidFill>
                  <a:srgbClr val="DEB4FC"/>
                </a:solidFill>
                <a:effectLst/>
                <a:latin typeface="Avenir Next LT Pro" panose="020B0504020202020204" pitchFamily="34" charset="0"/>
              </a:rPr>
              <a:t>Operating Rules and Best Practices</a:t>
            </a:r>
            <a:r>
              <a:rPr>
                <a:effectLst/>
              </a:rPr>
              <a:t> </a:t>
            </a:r>
            <a:endParaRPr lang="en-US"/>
          </a:p>
        </p:txBody>
      </p:sp>
      <p:sp>
        <p:nvSpPr>
          <p:cNvPr id="6" name="Date Placeholder 5">
            <a:extLst>
              <a:ext uri="{FF2B5EF4-FFF2-40B4-BE49-F238E27FC236}">
                <a16:creationId xmlns:a16="http://schemas.microsoft.com/office/drawing/2014/main" id="{7425F0C5-360F-85A8-0D15-64E5E6161D88}"/>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8A7F3E6B-D15F-C3F5-0B08-F1B885E6CEB1}"/>
              </a:ext>
            </a:extLst>
          </p:cNvPr>
          <p:cNvSpPr>
            <a:spLocks noGrp="1"/>
          </p:cNvSpPr>
          <p:nvPr>
            <p:ph type="sldNum" sz="quarter" idx="19"/>
          </p:nvPr>
        </p:nvSpPr>
        <p:spPr/>
        <p:txBody>
          <a:bodyPr/>
          <a:lstStyle/>
          <a:p>
            <a:fld id="{AEAA3239-9EA4-4A65-A281-97F994456D9F}" type="slidenum">
              <a:rPr lang="en-US" smtClean="0"/>
              <a:pPr/>
              <a:t>15</a:t>
            </a:fld>
            <a:endParaRPr lang="en-US" sz="900" dirty="0"/>
          </a:p>
        </p:txBody>
      </p:sp>
    </p:spTree>
    <p:extLst>
      <p:ext uri="{BB962C8B-B14F-4D97-AF65-F5344CB8AC3E}">
        <p14:creationId xmlns:p14="http://schemas.microsoft.com/office/powerpoint/2010/main" val="3929620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573F185-F0F5-4DDB-89B9-FFDEE48E922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A9698D5-F6B7-3D6D-61D3-F8F45F47B919}"/>
              </a:ext>
            </a:extLst>
          </p:cNvPr>
          <p:cNvSpPr>
            <a:spLocks noGrp="1"/>
          </p:cNvSpPr>
          <p:nvPr>
            <p:ph sz="quarter" idx="16"/>
          </p:nvPr>
        </p:nvSpPr>
        <p:spPr>
          <a:xfrm>
            <a:off x="1333500" y="1657350"/>
            <a:ext cx="9525000" cy="2453282"/>
          </a:xfrm>
        </p:spPr>
        <p:txBody>
          <a:bodyPr>
            <a:normAutofit fontScale="85000" lnSpcReduction="10000"/>
          </a:bodyPr>
          <a:lstStyle/>
          <a:p>
            <a:pPr marL="0" marR="0" indent="0" algn="l">
              <a:buNone/>
            </a:pPr>
            <a:r>
              <a:rPr sz="4200" b="0">
                <a:solidFill>
                  <a:srgbClr val="5793D0"/>
                </a:solidFill>
                <a:effectLst/>
                <a:latin typeface="Avenir Next LT Pro" panose="020B0504020202020204" pitchFamily="34" charset="0"/>
              </a:rPr>
              <a:t>"Post only when your contribution adds genuine value—forced engagement erodes trust and invites negative feedback."</a:t>
            </a:r>
            <a:r>
              <a:rPr>
                <a:effectLst/>
              </a:rPr>
              <a:t> </a:t>
            </a:r>
            <a:endParaRPr lang="en-US"/>
          </a:p>
        </p:txBody>
      </p:sp>
      <p:sp>
        <p:nvSpPr>
          <p:cNvPr id="6" name="Date Placeholder 5">
            <a:extLst>
              <a:ext uri="{FF2B5EF4-FFF2-40B4-BE49-F238E27FC236}">
                <a16:creationId xmlns:a16="http://schemas.microsoft.com/office/drawing/2014/main" id="{CB10659E-A31B-9BB2-5ADE-87ADF7DEF503}"/>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110462B6-7E20-A66F-0B95-0E04C37E179F}"/>
              </a:ext>
            </a:extLst>
          </p:cNvPr>
          <p:cNvSpPr>
            <a:spLocks noGrp="1"/>
          </p:cNvSpPr>
          <p:nvPr>
            <p:ph type="sldNum" sz="quarter" idx="19"/>
          </p:nvPr>
        </p:nvSpPr>
        <p:spPr/>
        <p:txBody>
          <a:bodyPr/>
          <a:lstStyle/>
          <a:p>
            <a:fld id="{AEAA3239-9EA4-4A65-A281-97F994456D9F}" type="slidenum">
              <a:rPr lang="en-US" smtClean="0"/>
              <a:pPr/>
              <a:t>16</a:t>
            </a:fld>
            <a:endParaRPr lang="en-US" sz="900" dirty="0"/>
          </a:p>
        </p:txBody>
      </p:sp>
      <p:sp>
        <p:nvSpPr>
          <p:cNvPr id="9" name="TextBox 8">
            <a:extLst>
              <a:ext uri="{FF2B5EF4-FFF2-40B4-BE49-F238E27FC236}">
                <a16:creationId xmlns:a16="http://schemas.microsoft.com/office/drawing/2014/main" id="{E46D56F8-A5B4-4669-B6F0-19052F7C02AB}"/>
              </a:ext>
            </a:extLst>
          </p:cNvPr>
          <p:cNvSpPr txBox="1"/>
          <p:nvPr/>
        </p:nvSpPr>
        <p:spPr>
          <a:xfrm>
            <a:off x="1333500" y="4438650"/>
            <a:ext cx="9525000" cy="274290"/>
          </a:xfrm>
          <a:prstGeom prst="rect">
            <a:avLst/>
          </a:prstGeom>
          <a:noFill/>
        </p:spPr>
        <p:txBody>
          <a:bodyPr wrap="square" rtlCol="0">
            <a:normAutofit/>
          </a:bodyPr>
          <a:lstStyle/>
          <a:p>
            <a:pPr marL="0" marR="0" algn="r">
              <a:buNone/>
            </a:pPr>
            <a:r>
              <a:rPr sz="1800" b="0">
                <a:solidFill>
                  <a:srgbClr val="105237"/>
                </a:solidFill>
                <a:effectLst/>
                <a:latin typeface="Avenir Next LT Pro" panose="020B0504020202020204" pitchFamily="34" charset="0"/>
              </a:rPr>
              <a:t>— “No Good Posts” Rule, moderation insight</a:t>
            </a:r>
            <a:r>
              <a:rPr>
                <a:effectLst/>
              </a:rPr>
              <a:t> </a:t>
            </a:r>
            <a:endParaRPr lang="en-US"/>
          </a:p>
        </p:txBody>
      </p:sp>
    </p:spTree>
    <p:extLst>
      <p:ext uri="{BB962C8B-B14F-4D97-AF65-F5344CB8AC3E}">
        <p14:creationId xmlns:p14="http://schemas.microsoft.com/office/powerpoint/2010/main" val="1094462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0CDFC17-9BD9-44D0-BB99-99114F1FDBC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clean, modern illustration showing a person sharing a digital link in a professional online discussion thread, with visual cues for context relevance such as highlighted comments or icons representing thoughtful engagement; professionalism, clarity, and positive interaction; ample white space on the right; no visible or implied text anywhere; composition supports left-text, right-image layout with padding for readability">
            <a:extLst>
              <a:ext uri="{FF2B5EF4-FFF2-40B4-BE49-F238E27FC236}">
                <a16:creationId xmlns:a16="http://schemas.microsoft.com/office/drawing/2014/main" id="{7E94F39A-3891-4284-8F32-1AF6BA356364}"/>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165306" y="619125"/>
            <a:ext cx="3407419" cy="5638800"/>
          </a:xfrm>
          <a:prstGeom prst="rect">
            <a:avLst/>
          </a:prstGeom>
        </p:spPr>
      </p:pic>
      <p:sp>
        <p:nvSpPr>
          <p:cNvPr id="6" name="Date Placeholder 5">
            <a:extLst>
              <a:ext uri="{FF2B5EF4-FFF2-40B4-BE49-F238E27FC236}">
                <a16:creationId xmlns:a16="http://schemas.microsoft.com/office/drawing/2014/main" id="{1EB5E47C-2E6A-E37D-FF2D-B43CBD0A3F52}"/>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14A9BDDE-0E69-3139-7B21-3F13430A2E4A}"/>
              </a:ext>
            </a:extLst>
          </p:cNvPr>
          <p:cNvSpPr>
            <a:spLocks noGrp="1"/>
          </p:cNvSpPr>
          <p:nvPr>
            <p:ph type="sldNum" sz="quarter" idx="19"/>
          </p:nvPr>
        </p:nvSpPr>
        <p:spPr/>
        <p:txBody>
          <a:bodyPr/>
          <a:lstStyle/>
          <a:p>
            <a:fld id="{AEAA3239-9EA4-4A65-A281-97F994456D9F}" type="slidenum">
              <a:rPr lang="en-US" smtClean="0"/>
              <a:pPr/>
              <a:t>17</a:t>
            </a:fld>
            <a:endParaRPr lang="en-US" sz="900" dirty="0"/>
          </a:p>
        </p:txBody>
      </p:sp>
      <p:sp>
        <p:nvSpPr>
          <p:cNvPr id="10" name="TextBox 9">
            <a:extLst>
              <a:ext uri="{FF2B5EF4-FFF2-40B4-BE49-F238E27FC236}">
                <a16:creationId xmlns:a16="http://schemas.microsoft.com/office/drawing/2014/main" id="{27371178-5F77-4198-BB42-9D7BB0D9E161}"/>
              </a:ext>
            </a:extLst>
          </p:cNvPr>
          <p:cNvSpPr txBox="1"/>
          <p:nvPr/>
        </p:nvSpPr>
        <p:spPr>
          <a:xfrm>
            <a:off x="619125" y="1038225"/>
            <a:ext cx="6936581" cy="2011412"/>
          </a:xfrm>
          <a:prstGeom prst="rect">
            <a:avLst/>
          </a:prstGeom>
          <a:noFill/>
        </p:spPr>
        <p:txBody>
          <a:bodyPr wrap="square" rtlCol="0">
            <a:normAutofit/>
          </a:bodyPr>
          <a:lstStyle/>
          <a:p>
            <a:pPr marL="0" marR="0" algn="l">
              <a:buNone/>
            </a:pPr>
            <a:r>
              <a:rPr sz="4800" b="0">
                <a:solidFill>
                  <a:srgbClr val="105237"/>
                </a:solidFill>
                <a:effectLst/>
                <a:latin typeface="Avenir Next LT Pro" panose="020B0504020202020204" pitchFamily="34" charset="0"/>
              </a:rPr>
              <a:t>Guidelines for Sharing the OFFO Scenario Tool Link</a:t>
            </a:r>
            <a:r>
              <a:rPr>
                <a:effectLst/>
              </a:rPr>
              <a:t> </a:t>
            </a:r>
            <a:endParaRPr lang="en-US"/>
          </a:p>
        </p:txBody>
      </p:sp>
      <p:sp>
        <p:nvSpPr>
          <p:cNvPr id="11" name="TextBox 10">
            <a:extLst>
              <a:ext uri="{FF2B5EF4-FFF2-40B4-BE49-F238E27FC236}">
                <a16:creationId xmlns:a16="http://schemas.microsoft.com/office/drawing/2014/main" id="{3E5559C2-BE39-46FE-81FE-71CB7E73D259}"/>
              </a:ext>
            </a:extLst>
          </p:cNvPr>
          <p:cNvSpPr txBox="1"/>
          <p:nvPr/>
        </p:nvSpPr>
        <p:spPr>
          <a:xfrm>
            <a:off x="619125" y="3392537"/>
            <a:ext cx="3277790" cy="2128837"/>
          </a:xfrm>
          <a:prstGeom prst="rect">
            <a:avLst/>
          </a:prstGeom>
          <a:noFill/>
        </p:spPr>
        <p:txBody>
          <a:bodyPr wrap="square" rtlCol="0">
            <a:normAutofit/>
          </a:bodyPr>
          <a:lstStyle/>
          <a:p>
            <a:pPr marL="0" marR="0" algn="l">
              <a:buNone/>
            </a:pPr>
            <a:r>
              <a:rPr sz="1800" b="1">
                <a:solidFill>
                  <a:srgbClr val="105237"/>
                </a:solidFill>
                <a:effectLst/>
                <a:latin typeface="Avenir Next LT Pro" panose="020B0504020202020204" pitchFamily="34" charset="0"/>
              </a:rPr>
              <a:t>Contextual Sharing</a:t>
            </a:r>
            <a:r>
              <a:rPr>
                <a:effectLst/>
              </a:rPr>
              <a:t> </a:t>
            </a:r>
          </a:p>
          <a:p>
            <a:pPr marL="0" marR="0" algn="l">
              <a:spcBef>
                <a:spcPts val="600"/>
              </a:spcBef>
              <a:buNone/>
            </a:pPr>
            <a:r>
              <a:rPr sz="1350" b="0">
                <a:solidFill>
                  <a:srgbClr val="105237"/>
                </a:solidFill>
                <a:effectLst/>
                <a:latin typeface="Avenir Next LT Pro" panose="020B0504020202020204" pitchFamily="34" charset="0"/>
              </a:rPr>
              <a:t>Share the link only when it adds clear value to the thread. Briefly explain how the tool helps the discussion, and customize your note to the specific question or scenario.</a:t>
            </a:r>
            <a:r>
              <a:rPr>
                <a:effectLst/>
              </a:rPr>
              <a:t> </a:t>
            </a:r>
          </a:p>
          <a:p>
            <a:pPr marL="0" marR="0" algn="l">
              <a:spcBef>
                <a:spcPts val="600"/>
              </a:spcBef>
              <a:buNone/>
            </a:pPr>
            <a:r>
              <a:rPr sz="1350" b="0">
                <a:solidFill>
                  <a:srgbClr val="105237"/>
                </a:solidFill>
                <a:effectLst/>
                <a:latin typeface="Avenir Next LT Pro" panose="020B0504020202020204" pitchFamily="34" charset="0"/>
              </a:rPr>
              <a:t>Avoid multiple drops in a single thread—one relevant share is sufficient.</a:t>
            </a:r>
            <a:r>
              <a:rPr>
                <a:effectLst/>
              </a:rPr>
              <a:t> </a:t>
            </a:r>
            <a:endParaRPr lang="en-US"/>
          </a:p>
        </p:txBody>
      </p:sp>
      <p:sp>
        <p:nvSpPr>
          <p:cNvPr id="12" name="TextBox 11">
            <a:extLst>
              <a:ext uri="{FF2B5EF4-FFF2-40B4-BE49-F238E27FC236}">
                <a16:creationId xmlns:a16="http://schemas.microsoft.com/office/drawing/2014/main" id="{35F48070-7C50-4E42-969F-9867640A066C}"/>
              </a:ext>
            </a:extLst>
          </p:cNvPr>
          <p:cNvSpPr txBox="1"/>
          <p:nvPr/>
        </p:nvSpPr>
        <p:spPr>
          <a:xfrm>
            <a:off x="4277915" y="3392537"/>
            <a:ext cx="3277790" cy="2128837"/>
          </a:xfrm>
          <a:prstGeom prst="rect">
            <a:avLst/>
          </a:prstGeom>
          <a:noFill/>
        </p:spPr>
        <p:txBody>
          <a:bodyPr wrap="square" rtlCol="0">
            <a:normAutofit/>
          </a:bodyPr>
          <a:lstStyle/>
          <a:p>
            <a:pPr marL="0" marR="0" algn="l">
              <a:buNone/>
            </a:pPr>
            <a:r>
              <a:rPr sz="1800" b="1">
                <a:solidFill>
                  <a:srgbClr val="105237"/>
                </a:solidFill>
                <a:effectLst/>
                <a:latin typeface="Avenir Next LT Pro" panose="020B0504020202020204" pitchFamily="34" charset="0"/>
              </a:rPr>
              <a:t>Rules and Benefits</a:t>
            </a:r>
            <a:r>
              <a:rPr>
                <a:effectLst/>
              </a:rPr>
              <a:t> </a:t>
            </a:r>
          </a:p>
          <a:p>
            <a:pPr marL="0" marR="0" algn="l">
              <a:spcBef>
                <a:spcPts val="600"/>
              </a:spcBef>
              <a:buNone/>
            </a:pPr>
            <a:r>
              <a:rPr sz="1350" b="0">
                <a:solidFill>
                  <a:srgbClr val="105237"/>
                </a:solidFill>
                <a:effectLst/>
                <a:latin typeface="Avenir Next LT Pro" panose="020B0504020202020204" pitchFamily="34" charset="0"/>
              </a:rPr>
              <a:t>Follow platform rules and be transparent about what the tool does. Contextual shares see up to 40% higher clicks and fewer flags than generic posting.</a:t>
            </a:r>
            <a:r>
              <a:rPr>
                <a:effectLst/>
              </a:rPr>
              <a:t> </a:t>
            </a:r>
          </a:p>
          <a:p>
            <a:pPr marL="0" marR="0" algn="l">
              <a:spcBef>
                <a:spcPts val="600"/>
              </a:spcBef>
              <a:buNone/>
            </a:pPr>
            <a:r>
              <a:rPr sz="1350" b="0">
                <a:solidFill>
                  <a:srgbClr val="105237"/>
                </a:solidFill>
                <a:effectLst/>
                <a:latin typeface="Avenir Next LT Pro" panose="020B0504020202020204" pitchFamily="34" charset="0"/>
              </a:rPr>
              <a:t>Use concise examples/templates to model appropriate sharing tone and intent.</a:t>
            </a:r>
            <a:r>
              <a:rPr>
                <a:effectLst/>
              </a:rPr>
              <a:t> </a:t>
            </a:r>
            <a:endParaRPr lang="en-US"/>
          </a:p>
        </p:txBody>
      </p:sp>
    </p:spTree>
    <p:extLst>
      <p:ext uri="{BB962C8B-B14F-4D97-AF65-F5344CB8AC3E}">
        <p14:creationId xmlns:p14="http://schemas.microsoft.com/office/powerpoint/2010/main" val="2056815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E7D5575-5448-4DD2-A176-72E749AB4E7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75A668B3-146A-E5E8-4384-0BFC2531C39A}"/>
              </a:ext>
            </a:extLst>
          </p:cNvPr>
          <p:cNvSpPr>
            <a:spLocks noGrp="1"/>
          </p:cNvSpPr>
          <p:nvPr>
            <p:ph sz="quarter" idx="16"/>
          </p:nvPr>
        </p:nvSpPr>
        <p:spPr>
          <a:xfrm>
            <a:off x="619125" y="581025"/>
            <a:ext cx="10972800" cy="670470"/>
          </a:xfrm>
        </p:spPr>
        <p:txBody>
          <a:bodyPr/>
          <a:lstStyle/>
          <a:p>
            <a:pPr marL="0" indent="0" algn="l">
              <a:buNone/>
            </a:pPr>
            <a:r>
              <a:rPr sz="4800">
                <a:solidFill>
                  <a:srgbClr val="105237"/>
                </a:solidFill>
                <a:effectLst/>
                <a:latin typeface="Avenir Next LT Pro" panose="020B0504020202020204" pitchFamily="34" charset="0"/>
              </a:rPr>
              <a:t>Inviting Users to r/EVRoutine</a:t>
            </a:r>
            <a:r>
              <a:rPr>
                <a:effectLst/>
              </a:rPr>
              <a:t> </a:t>
            </a:r>
            <a:endParaRPr lang="en-US"/>
          </a:p>
        </p:txBody>
      </p:sp>
      <p:sp>
        <p:nvSpPr>
          <p:cNvPr id="6" name="Date Placeholder 5">
            <a:extLst>
              <a:ext uri="{FF2B5EF4-FFF2-40B4-BE49-F238E27FC236}">
                <a16:creationId xmlns:a16="http://schemas.microsoft.com/office/drawing/2014/main" id="{58178023-A275-C33A-E564-4988FC96F9AB}"/>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CE9C99D2-9DB4-98FC-8CF5-D2A61D6969D5}"/>
              </a:ext>
            </a:extLst>
          </p:cNvPr>
          <p:cNvSpPr>
            <a:spLocks noGrp="1"/>
          </p:cNvSpPr>
          <p:nvPr>
            <p:ph type="sldNum" sz="quarter" idx="19"/>
          </p:nvPr>
        </p:nvSpPr>
        <p:spPr/>
        <p:txBody>
          <a:bodyPr/>
          <a:lstStyle/>
          <a:p>
            <a:fld id="{AEAA3239-9EA4-4A65-A281-97F994456D9F}" type="slidenum">
              <a:rPr lang="en-US" smtClean="0"/>
              <a:pPr/>
              <a:t>18</a:t>
            </a:fld>
            <a:endParaRPr lang="en-US" sz="900" dirty="0"/>
          </a:p>
        </p:txBody>
      </p:sp>
      <p:sp>
        <p:nvSpPr>
          <p:cNvPr id="9" name="TextBox 8">
            <a:extLst>
              <a:ext uri="{FF2B5EF4-FFF2-40B4-BE49-F238E27FC236}">
                <a16:creationId xmlns:a16="http://schemas.microsoft.com/office/drawing/2014/main" id="{D18CBD05-47AE-46B3-B7F5-5801F094FF94}"/>
              </a:ext>
            </a:extLst>
          </p:cNvPr>
          <p:cNvSpPr txBox="1"/>
          <p:nvPr/>
        </p:nvSpPr>
        <p:spPr>
          <a:xfrm>
            <a:off x="619125" y="2759422"/>
            <a:ext cx="2011709"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01</a:t>
            </a:r>
            <a:r>
              <a:rPr>
                <a:effectLst/>
              </a:rPr>
              <a:t> </a:t>
            </a:r>
          </a:p>
          <a:p>
            <a:pPr marL="0" algn="l">
              <a:spcAft>
                <a:spcPts val="900"/>
              </a:spcAft>
              <a:buNone/>
            </a:pPr>
            <a:r>
              <a:rPr sz="1425" b="1">
                <a:solidFill>
                  <a:srgbClr val="105237"/>
                </a:solidFill>
                <a:effectLst/>
                <a:latin typeface="Avenir Next LT Pro" panose="020B0504020202020204" pitchFamily="34" charset="0"/>
              </a:rPr>
              <a:t>Identify Potential Invitees</a:t>
            </a:r>
            <a:r>
              <a:rPr>
                <a:effectLst/>
              </a:rPr>
              <a:t> </a:t>
            </a:r>
          </a:p>
          <a:p>
            <a:pPr marL="0" algn="l">
              <a:buNone/>
            </a:pPr>
            <a:r>
              <a:rPr sz="1425" b="0">
                <a:solidFill>
                  <a:srgbClr val="105237"/>
                </a:solidFill>
                <a:effectLst/>
                <a:latin typeface="Avenir Next LT Pro" panose="020B0504020202020204" pitchFamily="34" charset="0"/>
              </a:rPr>
              <a:t>Find users showing genuine EV interest or offering detailed, helpful responses.</a:t>
            </a:r>
            <a:r>
              <a:rPr>
                <a:effectLst/>
              </a:rPr>
              <a:t> </a:t>
            </a:r>
            <a:endParaRPr lang="en-US"/>
          </a:p>
        </p:txBody>
      </p:sp>
      <p:sp>
        <p:nvSpPr>
          <p:cNvPr id="10" name="TextBox 9">
            <a:extLst>
              <a:ext uri="{FF2B5EF4-FFF2-40B4-BE49-F238E27FC236}">
                <a16:creationId xmlns:a16="http://schemas.microsoft.com/office/drawing/2014/main" id="{BCDAE75C-2D6D-4D6A-97C4-7D7C18745158}"/>
              </a:ext>
            </a:extLst>
          </p:cNvPr>
          <p:cNvSpPr txBox="1"/>
          <p:nvPr/>
        </p:nvSpPr>
        <p:spPr>
          <a:xfrm>
            <a:off x="2859434" y="2759422"/>
            <a:ext cx="2011709"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02</a:t>
            </a:r>
            <a:r>
              <a:rPr>
                <a:effectLst/>
              </a:rPr>
              <a:t> </a:t>
            </a:r>
          </a:p>
          <a:p>
            <a:pPr marL="0" algn="l">
              <a:spcAft>
                <a:spcPts val="900"/>
              </a:spcAft>
              <a:buNone/>
            </a:pPr>
            <a:r>
              <a:rPr sz="1425" b="1">
                <a:solidFill>
                  <a:srgbClr val="105237"/>
                </a:solidFill>
                <a:effectLst/>
                <a:latin typeface="Avenir Next LT Pro" panose="020B0504020202020204" pitchFamily="34" charset="0"/>
              </a:rPr>
              <a:t>Personalize the Approach</a:t>
            </a:r>
            <a:r>
              <a:rPr>
                <a:effectLst/>
              </a:rPr>
              <a:t> </a:t>
            </a:r>
          </a:p>
          <a:p>
            <a:pPr marL="0" algn="l">
              <a:buNone/>
            </a:pPr>
            <a:r>
              <a:rPr sz="1425" b="0">
                <a:solidFill>
                  <a:srgbClr val="105237"/>
                </a:solidFill>
                <a:effectLst/>
                <a:latin typeface="Avenir Next LT Pro" panose="020B0504020202020204" pitchFamily="34" charset="0"/>
              </a:rPr>
              <a:t>Reference their specific contributions or shared interests to build relevance.</a:t>
            </a:r>
            <a:r>
              <a:rPr>
                <a:effectLst/>
              </a:rPr>
              <a:t> </a:t>
            </a:r>
            <a:endParaRPr lang="en-US"/>
          </a:p>
        </p:txBody>
      </p:sp>
      <p:sp>
        <p:nvSpPr>
          <p:cNvPr id="11" name="TextBox 10">
            <a:extLst>
              <a:ext uri="{FF2B5EF4-FFF2-40B4-BE49-F238E27FC236}">
                <a16:creationId xmlns:a16="http://schemas.microsoft.com/office/drawing/2014/main" id="{64524EEA-8C44-411A-930F-A86850B6772A}"/>
              </a:ext>
            </a:extLst>
          </p:cNvPr>
          <p:cNvSpPr txBox="1"/>
          <p:nvPr/>
        </p:nvSpPr>
        <p:spPr>
          <a:xfrm>
            <a:off x="5099744" y="2759422"/>
            <a:ext cx="2011709" cy="2336899"/>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03</a:t>
            </a:r>
            <a:r>
              <a:rPr>
                <a:effectLst/>
              </a:rPr>
              <a:t> </a:t>
            </a:r>
          </a:p>
          <a:p>
            <a:pPr marL="0" algn="l">
              <a:spcAft>
                <a:spcPts val="900"/>
              </a:spcAft>
              <a:buNone/>
            </a:pPr>
            <a:r>
              <a:rPr sz="1425" b="1">
                <a:solidFill>
                  <a:srgbClr val="105237"/>
                </a:solidFill>
                <a:effectLst/>
                <a:latin typeface="Avenir Next LT Pro" panose="020B0504020202020204" pitchFamily="34" charset="0"/>
              </a:rPr>
              <a:t>Send Warm Invitations</a:t>
            </a:r>
            <a:r>
              <a:rPr>
                <a:effectLst/>
              </a:rPr>
              <a:t> </a:t>
            </a:r>
          </a:p>
          <a:p>
            <a:pPr marL="0" algn="l">
              <a:buNone/>
            </a:pPr>
            <a:r>
              <a:rPr sz="1425" b="0">
                <a:solidFill>
                  <a:srgbClr val="105237"/>
                </a:solidFill>
                <a:effectLst/>
                <a:latin typeface="Avenir Next LT Pro" panose="020B0504020202020204" pitchFamily="34" charset="0"/>
              </a:rPr>
              <a:t>Reach out non-intrusively and in context, ideally after a positive interaction.</a:t>
            </a:r>
            <a:r>
              <a:rPr>
                <a:effectLst/>
              </a:rPr>
              <a:t> </a:t>
            </a:r>
            <a:endParaRPr lang="en-US"/>
          </a:p>
        </p:txBody>
      </p:sp>
      <p:sp>
        <p:nvSpPr>
          <p:cNvPr id="12" name="TextBox 11">
            <a:extLst>
              <a:ext uri="{FF2B5EF4-FFF2-40B4-BE49-F238E27FC236}">
                <a16:creationId xmlns:a16="http://schemas.microsoft.com/office/drawing/2014/main" id="{9C4892F4-011D-4E2B-8E81-36284529DFD6}"/>
              </a:ext>
            </a:extLst>
          </p:cNvPr>
          <p:cNvSpPr txBox="1"/>
          <p:nvPr/>
        </p:nvSpPr>
        <p:spPr>
          <a:xfrm>
            <a:off x="7340054" y="2759422"/>
            <a:ext cx="2011709" cy="2119758"/>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04</a:t>
            </a:r>
            <a:r>
              <a:rPr>
                <a:effectLst/>
              </a:rPr>
              <a:t> </a:t>
            </a:r>
          </a:p>
          <a:p>
            <a:pPr marL="0" algn="l">
              <a:spcAft>
                <a:spcPts val="900"/>
              </a:spcAft>
              <a:buNone/>
            </a:pPr>
            <a:r>
              <a:rPr sz="1425" b="1">
                <a:solidFill>
                  <a:srgbClr val="105237"/>
                </a:solidFill>
                <a:effectLst/>
                <a:latin typeface="Avenir Next LT Pro" panose="020B0504020202020204" pitchFamily="34" charset="0"/>
              </a:rPr>
              <a:t>Monitor Acceptance</a:t>
            </a:r>
            <a:r>
              <a:rPr>
                <a:effectLst/>
              </a:rPr>
              <a:t> </a:t>
            </a:r>
          </a:p>
          <a:p>
            <a:pPr marL="0" algn="l">
              <a:buNone/>
            </a:pPr>
            <a:r>
              <a:rPr sz="1425" b="0">
                <a:solidFill>
                  <a:srgbClr val="105237"/>
                </a:solidFill>
                <a:effectLst/>
                <a:latin typeface="Avenir Next LT Pro" panose="020B0504020202020204" pitchFamily="34" charset="0"/>
              </a:rPr>
              <a:t>Track acceptance rates; warm invitations typically exceed a 30% acceptance.</a:t>
            </a:r>
            <a:r>
              <a:rPr>
                <a:effectLst/>
              </a:rPr>
              <a:t> </a:t>
            </a:r>
            <a:endParaRPr lang="en-US"/>
          </a:p>
        </p:txBody>
      </p:sp>
      <p:sp>
        <p:nvSpPr>
          <p:cNvPr id="13" name="TextBox 12">
            <a:extLst>
              <a:ext uri="{FF2B5EF4-FFF2-40B4-BE49-F238E27FC236}">
                <a16:creationId xmlns:a16="http://schemas.microsoft.com/office/drawing/2014/main" id="{225A5291-2BA8-46BA-8BF7-E37C4E52BFA6}"/>
              </a:ext>
            </a:extLst>
          </p:cNvPr>
          <p:cNvSpPr txBox="1"/>
          <p:nvPr/>
        </p:nvSpPr>
        <p:spPr>
          <a:xfrm>
            <a:off x="9580364" y="2759422"/>
            <a:ext cx="2011709" cy="2581126"/>
          </a:xfrm>
          <a:prstGeom prst="rect">
            <a:avLst/>
          </a:prstGeom>
          <a:noFill/>
        </p:spPr>
        <p:txBody>
          <a:bodyPr wrap="square" rtlCol="0">
            <a:normAutofit/>
          </a:bodyPr>
          <a:lstStyle/>
          <a:p>
            <a:pPr marL="0" algn="l">
              <a:spcAft>
                <a:spcPts val="1800"/>
              </a:spcAft>
              <a:buNone/>
            </a:pPr>
            <a:r>
              <a:rPr sz="5400" b="1">
                <a:solidFill>
                  <a:srgbClr val="105237"/>
                </a:solidFill>
                <a:effectLst/>
                <a:latin typeface="Avenir Next LT Pro" panose="020B0504020202020204" pitchFamily="34" charset="0"/>
              </a:rPr>
              <a:t>05</a:t>
            </a:r>
            <a:r>
              <a:rPr>
                <a:effectLst/>
              </a:rPr>
              <a:t> </a:t>
            </a:r>
          </a:p>
          <a:p>
            <a:pPr marL="0" algn="l">
              <a:spcAft>
                <a:spcPts val="900"/>
              </a:spcAft>
              <a:buNone/>
            </a:pPr>
            <a:r>
              <a:rPr sz="1425" b="1">
                <a:solidFill>
                  <a:srgbClr val="105237"/>
                </a:solidFill>
                <a:effectLst/>
                <a:latin typeface="Avenir Next LT Pro" panose="020B0504020202020204" pitchFamily="34" charset="0"/>
              </a:rPr>
              <a:t>Follow Up Thoughtfully</a:t>
            </a:r>
            <a:r>
              <a:rPr>
                <a:effectLst/>
              </a:rPr>
              <a:t> </a:t>
            </a:r>
          </a:p>
          <a:p>
            <a:pPr marL="0" algn="l">
              <a:buNone/>
            </a:pPr>
            <a:r>
              <a:rPr sz="1425" b="0">
                <a:solidFill>
                  <a:srgbClr val="105237"/>
                </a:solidFill>
                <a:effectLst/>
                <a:latin typeface="Avenir Next LT Pro" panose="020B0504020202020204" pitchFamily="34" charset="0"/>
              </a:rPr>
              <a:t>Send a gentle reminder if needed, respecting boundaries and community harmony.</a:t>
            </a:r>
            <a:r>
              <a:rPr>
                <a:effectLst/>
              </a:rPr>
              <a:t> </a:t>
            </a:r>
            <a:endParaRPr lang="en-US"/>
          </a:p>
        </p:txBody>
      </p:sp>
    </p:spTree>
    <p:extLst>
      <p:ext uri="{BB962C8B-B14F-4D97-AF65-F5344CB8AC3E}">
        <p14:creationId xmlns:p14="http://schemas.microsoft.com/office/powerpoint/2010/main" val="3883855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6A85D12-2AC9-4084-9978-9018DCE6A6E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0FA9642D-4124-7EF2-5B06-A9AF7CEEFBC1}"/>
              </a:ext>
            </a:extLst>
          </p:cNvPr>
          <p:cNvSpPr>
            <a:spLocks noGrp="1"/>
          </p:cNvSpPr>
          <p:nvPr>
            <p:ph sz="quarter" idx="16"/>
          </p:nvPr>
        </p:nvSpPr>
        <p:spPr>
          <a:xfrm>
            <a:off x="828675" y="3933825"/>
            <a:ext cx="10534650" cy="2095500"/>
          </a:xfrm>
        </p:spPr>
        <p:txBody>
          <a:bodyPr>
            <a:normAutofit fontScale="92500" lnSpcReduction="10000"/>
          </a:bodyPr>
          <a:lstStyle/>
          <a:p>
            <a:pPr marL="0" marR="0" indent="0" algn="l" fontAlgn="b">
              <a:buNone/>
            </a:pPr>
            <a:r>
              <a:rPr sz="6750">
                <a:solidFill>
                  <a:srgbClr val="DEB4FC"/>
                </a:solidFill>
                <a:effectLst/>
                <a:latin typeface="Avenir Next LT Pro" panose="020B0504020202020204" pitchFamily="34" charset="0"/>
              </a:rPr>
              <a:t>Reply Style Guide: Founder Voice Rules</a:t>
            </a:r>
            <a:r>
              <a:rPr>
                <a:effectLst/>
              </a:rPr>
              <a:t> </a:t>
            </a:r>
            <a:endParaRPr lang="en-US"/>
          </a:p>
        </p:txBody>
      </p:sp>
      <p:sp>
        <p:nvSpPr>
          <p:cNvPr id="6" name="Date Placeholder 5">
            <a:extLst>
              <a:ext uri="{FF2B5EF4-FFF2-40B4-BE49-F238E27FC236}">
                <a16:creationId xmlns:a16="http://schemas.microsoft.com/office/drawing/2014/main" id="{BACA4881-8EEA-D825-6563-6D0D9751FD33}"/>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0DA0FE9A-1837-117D-A097-4DB676C42BD0}"/>
              </a:ext>
            </a:extLst>
          </p:cNvPr>
          <p:cNvSpPr>
            <a:spLocks noGrp="1"/>
          </p:cNvSpPr>
          <p:nvPr>
            <p:ph type="sldNum" sz="quarter" idx="19"/>
          </p:nvPr>
        </p:nvSpPr>
        <p:spPr/>
        <p:txBody>
          <a:bodyPr/>
          <a:lstStyle/>
          <a:p>
            <a:fld id="{AEAA3239-9EA4-4A65-A281-97F994456D9F}" type="slidenum">
              <a:rPr lang="en-US" smtClean="0"/>
              <a:pPr/>
              <a:t>19</a:t>
            </a:fld>
            <a:endParaRPr lang="en-US" sz="900" dirty="0"/>
          </a:p>
        </p:txBody>
      </p:sp>
    </p:spTree>
    <p:extLst>
      <p:ext uri="{BB962C8B-B14F-4D97-AF65-F5344CB8AC3E}">
        <p14:creationId xmlns:p14="http://schemas.microsoft.com/office/powerpoint/2010/main" val="1223208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FDEA41D-B727-4675-AC9F-AD44F6F465E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9BBF4DB-F2E2-BC8D-84D6-86EC78E7941B}"/>
              </a:ext>
            </a:extLst>
          </p:cNvPr>
          <p:cNvSpPr>
            <a:spLocks noGrp="1"/>
          </p:cNvSpPr>
          <p:nvPr>
            <p:ph sz="quarter" idx="16"/>
          </p:nvPr>
        </p:nvSpPr>
        <p:spPr>
          <a:xfrm>
            <a:off x="619125" y="619125"/>
            <a:ext cx="10953750" cy="1340941"/>
          </a:xfrm>
        </p:spPr>
        <p:txBody>
          <a:bodyPr/>
          <a:lstStyle/>
          <a:p>
            <a:pPr marL="0" marR="0" indent="0" algn="l">
              <a:buNone/>
            </a:pPr>
            <a:r>
              <a:rPr sz="4800" b="0">
                <a:solidFill>
                  <a:srgbClr val="105237"/>
                </a:solidFill>
                <a:effectLst/>
                <a:latin typeface="Avenir Next LT Pro" panose="020B0504020202020204" pitchFamily="34" charset="0"/>
              </a:rPr>
              <a:t>Maintaining a Helpful, Expert, Non-Salesy Tone</a:t>
            </a:r>
            <a:r>
              <a:rPr>
                <a:effectLst/>
              </a:rPr>
              <a:t> </a:t>
            </a:r>
            <a:endParaRPr lang="en-US"/>
          </a:p>
        </p:txBody>
      </p:sp>
      <p:sp>
        <p:nvSpPr>
          <p:cNvPr id="6" name="Date Placeholder 5">
            <a:extLst>
              <a:ext uri="{FF2B5EF4-FFF2-40B4-BE49-F238E27FC236}">
                <a16:creationId xmlns:a16="http://schemas.microsoft.com/office/drawing/2014/main" id="{773D9A5C-95FB-16BA-B73F-25CD09DAE999}"/>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B23AE3B9-D6BB-AA51-4884-6A099A7F9E98}"/>
              </a:ext>
            </a:extLst>
          </p:cNvPr>
          <p:cNvSpPr>
            <a:spLocks noGrp="1"/>
          </p:cNvSpPr>
          <p:nvPr>
            <p:ph type="sldNum" sz="quarter" idx="19"/>
          </p:nvPr>
        </p:nvSpPr>
        <p:spPr/>
        <p:txBody>
          <a:bodyPr/>
          <a:lstStyle/>
          <a:p>
            <a:fld id="{AEAA3239-9EA4-4A65-A281-97F994456D9F}" type="slidenum">
              <a:rPr lang="en-US" smtClean="0"/>
              <a:pPr/>
              <a:t>20</a:t>
            </a:fld>
            <a:endParaRPr lang="en-US" sz="900" dirty="0"/>
          </a:p>
        </p:txBody>
      </p:sp>
      <p:sp>
        <p:nvSpPr>
          <p:cNvPr id="9" name="TextBox 8">
            <a:extLst>
              <a:ext uri="{FF2B5EF4-FFF2-40B4-BE49-F238E27FC236}">
                <a16:creationId xmlns:a16="http://schemas.microsoft.com/office/drawing/2014/main" id="{4074B009-5517-432D-B8A0-ECE4DE5EB7B8}"/>
              </a:ext>
            </a:extLst>
          </p:cNvPr>
          <p:cNvSpPr txBox="1"/>
          <p:nvPr/>
        </p:nvSpPr>
        <p:spPr>
          <a:xfrm>
            <a:off x="619125" y="1960066"/>
            <a:ext cx="10953750" cy="373260"/>
          </a:xfrm>
          <a:prstGeom prst="rect">
            <a:avLst/>
          </a:prstGeom>
          <a:noFill/>
        </p:spPr>
        <p:txBody>
          <a:bodyPr wrap="square" rtlCol="0">
            <a:normAutofit/>
          </a:bodyPr>
          <a:lstStyle/>
          <a:p>
            <a:pPr marL="0" marR="0" algn="l">
              <a:spcBef>
                <a:spcPts val="600"/>
              </a:spcBef>
              <a:buNone/>
            </a:pPr>
            <a:r>
              <a:rPr sz="1800" b="0">
                <a:solidFill>
                  <a:srgbClr val="105237"/>
                </a:solidFill>
                <a:effectLst/>
                <a:latin typeface="Avenir Next LT Pro" panose="020B0504020202020204" pitchFamily="34" charset="0"/>
              </a:rPr>
              <a:t>Guidelines and examples for an unbiased founder voice</a:t>
            </a:r>
            <a:r>
              <a:rPr>
                <a:effectLst/>
              </a:rPr>
              <a:t> </a:t>
            </a:r>
            <a:endParaRPr lang="en-US"/>
          </a:p>
        </p:txBody>
      </p:sp>
      <p:sp>
        <p:nvSpPr>
          <p:cNvPr id="10" name="TextBox 9">
            <a:extLst>
              <a:ext uri="{FF2B5EF4-FFF2-40B4-BE49-F238E27FC236}">
                <a16:creationId xmlns:a16="http://schemas.microsoft.com/office/drawing/2014/main" id="{AD70881F-CB03-43EC-A362-F8F70319C23C}"/>
              </a:ext>
            </a:extLst>
          </p:cNvPr>
          <p:cNvSpPr txBox="1"/>
          <p:nvPr/>
        </p:nvSpPr>
        <p:spPr>
          <a:xfrm>
            <a:off x="619125" y="2333327"/>
            <a:ext cx="10953750" cy="7554069"/>
          </a:xfrm>
          <a:prstGeom prst="rect">
            <a:avLst/>
          </a:prstGeom>
          <a:noFill/>
        </p:spPr>
        <p:txBody>
          <a:bodyPr wrap="square" rtlCol="0">
            <a:normAutofit fontScale="85000" lnSpcReduction="20000"/>
          </a:bodyPr>
          <a:lstStyle/>
          <a:p>
            <a:pPr marL="0" marR="0" algn="l">
              <a:spcBef>
                <a:spcPts val="2700"/>
              </a:spcBef>
              <a:buNone/>
            </a:pPr>
            <a:r>
              <a:rPr sz="3600" b="1">
                <a:solidFill>
                  <a:srgbClr val="105237"/>
                </a:solidFill>
                <a:effectLst/>
                <a:latin typeface="Avenir Next LT Pro" panose="020B0504020202020204" pitchFamily="34" charset="0"/>
              </a:rPr>
              <a:t>Tonal Principles</a:t>
            </a:r>
            <a:r>
              <a:rPr>
                <a:effectLst/>
              </a:rPr>
              <a:t> </a:t>
            </a:r>
          </a:p>
          <a:p>
            <a:pPr marL="0" marR="0" algn="l">
              <a:spcBef>
                <a:spcPts val="450"/>
              </a:spcBef>
              <a:buNone/>
            </a:pPr>
            <a:r>
              <a:rPr sz="1800" b="0">
                <a:solidFill>
                  <a:srgbClr val="105237"/>
                </a:solidFill>
                <a:effectLst/>
                <a:latin typeface="Avenir Next LT Pro" panose="020B0504020202020204" pitchFamily="34" charset="0"/>
              </a:rPr>
              <a:t>Lead with clarity, context, and usefulness. Present facts transparently, cite sources or methods when claims are made, and acknowledge uncertainty where it exists. Replace hype with specificity: describe what something does, when it works best, and where common pitfalls appear. Aim for a human, approachable tone—use plain language, short sentences, and active voice—while keeping a confident expert stance grounded in evidence, not persuasion.</a:t>
            </a:r>
            <a:r>
              <a:rPr>
                <a:effectLst/>
              </a:rPr>
              <a:t> </a:t>
            </a:r>
          </a:p>
          <a:p>
            <a:pPr marL="0" marR="0" algn="l">
              <a:spcBef>
                <a:spcPts val="1800"/>
              </a:spcBef>
              <a:buNone/>
            </a:pPr>
            <a:r>
              <a:rPr sz="3600" b="1">
                <a:solidFill>
                  <a:srgbClr val="105237"/>
                </a:solidFill>
                <a:effectLst/>
                <a:latin typeface="Avenir Next LT Pro" panose="020B0504020202020204" pitchFamily="34" charset="0"/>
              </a:rPr>
              <a:t>Language Do’s and Don’ts</a:t>
            </a:r>
            <a:r>
              <a:rPr>
                <a:effectLst/>
              </a:rPr>
              <a:t> </a:t>
            </a:r>
          </a:p>
          <a:p>
            <a:pPr marL="0" marR="0" algn="l">
              <a:spcBef>
                <a:spcPts val="450"/>
              </a:spcBef>
              <a:buNone/>
            </a:pPr>
            <a:r>
              <a:rPr sz="1800" b="0">
                <a:solidFill>
                  <a:srgbClr val="105237"/>
                </a:solidFill>
                <a:effectLst/>
                <a:latin typeface="Avenir Next LT Pro" panose="020B0504020202020204" pitchFamily="34" charset="0"/>
              </a:rPr>
              <a:t>Do: quantify benefits, compare trade‑offs, and explain reasoning. Use neutral verbs like “shows,” “indicates,” and “suggests,” and speak directly to the reader’s task. Don’t: make superlative claims, push urgency, or overuse buzzwords. Avoid “game‑changing,” “revolutionary,” and “only solution.” Swap value judgments for criteria and outcomes—define success metrics and outline assumptions so readers can judge fit for themselves.</a:t>
            </a:r>
            <a:r>
              <a:rPr>
                <a:effectLst/>
              </a:rPr>
              <a:t> </a:t>
            </a:r>
          </a:p>
          <a:p>
            <a:pPr marL="0" marR="0" algn="l">
              <a:spcBef>
                <a:spcPts val="1800"/>
              </a:spcBef>
              <a:buNone/>
            </a:pPr>
            <a:r>
              <a:rPr sz="3600" b="1">
                <a:solidFill>
                  <a:srgbClr val="105237"/>
                </a:solidFill>
                <a:effectLst/>
                <a:latin typeface="Avenir Next LT Pro" panose="020B0504020202020204" pitchFamily="34" charset="0"/>
              </a:rPr>
              <a:t>Practical Examples</a:t>
            </a:r>
            <a:r>
              <a:rPr>
                <a:effectLst/>
              </a:rPr>
              <a:t> </a:t>
            </a:r>
          </a:p>
          <a:p>
            <a:pPr marL="0" marR="0" algn="l">
              <a:spcBef>
                <a:spcPts val="450"/>
              </a:spcBef>
              <a:buNone/>
            </a:pPr>
            <a:r>
              <a:rPr sz="1800" b="0">
                <a:solidFill>
                  <a:srgbClr val="105237"/>
                </a:solidFill>
                <a:effectLst/>
                <a:latin typeface="Avenir Next LT Pro" panose="020B0504020202020204" pitchFamily="34" charset="0"/>
              </a:rPr>
              <a:t>Instead of “We’re the best way to onboard users,” try “Teams reduced time‑to‑onboard by 28–35% after standardizing checklists and clarifying ownership; results were strongest in products with ≤5 core flows.” Replace “You need this now” with “If your activation rate is flat despite traffic growth, audit friction in signup, identity, and first‑run tasks; start with two quick diagnostics: drop‑off mapping and a 5‑user task study.”</a:t>
            </a:r>
            <a:r>
              <a:rPr>
                <a:effectLst/>
              </a:rPr>
              <a:t> </a:t>
            </a:r>
            <a:endParaRPr lang="en-US"/>
          </a:p>
        </p:txBody>
      </p:sp>
    </p:spTree>
    <p:extLst>
      <p:ext uri="{BB962C8B-B14F-4D97-AF65-F5344CB8AC3E}">
        <p14:creationId xmlns:p14="http://schemas.microsoft.com/office/powerpoint/2010/main" val="1060397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8B7557C-EC98-4950-B836-0F7C9ACB85C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detailed scene showing an electric vehicle parked at a home charging station, with a person checking a mobile app for charging status. The setting is a modern residential driveway in daylight, emphasizing routine EV charging in a real-life scenario. The image should visually convey practicality and everyday use, with no visible or implied text, letters, or words anywhere in the image">
            <a:extLst>
              <a:ext uri="{FF2B5EF4-FFF2-40B4-BE49-F238E27FC236}">
                <a16:creationId xmlns:a16="http://schemas.microsoft.com/office/drawing/2014/main" id="{CFBCADDD-4133-4AF9-A41B-3459E00E2BB3}"/>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178105" y="9525"/>
            <a:ext cx="4023270" cy="6858000"/>
          </a:xfrm>
          <a:prstGeom prst="rect">
            <a:avLst/>
          </a:prstGeom>
        </p:spPr>
      </p:pic>
      <p:sp>
        <p:nvSpPr>
          <p:cNvPr id="6" name="Date Placeholder 5">
            <a:extLst>
              <a:ext uri="{FF2B5EF4-FFF2-40B4-BE49-F238E27FC236}">
                <a16:creationId xmlns:a16="http://schemas.microsoft.com/office/drawing/2014/main" id="{A5AEAD86-CDC4-0628-9346-AC7F3DEDAC8A}"/>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BF819CA0-E1B5-9D72-7F1B-1743453AAACC}"/>
              </a:ext>
            </a:extLst>
          </p:cNvPr>
          <p:cNvSpPr>
            <a:spLocks noGrp="1"/>
          </p:cNvSpPr>
          <p:nvPr>
            <p:ph type="sldNum" sz="quarter" idx="19"/>
          </p:nvPr>
        </p:nvSpPr>
        <p:spPr/>
        <p:txBody>
          <a:bodyPr/>
          <a:lstStyle/>
          <a:p>
            <a:fld id="{AEAA3239-9EA4-4A65-A281-97F994456D9F}" type="slidenum">
              <a:rPr lang="en-US" smtClean="0"/>
              <a:pPr/>
              <a:t>21</a:t>
            </a:fld>
            <a:endParaRPr lang="en-US" sz="900" dirty="0"/>
          </a:p>
        </p:txBody>
      </p:sp>
      <p:sp>
        <p:nvSpPr>
          <p:cNvPr id="10" name="TextBox 9">
            <a:extLst>
              <a:ext uri="{FF2B5EF4-FFF2-40B4-BE49-F238E27FC236}">
                <a16:creationId xmlns:a16="http://schemas.microsoft.com/office/drawing/2014/main" id="{88CECBE2-347E-4399-912F-172A22B533B8}"/>
              </a:ext>
            </a:extLst>
          </p:cNvPr>
          <p:cNvSpPr txBox="1"/>
          <p:nvPr/>
        </p:nvSpPr>
        <p:spPr>
          <a:xfrm>
            <a:off x="619125" y="1038225"/>
            <a:ext cx="6949380" cy="1005780"/>
          </a:xfrm>
          <a:prstGeom prst="rect">
            <a:avLst/>
          </a:prstGeom>
          <a:noFill/>
        </p:spPr>
        <p:txBody>
          <a:bodyPr wrap="square" rtlCol="0">
            <a:normAutofit/>
          </a:bodyPr>
          <a:lstStyle/>
          <a:p>
            <a:pPr marL="0" marR="0" algn="l">
              <a:buNone/>
            </a:pPr>
            <a:r>
              <a:rPr sz="3600" b="0">
                <a:solidFill>
                  <a:srgbClr val="105237"/>
                </a:solidFill>
                <a:effectLst/>
                <a:latin typeface="Avenir Next LT Pro" panose="020B0504020202020204" pitchFamily="34" charset="0"/>
              </a:rPr>
              <a:t>Crafting Replies: Routine Insights, Actionable Tips</a:t>
            </a:r>
            <a:endParaRPr lang="en-US"/>
          </a:p>
        </p:txBody>
      </p:sp>
      <p:sp>
        <p:nvSpPr>
          <p:cNvPr id="11" name="TextBox 10">
            <a:extLst>
              <a:ext uri="{FF2B5EF4-FFF2-40B4-BE49-F238E27FC236}">
                <a16:creationId xmlns:a16="http://schemas.microsoft.com/office/drawing/2014/main" id="{64222171-F2FE-4607-936F-C894D8EE62DF}"/>
              </a:ext>
            </a:extLst>
          </p:cNvPr>
          <p:cNvSpPr txBox="1"/>
          <p:nvPr/>
        </p:nvSpPr>
        <p:spPr>
          <a:xfrm>
            <a:off x="619125" y="2386905"/>
            <a:ext cx="381000" cy="355550"/>
          </a:xfrm>
          <a:prstGeom prst="rect">
            <a:avLst/>
          </a:prstGeom>
          <a:noFill/>
        </p:spPr>
        <p:txBody>
          <a:bodyPr wrap="square" rtlCol="0">
            <a:normAutofit/>
          </a:bodyPr>
          <a:lstStyle/>
          <a:p>
            <a:pPr marL="0" marR="0" algn="l">
              <a:buNone/>
            </a:pPr>
            <a:r>
              <a:rPr sz="2800" b="1">
                <a:solidFill>
                  <a:srgbClr val="105237"/>
                </a:solidFill>
                <a:effectLst/>
                <a:latin typeface="Avenir Next LT Pro" panose="020B0504020202020204" pitchFamily="34" charset="0"/>
              </a:rPr>
              <a:t>1</a:t>
            </a:r>
            <a:endParaRPr lang="en-US"/>
          </a:p>
        </p:txBody>
      </p:sp>
      <p:sp>
        <p:nvSpPr>
          <p:cNvPr id="12" name="TextBox 11">
            <a:extLst>
              <a:ext uri="{FF2B5EF4-FFF2-40B4-BE49-F238E27FC236}">
                <a16:creationId xmlns:a16="http://schemas.microsoft.com/office/drawing/2014/main" id="{488C124E-BD4E-451A-860C-A9E1CDF3D74B}"/>
              </a:ext>
            </a:extLst>
          </p:cNvPr>
          <p:cNvSpPr txBox="1"/>
          <p:nvPr/>
        </p:nvSpPr>
        <p:spPr>
          <a:xfrm>
            <a:off x="1152525" y="2386905"/>
            <a:ext cx="6415980" cy="222795"/>
          </a:xfrm>
          <a:prstGeom prst="rect">
            <a:avLst/>
          </a:prstGeom>
          <a:noFill/>
        </p:spPr>
        <p:txBody>
          <a:bodyPr wrap="square" rtlCol="0">
            <a:normAutofit/>
          </a:bodyPr>
          <a:lstStyle/>
          <a:p>
            <a:pPr marL="0" marR="0" algn="l">
              <a:buNone/>
            </a:pPr>
            <a:r>
              <a:rPr sz="1350" b="1">
                <a:solidFill>
                  <a:srgbClr val="105237"/>
                </a:solidFill>
                <a:effectLst/>
                <a:latin typeface="Avenir Next LT Pro" panose="020B0504020202020204" pitchFamily="34" charset="0"/>
              </a:rPr>
              <a:t>Start with routine-focused guidance</a:t>
            </a:r>
            <a:endParaRPr lang="en-US"/>
          </a:p>
        </p:txBody>
      </p:sp>
      <p:sp>
        <p:nvSpPr>
          <p:cNvPr id="13" name="TextBox 12">
            <a:extLst>
              <a:ext uri="{FF2B5EF4-FFF2-40B4-BE49-F238E27FC236}">
                <a16:creationId xmlns:a16="http://schemas.microsoft.com/office/drawing/2014/main" id="{B344B121-AC37-40C4-B34D-0EFFD4D23EB3}"/>
              </a:ext>
            </a:extLst>
          </p:cNvPr>
          <p:cNvSpPr txBox="1"/>
          <p:nvPr/>
        </p:nvSpPr>
        <p:spPr>
          <a:xfrm>
            <a:off x="1152525" y="2666851"/>
            <a:ext cx="6415980" cy="426541"/>
          </a:xfrm>
          <a:prstGeom prst="rect">
            <a:avLst/>
          </a:prstGeom>
          <a:noFill/>
        </p:spPr>
        <p:txBody>
          <a:bodyPr wrap="square" rtlCol="0">
            <a:normAutofit/>
          </a:bodyPr>
          <a:lstStyle/>
          <a:p>
            <a:pPr marL="0" marR="0" algn="l">
              <a:buNone/>
            </a:pPr>
            <a:r>
              <a:rPr sz="1200" b="0">
                <a:solidFill>
                  <a:srgbClr val="105237"/>
                </a:solidFill>
                <a:effectLst/>
                <a:latin typeface="Avenir Next LT Pro" panose="020B0504020202020204" pitchFamily="34" charset="0"/>
              </a:rPr>
              <a:t>Offer daily and weekly charging habits (e.g., overnight to 80–90%, precondition before departure) to anchor advice in predictable routines.</a:t>
            </a:r>
            <a:endParaRPr lang="en-US"/>
          </a:p>
        </p:txBody>
      </p:sp>
      <p:sp>
        <p:nvSpPr>
          <p:cNvPr id="14" name="TextBox 13">
            <a:extLst>
              <a:ext uri="{FF2B5EF4-FFF2-40B4-BE49-F238E27FC236}">
                <a16:creationId xmlns:a16="http://schemas.microsoft.com/office/drawing/2014/main" id="{526A1A0F-29BD-4124-9EE3-0C23BEDACAEC}"/>
              </a:ext>
            </a:extLst>
          </p:cNvPr>
          <p:cNvSpPr txBox="1"/>
          <p:nvPr/>
        </p:nvSpPr>
        <p:spPr>
          <a:xfrm>
            <a:off x="619125" y="3321992"/>
            <a:ext cx="381000" cy="355550"/>
          </a:xfrm>
          <a:prstGeom prst="rect">
            <a:avLst/>
          </a:prstGeom>
          <a:noFill/>
        </p:spPr>
        <p:txBody>
          <a:bodyPr wrap="square" rtlCol="0">
            <a:normAutofit/>
          </a:bodyPr>
          <a:lstStyle/>
          <a:p>
            <a:pPr marL="0" marR="0" algn="l">
              <a:buNone/>
            </a:pPr>
            <a:r>
              <a:rPr sz="2800" b="1">
                <a:solidFill>
                  <a:srgbClr val="105237"/>
                </a:solidFill>
                <a:effectLst/>
                <a:latin typeface="Avenir Next LT Pro" panose="020B0504020202020204" pitchFamily="34" charset="0"/>
              </a:rPr>
              <a:t>2</a:t>
            </a:r>
            <a:endParaRPr lang="en-US"/>
          </a:p>
        </p:txBody>
      </p:sp>
      <p:sp>
        <p:nvSpPr>
          <p:cNvPr id="15" name="TextBox 14">
            <a:extLst>
              <a:ext uri="{FF2B5EF4-FFF2-40B4-BE49-F238E27FC236}">
                <a16:creationId xmlns:a16="http://schemas.microsoft.com/office/drawing/2014/main" id="{580BC6D7-DB1C-4B2D-B8F4-5F9A563967B3}"/>
              </a:ext>
            </a:extLst>
          </p:cNvPr>
          <p:cNvSpPr txBox="1"/>
          <p:nvPr/>
        </p:nvSpPr>
        <p:spPr>
          <a:xfrm>
            <a:off x="1152525" y="3321992"/>
            <a:ext cx="6415980" cy="222795"/>
          </a:xfrm>
          <a:prstGeom prst="rect">
            <a:avLst/>
          </a:prstGeom>
          <a:noFill/>
        </p:spPr>
        <p:txBody>
          <a:bodyPr wrap="square" rtlCol="0">
            <a:normAutofit/>
          </a:bodyPr>
          <a:lstStyle/>
          <a:p>
            <a:pPr marL="0" marR="0" algn="l">
              <a:buNone/>
            </a:pPr>
            <a:r>
              <a:rPr sz="1350" b="1">
                <a:solidFill>
                  <a:srgbClr val="105237"/>
                </a:solidFill>
                <a:effectLst/>
                <a:latin typeface="Avenir Next LT Pro" panose="020B0504020202020204" pitchFamily="34" charset="0"/>
              </a:rPr>
              <a:t>Make tips actionable and specific</a:t>
            </a:r>
            <a:endParaRPr lang="en-US"/>
          </a:p>
        </p:txBody>
      </p:sp>
      <p:sp>
        <p:nvSpPr>
          <p:cNvPr id="16" name="TextBox 15">
            <a:extLst>
              <a:ext uri="{FF2B5EF4-FFF2-40B4-BE49-F238E27FC236}">
                <a16:creationId xmlns:a16="http://schemas.microsoft.com/office/drawing/2014/main" id="{B8601432-AF42-49E0-BE7D-8718072FF69D}"/>
              </a:ext>
            </a:extLst>
          </p:cNvPr>
          <p:cNvSpPr txBox="1"/>
          <p:nvPr/>
        </p:nvSpPr>
        <p:spPr>
          <a:xfrm>
            <a:off x="1152525" y="3601938"/>
            <a:ext cx="6415980" cy="426541"/>
          </a:xfrm>
          <a:prstGeom prst="rect">
            <a:avLst/>
          </a:prstGeom>
          <a:noFill/>
        </p:spPr>
        <p:txBody>
          <a:bodyPr wrap="square" rtlCol="0">
            <a:normAutofit/>
          </a:bodyPr>
          <a:lstStyle/>
          <a:p>
            <a:pPr marL="0" marR="0" algn="l">
              <a:buNone/>
            </a:pPr>
            <a:r>
              <a:rPr sz="1200" b="0">
                <a:solidFill>
                  <a:srgbClr val="105237"/>
                </a:solidFill>
                <a:effectLst/>
                <a:latin typeface="Avenir Next LT Pro" panose="020B0504020202020204" pitchFamily="34" charset="0"/>
              </a:rPr>
              <a:t>Translate best practices into clear steps: set charge limits, schedule off-peak charging, and suggest exact app settings users can toggle today.</a:t>
            </a:r>
            <a:endParaRPr lang="en-US"/>
          </a:p>
        </p:txBody>
      </p:sp>
      <p:sp>
        <p:nvSpPr>
          <p:cNvPr id="17" name="TextBox 16">
            <a:extLst>
              <a:ext uri="{FF2B5EF4-FFF2-40B4-BE49-F238E27FC236}">
                <a16:creationId xmlns:a16="http://schemas.microsoft.com/office/drawing/2014/main" id="{446E64BC-EC0A-42F3-A4E9-535EF7B36101}"/>
              </a:ext>
            </a:extLst>
          </p:cNvPr>
          <p:cNvSpPr txBox="1"/>
          <p:nvPr/>
        </p:nvSpPr>
        <p:spPr>
          <a:xfrm>
            <a:off x="619125" y="4257079"/>
            <a:ext cx="381000" cy="355550"/>
          </a:xfrm>
          <a:prstGeom prst="rect">
            <a:avLst/>
          </a:prstGeom>
          <a:noFill/>
        </p:spPr>
        <p:txBody>
          <a:bodyPr wrap="square" rtlCol="0">
            <a:normAutofit/>
          </a:bodyPr>
          <a:lstStyle/>
          <a:p>
            <a:pPr marL="0" marR="0" algn="l">
              <a:buNone/>
            </a:pPr>
            <a:r>
              <a:rPr sz="2800" b="1">
                <a:solidFill>
                  <a:srgbClr val="105237"/>
                </a:solidFill>
                <a:effectLst/>
                <a:latin typeface="Avenir Next LT Pro" panose="020B0504020202020204" pitchFamily="34" charset="0"/>
              </a:rPr>
              <a:t>3</a:t>
            </a:r>
            <a:endParaRPr lang="en-US"/>
          </a:p>
        </p:txBody>
      </p:sp>
      <p:sp>
        <p:nvSpPr>
          <p:cNvPr id="18" name="TextBox 17">
            <a:extLst>
              <a:ext uri="{FF2B5EF4-FFF2-40B4-BE49-F238E27FC236}">
                <a16:creationId xmlns:a16="http://schemas.microsoft.com/office/drawing/2014/main" id="{BDC1849A-4AFB-4804-9D6A-F57524ACA4F6}"/>
              </a:ext>
            </a:extLst>
          </p:cNvPr>
          <p:cNvSpPr txBox="1"/>
          <p:nvPr/>
        </p:nvSpPr>
        <p:spPr>
          <a:xfrm>
            <a:off x="1152525" y="4257079"/>
            <a:ext cx="6415980" cy="222795"/>
          </a:xfrm>
          <a:prstGeom prst="rect">
            <a:avLst/>
          </a:prstGeom>
          <a:noFill/>
        </p:spPr>
        <p:txBody>
          <a:bodyPr wrap="square" rtlCol="0">
            <a:normAutofit/>
          </a:bodyPr>
          <a:lstStyle/>
          <a:p>
            <a:pPr marL="0" marR="0" algn="l">
              <a:buNone/>
            </a:pPr>
            <a:r>
              <a:rPr sz="1350" b="1">
                <a:solidFill>
                  <a:srgbClr val="105237"/>
                </a:solidFill>
                <a:effectLst/>
                <a:latin typeface="Avenir Next LT Pro" panose="020B0504020202020204" pitchFamily="34" charset="0"/>
              </a:rPr>
              <a:t>Personalize by scenario and context</a:t>
            </a:r>
            <a:endParaRPr lang="en-US"/>
          </a:p>
        </p:txBody>
      </p:sp>
      <p:sp>
        <p:nvSpPr>
          <p:cNvPr id="19" name="TextBox 18">
            <a:extLst>
              <a:ext uri="{FF2B5EF4-FFF2-40B4-BE49-F238E27FC236}">
                <a16:creationId xmlns:a16="http://schemas.microsoft.com/office/drawing/2014/main" id="{8B8A28A3-82E0-4F81-A2C7-1F98D82094D7}"/>
              </a:ext>
            </a:extLst>
          </p:cNvPr>
          <p:cNvSpPr txBox="1"/>
          <p:nvPr/>
        </p:nvSpPr>
        <p:spPr>
          <a:xfrm>
            <a:off x="1152525" y="4537025"/>
            <a:ext cx="6415980" cy="426541"/>
          </a:xfrm>
          <a:prstGeom prst="rect">
            <a:avLst/>
          </a:prstGeom>
          <a:noFill/>
        </p:spPr>
        <p:txBody>
          <a:bodyPr wrap="square" rtlCol="0">
            <a:normAutofit/>
          </a:bodyPr>
          <a:lstStyle/>
          <a:p>
            <a:pPr marL="0" marR="0" algn="l">
              <a:buNone/>
            </a:pPr>
            <a:r>
              <a:rPr sz="1200" b="0">
                <a:solidFill>
                  <a:srgbClr val="105237"/>
                </a:solidFill>
                <a:effectLst/>
                <a:latin typeface="Avenir Next LT Pro" panose="020B0504020202020204" pitchFamily="34" charset="0"/>
              </a:rPr>
              <a:t>Reference commute length, climate, and home setup. Tailored replies drive 2× engagement and higher perceived value.</a:t>
            </a:r>
            <a:endParaRPr lang="en-US"/>
          </a:p>
        </p:txBody>
      </p:sp>
    </p:spTree>
    <p:extLst>
      <p:ext uri="{BB962C8B-B14F-4D97-AF65-F5344CB8AC3E}">
        <p14:creationId xmlns:p14="http://schemas.microsoft.com/office/powerpoint/2010/main" val="1169463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8991CE5-BA07-471F-8ED5-AAD299D67B3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91F9535A-EC0E-4D70-B5EB-2F02EFB564FA}"/>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66775" y="2692896"/>
            <a:ext cx="685800" cy="685800"/>
          </a:xfrm>
          <a:prstGeom prst="rect">
            <a:avLst/>
          </a:prstGeom>
        </p:spPr>
      </p:pic>
      <p:sp>
        <p:nvSpPr>
          <p:cNvPr id="6" name="Date Placeholder 5">
            <a:extLst>
              <a:ext uri="{FF2B5EF4-FFF2-40B4-BE49-F238E27FC236}">
                <a16:creationId xmlns:a16="http://schemas.microsoft.com/office/drawing/2014/main" id="{7D88F5A6-582A-1CED-A302-8A2444890F32}"/>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9C7259CE-8FB3-A88B-3839-E61AC2008833}"/>
              </a:ext>
            </a:extLst>
          </p:cNvPr>
          <p:cNvSpPr>
            <a:spLocks noGrp="1"/>
          </p:cNvSpPr>
          <p:nvPr>
            <p:ph type="sldNum" sz="quarter" idx="19"/>
          </p:nvPr>
        </p:nvSpPr>
        <p:spPr/>
        <p:txBody>
          <a:bodyPr/>
          <a:lstStyle/>
          <a:p>
            <a:fld id="{AEAA3239-9EA4-4A65-A281-97F994456D9F}" type="slidenum">
              <a:rPr lang="en-US" smtClean="0"/>
              <a:pPr/>
              <a:t>22</a:t>
            </a:fld>
            <a:endParaRPr lang="en-US" sz="900" dirty="0"/>
          </a:p>
        </p:txBody>
      </p:sp>
      <p:pic>
        <p:nvPicPr>
          <p:cNvPr id="10" name="Graphic 9" descr="A vector illustration icon of a handshake, representing respectful engagement, with a transparent background">
            <a:extLst>
              <a:ext uri="{FF2B5EF4-FFF2-40B4-BE49-F238E27FC236}">
                <a16:creationId xmlns:a16="http://schemas.microsoft.com/office/drawing/2014/main" id="{71D790BC-AE58-4594-98F6-09D3ED19B3C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550" y="2797671"/>
            <a:ext cx="476250" cy="476250"/>
          </a:xfrm>
          <a:prstGeom prst="rect">
            <a:avLst/>
          </a:prstGeom>
        </p:spPr>
      </p:pic>
      <p:pic>
        <p:nvPicPr>
          <p:cNvPr id="11" name="Graphic 10">
            <a:extLst>
              <a:ext uri="{FF2B5EF4-FFF2-40B4-BE49-F238E27FC236}">
                <a16:creationId xmlns:a16="http://schemas.microsoft.com/office/drawing/2014/main" id="{5F26D8FD-45C4-46D4-B7E6-D9363A0FE4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692896"/>
            <a:ext cx="685800" cy="685800"/>
          </a:xfrm>
          <a:prstGeom prst="rect">
            <a:avLst/>
          </a:prstGeom>
        </p:spPr>
      </p:pic>
      <p:pic>
        <p:nvPicPr>
          <p:cNvPr id="12" name="Graphic 11" descr="A vector illustration icon of a shield, symbolizing protection of reputation, with a transparent background">
            <a:extLst>
              <a:ext uri="{FF2B5EF4-FFF2-40B4-BE49-F238E27FC236}">
                <a16:creationId xmlns:a16="http://schemas.microsoft.com/office/drawing/2014/main" id="{7FE4C75A-FF7E-491A-BED6-6D2F289C4BF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797671"/>
            <a:ext cx="476250" cy="476250"/>
          </a:xfrm>
          <a:prstGeom prst="rect">
            <a:avLst/>
          </a:prstGeom>
        </p:spPr>
      </p:pic>
      <p:pic>
        <p:nvPicPr>
          <p:cNvPr id="13" name="Graphic 12">
            <a:extLst>
              <a:ext uri="{FF2B5EF4-FFF2-40B4-BE49-F238E27FC236}">
                <a16:creationId xmlns:a16="http://schemas.microsoft.com/office/drawing/2014/main" id="{90B2E686-FD2F-4A32-B642-EAF8913B88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775" y="4961036"/>
            <a:ext cx="685800" cy="685800"/>
          </a:xfrm>
          <a:prstGeom prst="rect">
            <a:avLst/>
          </a:prstGeom>
        </p:spPr>
      </p:pic>
      <p:pic>
        <p:nvPicPr>
          <p:cNvPr id="14" name="Graphic 13" descr="A vector illustration icon of a conversation bubble with a heart, representing empathy in communication, with a transparent background">
            <a:extLst>
              <a:ext uri="{FF2B5EF4-FFF2-40B4-BE49-F238E27FC236}">
                <a16:creationId xmlns:a16="http://schemas.microsoft.com/office/drawing/2014/main" id="{81A6B42A-D62B-40D2-B33E-D411BC0304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1550" y="5065811"/>
            <a:ext cx="476250" cy="476250"/>
          </a:xfrm>
          <a:prstGeom prst="rect">
            <a:avLst/>
          </a:prstGeom>
        </p:spPr>
      </p:pic>
      <p:pic>
        <p:nvPicPr>
          <p:cNvPr id="15" name="Graphic 14">
            <a:extLst>
              <a:ext uri="{FF2B5EF4-FFF2-40B4-BE49-F238E27FC236}">
                <a16:creationId xmlns:a16="http://schemas.microsoft.com/office/drawing/2014/main" id="{70FD21AC-3968-42F9-B5B1-B18F9C0E63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961036"/>
            <a:ext cx="685800" cy="685800"/>
          </a:xfrm>
          <a:prstGeom prst="rect">
            <a:avLst/>
          </a:prstGeom>
        </p:spPr>
      </p:pic>
      <p:pic>
        <p:nvPicPr>
          <p:cNvPr id="16" name="Graphic 15" descr="A vector illustration icon of a stop sign, symbolizing disengagement from flame wars, with a transparent background">
            <a:extLst>
              <a:ext uri="{FF2B5EF4-FFF2-40B4-BE49-F238E27FC236}">
                <a16:creationId xmlns:a16="http://schemas.microsoft.com/office/drawing/2014/main" id="{B1DFE359-0903-4098-A18E-506C940F3C0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5065811"/>
            <a:ext cx="476250" cy="476250"/>
          </a:xfrm>
          <a:prstGeom prst="rect">
            <a:avLst/>
          </a:prstGeom>
        </p:spPr>
      </p:pic>
      <p:sp>
        <p:nvSpPr>
          <p:cNvPr id="17" name="TextBox 16">
            <a:extLst>
              <a:ext uri="{FF2B5EF4-FFF2-40B4-BE49-F238E27FC236}">
                <a16:creationId xmlns:a16="http://schemas.microsoft.com/office/drawing/2014/main" id="{9929C94B-4348-4477-BC3E-DC251194EEA0}"/>
              </a:ext>
            </a:extLst>
          </p:cNvPr>
          <p:cNvSpPr txBox="1"/>
          <p:nvPr/>
        </p:nvSpPr>
        <p:spPr>
          <a:xfrm>
            <a:off x="619125" y="1038225"/>
            <a:ext cx="10972800" cy="1005780"/>
          </a:xfrm>
          <a:prstGeom prst="rect">
            <a:avLst/>
          </a:prstGeom>
          <a:noFill/>
        </p:spPr>
        <p:txBody>
          <a:bodyPr wrap="square" rtlCol="0">
            <a:normAutofit/>
          </a:bodyPr>
          <a:lstStyle/>
          <a:p>
            <a:pPr marL="0" algn="l">
              <a:buNone/>
            </a:pPr>
            <a:r>
              <a:rPr sz="3600" b="0">
                <a:solidFill>
                  <a:srgbClr val="105237"/>
                </a:solidFill>
                <a:effectLst/>
                <a:latin typeface="Avenir Next LT Pro" panose="020B0504020202020204" pitchFamily="34" charset="0"/>
              </a:rPr>
              <a:t>Handling Difficult Threads and Edge Cases Respectfully</a:t>
            </a:r>
            <a:r>
              <a:rPr>
                <a:effectLst/>
              </a:rPr>
              <a:t> </a:t>
            </a:r>
            <a:endParaRPr lang="en-US"/>
          </a:p>
        </p:txBody>
      </p:sp>
      <p:sp>
        <p:nvSpPr>
          <p:cNvPr id="18" name="TextBox 17">
            <a:extLst>
              <a:ext uri="{FF2B5EF4-FFF2-40B4-BE49-F238E27FC236}">
                <a16:creationId xmlns:a16="http://schemas.microsoft.com/office/drawing/2014/main" id="{EFAE49EA-7749-4728-B881-42F79C1CB5B7}"/>
              </a:ext>
            </a:extLst>
          </p:cNvPr>
          <p:cNvSpPr txBox="1"/>
          <p:nvPr/>
        </p:nvSpPr>
        <p:spPr>
          <a:xfrm>
            <a:off x="1781175" y="2692896"/>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Assertive &amp; Respectful</a:t>
            </a:r>
            <a:r>
              <a:rPr>
                <a:effectLst/>
              </a:rPr>
              <a:t> </a:t>
            </a:r>
          </a:p>
          <a:p>
            <a:pPr marL="0" algn="l">
              <a:spcBef>
                <a:spcPts val="900"/>
              </a:spcBef>
              <a:buNone/>
            </a:pPr>
            <a:r>
              <a:rPr sz="1425" b="0">
                <a:solidFill>
                  <a:srgbClr val="105237"/>
                </a:solidFill>
                <a:effectLst/>
                <a:latin typeface="Avenir Next LT Pro" panose="020B0504020202020204" pitchFamily="34" charset="0"/>
              </a:rPr>
              <a:t>Address issues directly while maintaining empathy. Leads to deescalation and constructive dialogue.</a:t>
            </a:r>
            <a:r>
              <a:rPr>
                <a:effectLst/>
              </a:rPr>
              <a:t> </a:t>
            </a:r>
            <a:endParaRPr lang="en-US"/>
          </a:p>
        </p:txBody>
      </p:sp>
      <p:sp>
        <p:nvSpPr>
          <p:cNvPr id="19" name="TextBox 18">
            <a:extLst>
              <a:ext uri="{FF2B5EF4-FFF2-40B4-BE49-F238E27FC236}">
                <a16:creationId xmlns:a16="http://schemas.microsoft.com/office/drawing/2014/main" id="{D55BC3E3-E60F-4453-B745-A5A876656937}"/>
              </a:ext>
            </a:extLst>
          </p:cNvPr>
          <p:cNvSpPr txBox="1"/>
          <p:nvPr/>
        </p:nvSpPr>
        <p:spPr>
          <a:xfrm>
            <a:off x="7286625" y="2692896"/>
            <a:ext cx="3810000" cy="860821"/>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Assertive &amp; Confrontational</a:t>
            </a:r>
            <a:r>
              <a:rPr>
                <a:effectLst/>
              </a:rPr>
              <a:t> </a:t>
            </a:r>
          </a:p>
          <a:p>
            <a:pPr marL="0" algn="l">
              <a:spcBef>
                <a:spcPts val="900"/>
              </a:spcBef>
              <a:buNone/>
            </a:pPr>
            <a:r>
              <a:rPr sz="1425" b="0">
                <a:solidFill>
                  <a:srgbClr val="105237"/>
                </a:solidFill>
                <a:effectLst/>
                <a:latin typeface="Avenir Next LT Pro" panose="020B0504020202020204" pitchFamily="34" charset="0"/>
              </a:rPr>
              <a:t>Direct but lacking empathy. Risks escalating conflict and damaging reputation.</a:t>
            </a:r>
            <a:r>
              <a:rPr>
                <a:effectLst/>
              </a:rPr>
              <a:t> </a:t>
            </a:r>
            <a:endParaRPr lang="en-US"/>
          </a:p>
        </p:txBody>
      </p:sp>
      <p:sp>
        <p:nvSpPr>
          <p:cNvPr id="20" name="TextBox 19">
            <a:extLst>
              <a:ext uri="{FF2B5EF4-FFF2-40B4-BE49-F238E27FC236}">
                <a16:creationId xmlns:a16="http://schemas.microsoft.com/office/drawing/2014/main" id="{546C5157-EB0D-466F-94F3-A18EDBFE30DF}"/>
              </a:ext>
            </a:extLst>
          </p:cNvPr>
          <p:cNvSpPr txBox="1"/>
          <p:nvPr/>
        </p:nvSpPr>
        <p:spPr>
          <a:xfrm>
            <a:off x="1781175" y="4961036"/>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Diplomatic &amp; Respectful</a:t>
            </a:r>
            <a:r>
              <a:rPr>
                <a:effectLst/>
              </a:rPr>
              <a:t> </a:t>
            </a:r>
          </a:p>
          <a:p>
            <a:pPr marL="0" algn="l">
              <a:spcBef>
                <a:spcPts val="900"/>
              </a:spcBef>
              <a:buNone/>
            </a:pPr>
            <a:r>
              <a:rPr sz="1425" b="0">
                <a:solidFill>
                  <a:srgbClr val="105237"/>
                </a:solidFill>
                <a:effectLst/>
                <a:latin typeface="Avenir Next LT Pro" panose="020B0504020202020204" pitchFamily="34" charset="0"/>
              </a:rPr>
              <a:t>Use tact and an informative tone to redirect. Preserves goodwill and fosters positive outcomes.</a:t>
            </a:r>
            <a:r>
              <a:rPr>
                <a:effectLst/>
              </a:rPr>
              <a:t> </a:t>
            </a:r>
            <a:endParaRPr lang="en-US"/>
          </a:p>
        </p:txBody>
      </p:sp>
      <p:sp>
        <p:nvSpPr>
          <p:cNvPr id="21" name="TextBox 20">
            <a:extLst>
              <a:ext uri="{FF2B5EF4-FFF2-40B4-BE49-F238E27FC236}">
                <a16:creationId xmlns:a16="http://schemas.microsoft.com/office/drawing/2014/main" id="{2746ECB4-8391-4566-A366-E62010CEC085}"/>
              </a:ext>
            </a:extLst>
          </p:cNvPr>
          <p:cNvSpPr txBox="1"/>
          <p:nvPr/>
        </p:nvSpPr>
        <p:spPr>
          <a:xfrm>
            <a:off x="7286625" y="4961036"/>
            <a:ext cx="3810000" cy="1114127"/>
          </a:xfrm>
          <a:prstGeom prst="rect">
            <a:avLst/>
          </a:prstGeom>
          <a:noFill/>
        </p:spPr>
        <p:txBody>
          <a:bodyPr wrap="square" rtlCol="0">
            <a:normAutofit/>
          </a:bodyPr>
          <a:lstStyle/>
          <a:p>
            <a:pPr marL="0" algn="l">
              <a:buNone/>
            </a:pPr>
            <a:r>
              <a:rPr sz="1575" b="1">
                <a:solidFill>
                  <a:srgbClr val="105237"/>
                </a:solidFill>
                <a:effectLst/>
                <a:latin typeface="Avenir Next LT Pro" panose="020B0504020202020204" pitchFamily="34" charset="0"/>
              </a:rPr>
              <a:t>Diplomatic &amp; Avoidant</a:t>
            </a:r>
            <a:r>
              <a:rPr>
                <a:effectLst/>
              </a:rPr>
              <a:t> </a:t>
            </a:r>
          </a:p>
          <a:p>
            <a:pPr marL="0" algn="l">
              <a:spcBef>
                <a:spcPts val="900"/>
              </a:spcBef>
              <a:buNone/>
            </a:pPr>
            <a:r>
              <a:rPr sz="1425" b="0">
                <a:solidFill>
                  <a:srgbClr val="105237"/>
                </a:solidFill>
                <a:effectLst/>
                <a:latin typeface="Avenir Next LT Pro" panose="020B0504020202020204" pitchFamily="34" charset="0"/>
              </a:rPr>
              <a:t>Minimize engagement to prevent escalation. May resolve tension but risks unresolved issues.</a:t>
            </a:r>
            <a:r>
              <a:rPr>
                <a:effectLst/>
              </a:rPr>
              <a:t> </a:t>
            </a:r>
            <a:endParaRPr lang="en-US"/>
          </a:p>
        </p:txBody>
      </p:sp>
    </p:spTree>
    <p:extLst>
      <p:ext uri="{BB962C8B-B14F-4D97-AF65-F5344CB8AC3E}">
        <p14:creationId xmlns:p14="http://schemas.microsoft.com/office/powerpoint/2010/main" val="3073509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55502CA-F22E-48C2-A65A-E508228302C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3D2AD81D-057B-D2A9-ED09-F5785C2F7E44}"/>
              </a:ext>
            </a:extLst>
          </p:cNvPr>
          <p:cNvSpPr>
            <a:spLocks noGrp="1"/>
          </p:cNvSpPr>
          <p:nvPr>
            <p:ph sz="quarter" idx="16"/>
          </p:nvPr>
        </p:nvSpPr>
        <p:spPr>
          <a:xfrm>
            <a:off x="733425" y="1019175"/>
            <a:ext cx="10953750" cy="1401960"/>
          </a:xfrm>
        </p:spPr>
        <p:txBody>
          <a:bodyPr/>
          <a:lstStyle/>
          <a:p>
            <a:pPr marL="0" indent="0" algn="l">
              <a:spcBef>
                <a:spcPts val="450"/>
              </a:spcBef>
              <a:buNone/>
            </a:pPr>
            <a:r>
              <a:rPr sz="4800">
                <a:solidFill>
                  <a:srgbClr val="105237"/>
                </a:solidFill>
                <a:effectLst/>
                <a:latin typeface="Avenir Next LT Pro" panose="020B0504020202020204" pitchFamily="34" charset="0"/>
              </a:rPr>
              <a:t>Conclusion: Empowering the EV Community</a:t>
            </a:r>
            <a:r>
              <a:rPr>
                <a:effectLst/>
              </a:rPr>
              <a:t> </a:t>
            </a:r>
            <a:endParaRPr lang="en-US"/>
          </a:p>
        </p:txBody>
      </p:sp>
      <p:sp>
        <p:nvSpPr>
          <p:cNvPr id="6" name="Date Placeholder 5">
            <a:extLst>
              <a:ext uri="{FF2B5EF4-FFF2-40B4-BE49-F238E27FC236}">
                <a16:creationId xmlns:a16="http://schemas.microsoft.com/office/drawing/2014/main" id="{580D3AC6-C955-F2AE-6BB7-A3EBAAD2A0BF}"/>
              </a:ext>
            </a:extLst>
          </p:cNvPr>
          <p:cNvSpPr>
            <a:spLocks noGrp="1"/>
          </p:cNvSpPr>
          <p:nvPr>
            <p:ph type="dt" sz="half" idx="17"/>
          </p:nvPr>
        </p:nvSpPr>
        <p:spPr/>
        <p:txBody>
          <a:bodyPr/>
          <a:lstStyle/>
          <a:p>
            <a:fld id="{E4E981A1-C564-488D-B4B6-3CC796C959F2}" type="datetime1">
              <a:rPr lang="en-US" smtClean="0"/>
              <a:t>1/30/2026</a:t>
            </a:fld>
            <a:endParaRPr lang="en-US" sz="900" dirty="0"/>
          </a:p>
        </p:txBody>
      </p:sp>
      <p:sp>
        <p:nvSpPr>
          <p:cNvPr id="7" name="Slide Number Placeholder 6">
            <a:extLst>
              <a:ext uri="{FF2B5EF4-FFF2-40B4-BE49-F238E27FC236}">
                <a16:creationId xmlns:a16="http://schemas.microsoft.com/office/drawing/2014/main" id="{3D8267AC-C62E-6B59-4F40-9F237963A3D2}"/>
              </a:ext>
            </a:extLst>
          </p:cNvPr>
          <p:cNvSpPr>
            <a:spLocks noGrp="1"/>
          </p:cNvSpPr>
          <p:nvPr>
            <p:ph type="sldNum" sz="quarter" idx="19"/>
          </p:nvPr>
        </p:nvSpPr>
        <p:spPr/>
        <p:txBody>
          <a:bodyPr/>
          <a:lstStyle/>
          <a:p>
            <a:fld id="{AEAA3239-9EA4-4A65-A281-97F994456D9F}" type="slidenum">
              <a:rPr lang="en-US" smtClean="0"/>
              <a:pPr/>
              <a:t>23</a:t>
            </a:fld>
            <a:endParaRPr lang="en-US" sz="900" dirty="0"/>
          </a:p>
        </p:txBody>
      </p:sp>
      <p:sp>
        <p:nvSpPr>
          <p:cNvPr id="9" name="TextBox 8">
            <a:extLst>
              <a:ext uri="{FF2B5EF4-FFF2-40B4-BE49-F238E27FC236}">
                <a16:creationId xmlns:a16="http://schemas.microsoft.com/office/drawing/2014/main" id="{CB364AE5-1D2D-45FC-ACC0-13770BB9C15D}"/>
              </a:ext>
            </a:extLst>
          </p:cNvPr>
          <p:cNvSpPr txBox="1"/>
          <p:nvPr/>
        </p:nvSpPr>
        <p:spPr>
          <a:xfrm>
            <a:off x="733425" y="3751808"/>
            <a:ext cx="2524125" cy="1213842"/>
          </a:xfrm>
          <a:prstGeom prst="rect">
            <a:avLst/>
          </a:prstGeom>
          <a:noFill/>
        </p:spPr>
        <p:txBody>
          <a:bodyPr wrap="square" rtlCol="0">
            <a:normAutofit/>
          </a:bodyPr>
          <a:lstStyle/>
          <a:p>
            <a:pPr marL="0" algn="l">
              <a:spcBef>
                <a:spcPts val="1350"/>
              </a:spcBef>
              <a:buNone/>
            </a:pPr>
            <a:r>
              <a:rPr sz="1800" b="1">
                <a:solidFill>
                  <a:srgbClr val="105237"/>
                </a:solidFill>
                <a:effectLst/>
                <a:latin typeface="Avenir Next LT Pro" panose="020B0504020202020204" pitchFamily="34" charset="0"/>
              </a:rPr>
              <a:t>Strategic Focus</a:t>
            </a:r>
            <a:r>
              <a:rPr>
                <a:effectLst/>
              </a:rPr>
              <a:t> </a:t>
            </a:r>
          </a:p>
          <a:p>
            <a:pPr marL="0" algn="l">
              <a:spcBef>
                <a:spcPts val="1200"/>
              </a:spcBef>
              <a:buNone/>
            </a:pPr>
            <a:r>
              <a:rPr sz="1425">
                <a:solidFill>
                  <a:srgbClr val="105237"/>
                </a:solidFill>
                <a:effectLst/>
                <a:latin typeface="Avenir Next LT Pro" panose="020B0504020202020204" pitchFamily="34" charset="0"/>
              </a:rPr>
              <a:t>Operate within Reddit EV communities with clear intent and discipline.</a:t>
            </a:r>
            <a:r>
              <a:rPr>
                <a:effectLst/>
              </a:rPr>
              <a:t> </a:t>
            </a:r>
            <a:endParaRPr lang="en-US"/>
          </a:p>
        </p:txBody>
      </p:sp>
      <p:sp>
        <p:nvSpPr>
          <p:cNvPr id="10" name="TextBox 9">
            <a:extLst>
              <a:ext uri="{FF2B5EF4-FFF2-40B4-BE49-F238E27FC236}">
                <a16:creationId xmlns:a16="http://schemas.microsoft.com/office/drawing/2014/main" id="{E81171AC-671E-41A5-B2A4-CB058607BE2C}"/>
              </a:ext>
            </a:extLst>
          </p:cNvPr>
          <p:cNvSpPr txBox="1"/>
          <p:nvPr/>
        </p:nvSpPr>
        <p:spPr>
          <a:xfrm>
            <a:off x="3543300" y="3751808"/>
            <a:ext cx="2524125" cy="1213842"/>
          </a:xfrm>
          <a:prstGeom prst="rect">
            <a:avLst/>
          </a:prstGeom>
          <a:noFill/>
        </p:spPr>
        <p:txBody>
          <a:bodyPr wrap="square" rtlCol="0">
            <a:normAutofit/>
          </a:bodyPr>
          <a:lstStyle/>
          <a:p>
            <a:pPr marL="0" algn="l">
              <a:spcBef>
                <a:spcPts val="1350"/>
              </a:spcBef>
              <a:buNone/>
            </a:pPr>
            <a:r>
              <a:rPr sz="1800" b="1">
                <a:solidFill>
                  <a:srgbClr val="105237"/>
                </a:solidFill>
                <a:effectLst/>
                <a:latin typeface="Avenir Next LT Pro" panose="020B0504020202020204" pitchFamily="34" charset="0"/>
              </a:rPr>
              <a:t>Empower Decisions</a:t>
            </a:r>
            <a:r>
              <a:rPr>
                <a:effectLst/>
              </a:rPr>
              <a:t> </a:t>
            </a:r>
          </a:p>
          <a:p>
            <a:pPr marL="0" algn="l">
              <a:spcBef>
                <a:spcPts val="1200"/>
              </a:spcBef>
              <a:buNone/>
            </a:pPr>
            <a:r>
              <a:rPr sz="1425">
                <a:solidFill>
                  <a:srgbClr val="105237"/>
                </a:solidFill>
                <a:effectLst/>
                <a:latin typeface="Avenir Next LT Pro" panose="020B0504020202020204" pitchFamily="34" charset="0"/>
              </a:rPr>
              <a:t>Be helpful and authentic to guide confident EV buying and ownership.</a:t>
            </a:r>
            <a:r>
              <a:rPr>
                <a:effectLst/>
              </a:rPr>
              <a:t> </a:t>
            </a:r>
            <a:endParaRPr lang="en-US"/>
          </a:p>
        </p:txBody>
      </p:sp>
      <p:sp>
        <p:nvSpPr>
          <p:cNvPr id="11" name="TextBox 10">
            <a:extLst>
              <a:ext uri="{FF2B5EF4-FFF2-40B4-BE49-F238E27FC236}">
                <a16:creationId xmlns:a16="http://schemas.microsoft.com/office/drawing/2014/main" id="{B4032862-3147-4FA7-8659-7AD8CEDC7D71}"/>
              </a:ext>
            </a:extLst>
          </p:cNvPr>
          <p:cNvSpPr txBox="1"/>
          <p:nvPr/>
        </p:nvSpPr>
        <p:spPr>
          <a:xfrm>
            <a:off x="6353175" y="3751808"/>
            <a:ext cx="2524125" cy="1213842"/>
          </a:xfrm>
          <a:prstGeom prst="rect">
            <a:avLst/>
          </a:prstGeom>
          <a:noFill/>
        </p:spPr>
        <p:txBody>
          <a:bodyPr wrap="square" rtlCol="0">
            <a:normAutofit/>
          </a:bodyPr>
          <a:lstStyle/>
          <a:p>
            <a:pPr marL="0" algn="l">
              <a:spcBef>
                <a:spcPts val="1350"/>
              </a:spcBef>
              <a:buNone/>
            </a:pPr>
            <a:r>
              <a:rPr sz="1800" b="1">
                <a:solidFill>
                  <a:srgbClr val="105237"/>
                </a:solidFill>
                <a:effectLst/>
                <a:latin typeface="Avenir Next LT Pro" panose="020B0504020202020204" pitchFamily="34" charset="0"/>
              </a:rPr>
              <a:t>Organic Engagement</a:t>
            </a:r>
            <a:r>
              <a:rPr>
                <a:effectLst/>
              </a:rPr>
              <a:t> </a:t>
            </a:r>
          </a:p>
          <a:p>
            <a:pPr marL="0" algn="l">
              <a:spcBef>
                <a:spcPts val="1200"/>
              </a:spcBef>
              <a:buNone/>
            </a:pPr>
            <a:r>
              <a:rPr sz="1425">
                <a:solidFill>
                  <a:srgbClr val="105237"/>
                </a:solidFill>
                <a:effectLst/>
                <a:latin typeface="Avenir Next LT Pro" panose="020B0504020202020204" pitchFamily="34" charset="0"/>
              </a:rPr>
              <a:t>Participate respectfully, add value, and nurture vibrant connections.</a:t>
            </a:r>
            <a:r>
              <a:rPr>
                <a:effectLst/>
              </a:rPr>
              <a:t> </a:t>
            </a:r>
            <a:endParaRPr lang="en-US"/>
          </a:p>
        </p:txBody>
      </p:sp>
      <p:sp>
        <p:nvSpPr>
          <p:cNvPr id="12" name="TextBox 11">
            <a:extLst>
              <a:ext uri="{FF2B5EF4-FFF2-40B4-BE49-F238E27FC236}">
                <a16:creationId xmlns:a16="http://schemas.microsoft.com/office/drawing/2014/main" id="{161108F3-8962-4A03-919E-DDB7BC6C081D}"/>
              </a:ext>
            </a:extLst>
          </p:cNvPr>
          <p:cNvSpPr txBox="1"/>
          <p:nvPr/>
        </p:nvSpPr>
        <p:spPr>
          <a:xfrm>
            <a:off x="9163050" y="3751808"/>
            <a:ext cx="2524125" cy="951458"/>
          </a:xfrm>
          <a:prstGeom prst="rect">
            <a:avLst/>
          </a:prstGeom>
          <a:noFill/>
        </p:spPr>
        <p:txBody>
          <a:bodyPr wrap="square" rtlCol="0">
            <a:normAutofit/>
          </a:bodyPr>
          <a:lstStyle/>
          <a:p>
            <a:pPr marL="0" algn="l">
              <a:spcBef>
                <a:spcPts val="1350"/>
              </a:spcBef>
              <a:buNone/>
            </a:pPr>
            <a:r>
              <a:rPr sz="1800" b="1">
                <a:solidFill>
                  <a:srgbClr val="105237"/>
                </a:solidFill>
                <a:effectLst/>
                <a:latin typeface="Avenir Next LT Pro" panose="020B0504020202020204" pitchFamily="34" charset="0"/>
              </a:rPr>
              <a:t>Metrics That Matter</a:t>
            </a:r>
            <a:r>
              <a:rPr>
                <a:effectLst/>
              </a:rPr>
              <a:t> </a:t>
            </a:r>
          </a:p>
          <a:p>
            <a:pPr marL="0" algn="l">
              <a:spcBef>
                <a:spcPts val="1200"/>
              </a:spcBef>
              <a:buNone/>
            </a:pPr>
            <a:r>
              <a:rPr sz="1425">
                <a:solidFill>
                  <a:srgbClr val="105237"/>
                </a:solidFill>
                <a:effectLst/>
                <a:latin typeface="Avenir Next LT Pro" panose="020B0504020202020204" pitchFamily="34" charset="0"/>
              </a:rPr>
              <a:t>Track clarity, authenticity, and outcomes with defined KPIs.</a:t>
            </a:r>
            <a:r>
              <a:rPr>
                <a:effectLst/>
              </a:rPr>
              <a:t> </a:t>
            </a:r>
            <a:endParaRPr lang="en-US"/>
          </a:p>
        </p:txBody>
      </p:sp>
    </p:spTree>
    <p:extLst>
      <p:ext uri="{BB962C8B-B14F-4D97-AF65-F5344CB8AC3E}">
        <p14:creationId xmlns:p14="http://schemas.microsoft.com/office/powerpoint/2010/main" val="1120350048"/>
      </p:ext>
    </p:extLst>
  </p:cSld>
  <p:clrMapOvr>
    <a:masterClrMapping/>
  </p:clrMapOvr>
</p:sld>
</file>

<file path=ppt/theme/theme1.xml><?xml version="1.0" encoding="utf-8"?>
<a:theme xmlns:a="http://schemas.openxmlformats.org/drawingml/2006/main" name="Square harmony">
  <a:themeElements>
    <a:clrScheme name="Square Harmony">
      <a:dk1>
        <a:srgbClr val="000000"/>
      </a:dk1>
      <a:lt1>
        <a:srgbClr val="FFFFFF"/>
      </a:lt1>
      <a:dk2>
        <a:srgbClr val="0E2841"/>
      </a:dk2>
      <a:lt2>
        <a:srgbClr val="E8E8E8"/>
      </a:lt2>
      <a:accent1>
        <a:srgbClr val="0E5336"/>
      </a:accent1>
      <a:accent2>
        <a:srgbClr val="DDB4FA"/>
      </a:accent2>
      <a:accent3>
        <a:srgbClr val="5693CF"/>
      </a:accent3>
      <a:accent4>
        <a:srgbClr val="F6F8E6"/>
      </a:accent4>
      <a:accent5>
        <a:srgbClr val="90FEC3"/>
      </a:accent5>
      <a:accent6>
        <a:srgbClr val="1538A8"/>
      </a:accent6>
      <a:hlink>
        <a:srgbClr val="467886"/>
      </a:hlink>
      <a:folHlink>
        <a:srgbClr val="96607D"/>
      </a:folHlink>
    </a:clrScheme>
    <a:fontScheme name="Square harmony">
      <a:majorFont>
        <a:latin typeface="Avenir Next LT Pro Demi"/>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quare Harmony_win32_EF_v3" id="{DFB72738-CE99-4470-904C-205E8E70D837}" vid="{F2FEBAB6-D7E3-4CC2-B31D-075EF81A38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3250</Words>
  <Application>Microsoft Office PowerPoint</Application>
  <PresentationFormat>Widescreen</PresentationFormat>
  <Paragraphs>241</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Avenir Next LT Pro</vt:lpstr>
      <vt:lpstr>Avenir Next LT Pro Demi</vt:lpstr>
      <vt:lpstr>Avenir Next LT Pro Light</vt:lpstr>
      <vt:lpstr>Square harmony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Jaye Forten</dc:creator>
  <cp:lastModifiedBy>Jaye Forten</cp:lastModifiedBy>
  <cp:revision>1</cp:revision>
  <dcterms:created xsi:type="dcterms:W3CDTF">2026-01-30T15:03:54Z</dcterms:created>
  <dcterms:modified xsi:type="dcterms:W3CDTF">2026-01-30T15:13:16Z</dcterms:modified>
</cp:coreProperties>
</file>